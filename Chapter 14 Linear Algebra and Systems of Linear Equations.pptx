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x="18288000" cy="10287000"/>
  <p:notesSz cx="6858000" cy="9144000"/>
  <p:embeddedFontLst>
    <p:embeddedFont>
      <p:font typeface="Lovelo" charset="1" panose="02000000000000000000"/>
      <p:regular r:id="rId34"/>
    </p:embeddedFont>
    <p:embeddedFont>
      <p:font typeface="Poppins Bold" charset="1" panose="00000800000000000000"/>
      <p:regular r:id="rId35"/>
    </p:embeddedFont>
    <p:embeddedFont>
      <p:font typeface="Poppins" charset="1" panose="00000500000000000000"/>
      <p:regular r:id="rId36"/>
    </p:embeddedFont>
    <p:embeddedFont>
      <p:font typeface="Kurale" charset="1" panose="020B06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embeddings/oleObject1.bin" Type="http://schemas.openxmlformats.org/officeDocument/2006/relationships/oleObjec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media/image12.png" Type="http://schemas.openxmlformats.org/officeDocument/2006/relationships/image"/><Relationship Id="rId13" Target="../media/image13.png" Type="http://schemas.openxmlformats.org/officeDocument/2006/relationships/image"/><Relationship Id="rId14" Target="../media/image1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 Id="rId9"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18.png" Type="http://schemas.openxmlformats.org/officeDocument/2006/relationships/image"/><Relationship Id="rId8" Target="../embeddings/oleObject2.bin" Type="http://schemas.openxmlformats.org/officeDocument/2006/relationships/oleObject"/><Relationship Id="rId9" Target="../media/image1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1.png" Type="http://schemas.openxmlformats.org/officeDocument/2006/relationships/image"/><Relationship Id="rId8" Target="../embeddings/oleObject3.bin" Type="http://schemas.openxmlformats.org/officeDocument/2006/relationships/oleObject"/><Relationship Id="rId9" Target="../media/image2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7.png" Type="http://schemas.openxmlformats.org/officeDocument/2006/relationships/image"/><Relationship Id="rId8"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29.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png" Type="http://schemas.openxmlformats.org/officeDocument/2006/relationships/image"/><Relationship Id="rId11" Target="../media/image34.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30.png" Type="http://schemas.openxmlformats.org/officeDocument/2006/relationships/image"/><Relationship Id="rId8" Target="../media/image31.png" Type="http://schemas.openxmlformats.org/officeDocument/2006/relationships/image"/><Relationship Id="rId9" Target="../media/image3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3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36.png" Type="http://schemas.openxmlformats.org/officeDocument/2006/relationships/image"/><Relationship Id="rId8" Target="../media/image37.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38.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39.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42.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43.png" Type="http://schemas.openxmlformats.org/officeDocument/2006/relationships/image"/><Relationship Id="rId8" Target="../media/image44.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45.png" Type="http://schemas.openxmlformats.org/officeDocument/2006/relationships/image"/><Relationship Id="rId8" Target="../media/image46.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47.png" Type="http://schemas.openxmlformats.org/officeDocument/2006/relationships/image"/><Relationship Id="rId8" Target="../media/image48.png" Type="http://schemas.openxmlformats.org/officeDocument/2006/relationships/image"/><Relationship Id="rId9" Target="../media/image49.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0.jpeg" Type="http://schemas.openxmlformats.org/officeDocument/2006/relationships/image"/><Relationship Id="rId3" Target="../media/image51.jpeg" Type="http://schemas.openxmlformats.org/officeDocument/2006/relationships/image"/><Relationship Id="rId4" Target="../media/image52.jpeg" Type="http://schemas.openxmlformats.org/officeDocument/2006/relationships/image"/><Relationship Id="rId5" Target="../media/image53.jpeg" Type="http://schemas.openxmlformats.org/officeDocument/2006/relationships/image"/><Relationship Id="rId6" Target="../media/image54.jpeg" Type="http://schemas.openxmlformats.org/officeDocument/2006/relationships/image"/><Relationship Id="rId7" Target="../media/image55.jpeg" Type="http://schemas.openxmlformats.org/officeDocument/2006/relationships/image"/><Relationship Id="rId8" Target="../media/image56.jpeg" Type="http://schemas.openxmlformats.org/officeDocument/2006/relationships/image"/><Relationship Id="rId9" Target="../media/image5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028700" y="2252789"/>
            <a:ext cx="11792699" cy="6814005"/>
            <a:chOff x="0" y="0"/>
            <a:chExt cx="15723599" cy="9085339"/>
          </a:xfrm>
        </p:grpSpPr>
        <p:sp>
          <p:nvSpPr>
            <p:cNvPr name="TextBox 3" id="3"/>
            <p:cNvSpPr txBox="true"/>
            <p:nvPr/>
          </p:nvSpPr>
          <p:spPr>
            <a:xfrm rot="0">
              <a:off x="0" y="257175"/>
              <a:ext cx="10730826" cy="1679357"/>
            </a:xfrm>
            <a:prstGeom prst="rect">
              <a:avLst/>
            </a:prstGeom>
          </p:spPr>
          <p:txBody>
            <a:bodyPr anchor="t" rtlCol="false" tIns="0" lIns="0" bIns="0" rIns="0">
              <a:spAutoFit/>
            </a:bodyPr>
            <a:lstStyle/>
            <a:p>
              <a:pPr algn="l" marL="0" indent="0" lvl="0">
                <a:lnSpc>
                  <a:spcPts val="8694"/>
                </a:lnSpc>
              </a:pPr>
              <a:r>
                <a:rPr lang="en-US" sz="9553">
                  <a:solidFill>
                    <a:srgbClr val="A7DDEA"/>
                  </a:solidFill>
                  <a:latin typeface="Lovelo"/>
                  <a:ea typeface="Lovelo"/>
                  <a:cs typeface="Lovelo"/>
                  <a:sym typeface="Lovelo"/>
                </a:rPr>
                <a:t>Chap</a:t>
              </a:r>
              <a:r>
                <a:rPr lang="en-US" sz="9553">
                  <a:solidFill>
                    <a:srgbClr val="A7DDEA"/>
                  </a:solidFill>
                  <a:latin typeface="Lovelo"/>
                  <a:ea typeface="Lovelo"/>
                  <a:cs typeface="Lovelo"/>
                  <a:sym typeface="Lovelo"/>
                </a:rPr>
                <a:t>ter 14.</a:t>
              </a:r>
            </a:p>
          </p:txBody>
        </p:sp>
        <p:sp>
          <p:nvSpPr>
            <p:cNvPr name="TextBox 4" id="4"/>
            <p:cNvSpPr txBox="true"/>
            <p:nvPr/>
          </p:nvSpPr>
          <p:spPr>
            <a:xfrm rot="0">
              <a:off x="0" y="2252609"/>
              <a:ext cx="15723599" cy="6832730"/>
            </a:xfrm>
            <a:prstGeom prst="rect">
              <a:avLst/>
            </a:prstGeom>
          </p:spPr>
          <p:txBody>
            <a:bodyPr anchor="t" rtlCol="false" tIns="0" lIns="0" bIns="0" rIns="0">
              <a:spAutoFit/>
            </a:bodyPr>
            <a:lstStyle/>
            <a:p>
              <a:pPr algn="l" marL="0" indent="0" lvl="0">
                <a:lnSpc>
                  <a:spcPts val="13736"/>
                </a:lnSpc>
                <a:spcBef>
                  <a:spcPct val="0"/>
                </a:spcBef>
              </a:pPr>
              <a:r>
                <a:rPr lang="en-US" sz="9811">
                  <a:solidFill>
                    <a:srgbClr val="EFBC20"/>
                  </a:solidFill>
                  <a:latin typeface="Lovelo"/>
                  <a:ea typeface="Lovelo"/>
                  <a:cs typeface="Lovelo"/>
                  <a:sym typeface="Lovelo"/>
                </a:rPr>
                <a:t>Linear</a:t>
              </a:r>
              <a:r>
                <a:rPr lang="en-US" sz="9811">
                  <a:solidFill>
                    <a:srgbClr val="EFBC20"/>
                  </a:solidFill>
                  <a:latin typeface="Lovelo"/>
                  <a:ea typeface="Lovelo"/>
                  <a:cs typeface="Lovelo"/>
                  <a:sym typeface="Lovelo"/>
                </a:rPr>
                <a:t> Algebra and Systems of Linear Equations</a:t>
              </a:r>
            </a:p>
          </p:txBody>
        </p:sp>
      </p:grpSp>
      <p:grpSp>
        <p:nvGrpSpPr>
          <p:cNvPr name="Group 5" id="5"/>
          <p:cNvGrpSpPr/>
          <p:nvPr/>
        </p:nvGrpSpPr>
        <p:grpSpPr>
          <a:xfrm rot="0">
            <a:off x="5764586" y="447174"/>
            <a:ext cx="6995493" cy="1163052"/>
            <a:chOff x="0" y="0"/>
            <a:chExt cx="9327324" cy="1550736"/>
          </a:xfrm>
        </p:grpSpPr>
        <p:grpSp>
          <p:nvGrpSpPr>
            <p:cNvPr name="Group 6" id="6"/>
            <p:cNvGrpSpPr/>
            <p:nvPr/>
          </p:nvGrpSpPr>
          <p:grpSpPr>
            <a:xfrm rot="0">
              <a:off x="0" y="0"/>
              <a:ext cx="9327324" cy="1550736"/>
              <a:chOff x="0" y="0"/>
              <a:chExt cx="825661" cy="137272"/>
            </a:xfrm>
          </p:grpSpPr>
          <p:sp>
            <p:nvSpPr>
              <p:cNvPr name="Freeform 7" id="7"/>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8" id="8"/>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9" id="9"/>
            <p:cNvSpPr/>
            <p:nvPr/>
          </p:nvSpPr>
          <p:spPr>
            <a:xfrm flipH="false" flipV="false" rot="0">
              <a:off x="1665565" y="181786"/>
              <a:ext cx="1188425" cy="1165039"/>
            </a:xfrm>
            <a:custGeom>
              <a:avLst/>
              <a:gdLst/>
              <a:ahLst/>
              <a:cxnLst/>
              <a:rect r="r" b="b" t="t" l="l"/>
              <a:pathLst>
                <a:path h="1165039" w="1188425">
                  <a:moveTo>
                    <a:pt x="0" y="0"/>
                  </a:moveTo>
                  <a:lnTo>
                    <a:pt x="1188425" y="0"/>
                  </a:lnTo>
                  <a:lnTo>
                    <a:pt x="1188425" y="1165039"/>
                  </a:lnTo>
                  <a:lnTo>
                    <a:pt x="0" y="1165039"/>
                  </a:lnTo>
                  <a:lnTo>
                    <a:pt x="0" y="0"/>
                  </a:lnTo>
                  <a:close/>
                </a:path>
              </a:pathLst>
            </a:custGeom>
            <a:blipFill>
              <a:blip r:embed="rId2"/>
              <a:stretch>
                <a:fillRect l="-81" t="0" r="-81" b="0"/>
              </a:stretch>
            </a:blipFill>
          </p:spPr>
        </p:sp>
        <p:sp>
          <p:nvSpPr>
            <p:cNvPr name="Freeform 10" id="10"/>
            <p:cNvSpPr/>
            <p:nvPr/>
          </p:nvSpPr>
          <p:spPr>
            <a:xfrm flipH="false" flipV="false" rot="0">
              <a:off x="7691475" y="98664"/>
              <a:ext cx="1331283" cy="1331283"/>
            </a:xfrm>
            <a:custGeom>
              <a:avLst/>
              <a:gdLst/>
              <a:ahLst/>
              <a:cxnLst/>
              <a:rect r="r" b="b" t="t" l="l"/>
              <a:pathLst>
                <a:path h="1331283" w="1331283">
                  <a:moveTo>
                    <a:pt x="0" y="0"/>
                  </a:moveTo>
                  <a:lnTo>
                    <a:pt x="1331283" y="0"/>
                  </a:lnTo>
                  <a:lnTo>
                    <a:pt x="1331283" y="1331283"/>
                  </a:lnTo>
                  <a:lnTo>
                    <a:pt x="0" y="1331283"/>
                  </a:lnTo>
                  <a:lnTo>
                    <a:pt x="0" y="0"/>
                  </a:lnTo>
                  <a:close/>
                </a:path>
              </a:pathLst>
            </a:custGeom>
            <a:blipFill>
              <a:blip r:embed="rId3"/>
              <a:stretch>
                <a:fillRect l="0" t="0" r="0" b="0"/>
              </a:stretch>
            </a:blipFill>
          </p:spPr>
        </p:sp>
        <p:sp>
          <p:nvSpPr>
            <p:cNvPr name="Freeform 11" id="11"/>
            <p:cNvSpPr/>
            <p:nvPr/>
          </p:nvSpPr>
          <p:spPr>
            <a:xfrm flipH="false" flipV="false" rot="0">
              <a:off x="374844" y="205098"/>
              <a:ext cx="1118415" cy="1118415"/>
            </a:xfrm>
            <a:custGeom>
              <a:avLst/>
              <a:gdLst/>
              <a:ahLst/>
              <a:cxnLst/>
              <a:rect r="r" b="b" t="t" l="l"/>
              <a:pathLst>
                <a:path h="1118415" w="1118415">
                  <a:moveTo>
                    <a:pt x="0" y="0"/>
                  </a:moveTo>
                  <a:lnTo>
                    <a:pt x="1118414" y="0"/>
                  </a:lnTo>
                  <a:lnTo>
                    <a:pt x="1118414" y="1118415"/>
                  </a:lnTo>
                  <a:lnTo>
                    <a:pt x="0" y="1118415"/>
                  </a:lnTo>
                  <a:lnTo>
                    <a:pt x="0" y="0"/>
                  </a:lnTo>
                  <a:close/>
                </a:path>
              </a:pathLst>
            </a:custGeom>
            <a:blipFill>
              <a:blip r:embed="rId4"/>
              <a:stretch>
                <a:fillRect l="0" t="0" r="0" b="0"/>
              </a:stretch>
            </a:blipFill>
          </p:spPr>
        </p:sp>
        <p:sp>
          <p:nvSpPr>
            <p:cNvPr name="Freeform 12" id="12"/>
            <p:cNvSpPr/>
            <p:nvPr/>
          </p:nvSpPr>
          <p:spPr>
            <a:xfrm flipH="false" flipV="false" rot="0">
              <a:off x="3026297" y="235720"/>
              <a:ext cx="1057171" cy="1057171"/>
            </a:xfrm>
            <a:custGeom>
              <a:avLst/>
              <a:gdLst/>
              <a:ahLst/>
              <a:cxnLst/>
              <a:rect r="r" b="b" t="t" l="l"/>
              <a:pathLst>
                <a:path h="1057171" w="1057171">
                  <a:moveTo>
                    <a:pt x="0" y="0"/>
                  </a:moveTo>
                  <a:lnTo>
                    <a:pt x="1057171" y="0"/>
                  </a:lnTo>
                  <a:lnTo>
                    <a:pt x="1057171" y="1057171"/>
                  </a:lnTo>
                  <a:lnTo>
                    <a:pt x="0" y="1057171"/>
                  </a:lnTo>
                  <a:lnTo>
                    <a:pt x="0" y="0"/>
                  </a:lnTo>
                  <a:close/>
                </a:path>
              </a:pathLst>
            </a:custGeom>
            <a:blipFill>
              <a:blip r:embed="rId5"/>
              <a:stretch>
                <a:fillRect l="0" t="0" r="0" b="0"/>
              </a:stretch>
            </a:blipFill>
          </p:spPr>
        </p:sp>
        <p:sp>
          <p:nvSpPr>
            <p:cNvPr name="Freeform 13" id="13"/>
            <p:cNvSpPr/>
            <p:nvPr/>
          </p:nvSpPr>
          <p:spPr>
            <a:xfrm flipH="false" flipV="false" rot="0">
              <a:off x="4261268" y="284575"/>
              <a:ext cx="3252407" cy="959460"/>
            </a:xfrm>
            <a:custGeom>
              <a:avLst/>
              <a:gdLst/>
              <a:ahLst/>
              <a:cxnLst/>
              <a:rect r="r" b="b" t="t" l="l"/>
              <a:pathLst>
                <a:path h="959460" w="3252407">
                  <a:moveTo>
                    <a:pt x="0" y="0"/>
                  </a:moveTo>
                  <a:lnTo>
                    <a:pt x="3252407" y="0"/>
                  </a:lnTo>
                  <a:lnTo>
                    <a:pt x="3252407" y="959460"/>
                  </a:lnTo>
                  <a:lnTo>
                    <a:pt x="0" y="959460"/>
                  </a:lnTo>
                  <a:lnTo>
                    <a:pt x="0" y="0"/>
                  </a:lnTo>
                  <a:close/>
                </a:path>
              </a:pathLst>
            </a:custGeom>
            <a:blipFill>
              <a:blip r:embed="rId6"/>
              <a:stretch>
                <a:fillRect l="0" t="-122" r="0" b="-122"/>
              </a:stretch>
            </a:blipFill>
          </p:spPr>
        </p:sp>
      </p:grpSp>
      <p:grpSp>
        <p:nvGrpSpPr>
          <p:cNvPr name="Group 14" id="14"/>
          <p:cNvGrpSpPr/>
          <p:nvPr/>
        </p:nvGrpSpPr>
        <p:grpSpPr>
          <a:xfrm rot="3518130">
            <a:off x="12165362" y="3581129"/>
            <a:ext cx="6458209" cy="4572073"/>
            <a:chOff x="0" y="0"/>
            <a:chExt cx="661532" cy="468330"/>
          </a:xfrm>
        </p:grpSpPr>
        <p:sp>
          <p:nvSpPr>
            <p:cNvPr name="Freeform 15" id="15"/>
            <p:cNvSpPr/>
            <p:nvPr/>
          </p:nvSpPr>
          <p:spPr>
            <a:xfrm flipH="false" flipV="false" rot="0">
              <a:off x="0" y="0"/>
              <a:ext cx="661532" cy="468330"/>
            </a:xfrm>
            <a:custGeom>
              <a:avLst/>
              <a:gdLst/>
              <a:ahLst/>
              <a:cxnLst/>
              <a:rect r="r" b="b" t="t" l="l"/>
              <a:pathLst>
                <a:path h="468330" w="661532">
                  <a:moveTo>
                    <a:pt x="46752" y="0"/>
                  </a:moveTo>
                  <a:lnTo>
                    <a:pt x="614780" y="0"/>
                  </a:lnTo>
                  <a:cubicBezTo>
                    <a:pt x="640601" y="0"/>
                    <a:pt x="661532" y="20932"/>
                    <a:pt x="661532" y="46752"/>
                  </a:cubicBezTo>
                  <a:lnTo>
                    <a:pt x="661532" y="421578"/>
                  </a:lnTo>
                  <a:cubicBezTo>
                    <a:pt x="661532" y="447399"/>
                    <a:pt x="640601" y="468330"/>
                    <a:pt x="614780" y="468330"/>
                  </a:cubicBezTo>
                  <a:lnTo>
                    <a:pt x="46752" y="468330"/>
                  </a:lnTo>
                  <a:cubicBezTo>
                    <a:pt x="20932" y="468330"/>
                    <a:pt x="0" y="447399"/>
                    <a:pt x="0" y="421578"/>
                  </a:cubicBezTo>
                  <a:lnTo>
                    <a:pt x="0" y="46752"/>
                  </a:lnTo>
                  <a:cubicBezTo>
                    <a:pt x="0" y="20932"/>
                    <a:pt x="20932" y="0"/>
                    <a:pt x="46752" y="0"/>
                  </a:cubicBezTo>
                  <a:close/>
                </a:path>
              </a:pathLst>
            </a:custGeom>
            <a:solidFill>
              <a:srgbClr val="F8F3E6"/>
            </a:solidFill>
            <a:ln cap="rnd">
              <a:noFill/>
              <a:prstDash val="solid"/>
              <a:round/>
            </a:ln>
          </p:spPr>
        </p:sp>
        <p:sp>
          <p:nvSpPr>
            <p:cNvPr name="TextBox 16" id="16"/>
            <p:cNvSpPr txBox="true"/>
            <p:nvPr/>
          </p:nvSpPr>
          <p:spPr>
            <a:xfrm>
              <a:off x="0" y="-38100"/>
              <a:ext cx="661532" cy="50643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7" id="17"/>
          <p:cNvGrpSpPr/>
          <p:nvPr/>
        </p:nvGrpSpPr>
        <p:grpSpPr>
          <a:xfrm rot="0">
            <a:off x="13549314" y="3429471"/>
            <a:ext cx="4309072" cy="5398396"/>
            <a:chOff x="0" y="0"/>
            <a:chExt cx="5745429" cy="7197861"/>
          </a:xfrm>
        </p:grpSpPr>
        <p:sp>
          <p:nvSpPr>
            <p:cNvPr name="AutoShape 18" id="18"/>
            <p:cNvSpPr/>
            <p:nvPr/>
          </p:nvSpPr>
          <p:spPr>
            <a:xfrm flipH="true" flipV="true">
              <a:off x="3022507" y="11631"/>
              <a:ext cx="1336768" cy="7174599"/>
            </a:xfrm>
            <a:prstGeom prst="line">
              <a:avLst/>
            </a:prstGeom>
            <a:ln cap="flat" w="127000">
              <a:solidFill>
                <a:srgbClr val="002C7C"/>
              </a:solidFill>
              <a:prstDash val="solid"/>
              <a:headEnd type="arrow" len="sm" w="med"/>
              <a:tailEnd type="arrow" len="sm" w="med"/>
            </a:ln>
          </p:spPr>
        </p:sp>
        <p:sp>
          <p:nvSpPr>
            <p:cNvPr name="AutoShape 19" id="19"/>
            <p:cNvSpPr/>
            <p:nvPr/>
          </p:nvSpPr>
          <p:spPr>
            <a:xfrm flipH="true">
              <a:off x="51997" y="3196753"/>
              <a:ext cx="5682887" cy="957021"/>
            </a:xfrm>
            <a:prstGeom prst="line">
              <a:avLst/>
            </a:prstGeom>
            <a:ln cap="flat" w="127000">
              <a:solidFill>
                <a:srgbClr val="002C7C"/>
              </a:solidFill>
              <a:prstDash val="solid"/>
              <a:headEnd type="arrow" len="sm" w="med"/>
              <a:tailEnd type="arrow" len="sm" w="med"/>
            </a:ln>
          </p:spPr>
        </p:sp>
        <p:grpSp>
          <p:nvGrpSpPr>
            <p:cNvPr name="Group 20" id="20"/>
            <p:cNvGrpSpPr/>
            <p:nvPr/>
          </p:nvGrpSpPr>
          <p:grpSpPr>
            <a:xfrm rot="0">
              <a:off x="2049462" y="3109435"/>
              <a:ext cx="331306" cy="33130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380876">
              <a:off x="2584747" y="3062245"/>
              <a:ext cx="748360" cy="338161"/>
            </a:xfrm>
            <a:prstGeom prst="rect">
              <a:avLst/>
            </a:prstGeom>
          </p:spPr>
          <p:txBody>
            <a:bodyPr anchor="t" rtlCol="false" tIns="0" lIns="0" bIns="0" rIns="0">
              <a:spAutoFit/>
            </a:bodyPr>
            <a:lstStyle/>
            <a:p>
              <a:pPr algn="ctr" marL="0" indent="0" lvl="0">
                <a:lnSpc>
                  <a:spcPts val="2097"/>
                </a:lnSpc>
                <a:spcBef>
                  <a:spcPct val="0"/>
                </a:spcBef>
              </a:pPr>
              <a:r>
                <a:rPr lang="en-US" b="true" sz="1498">
                  <a:solidFill>
                    <a:srgbClr val="002C7C"/>
                  </a:solidFill>
                  <a:latin typeface="Poppins Bold"/>
                  <a:ea typeface="Poppins Bold"/>
                  <a:cs typeface="Poppins Bold"/>
                  <a:sym typeface="Poppins Bold"/>
                </a:rPr>
                <a:t>(-3,1)</a:t>
              </a:r>
            </a:p>
          </p:txBody>
        </p:sp>
        <p:sp>
          <p:nvSpPr>
            <p:cNvPr name="AutoShape 24" id="24"/>
            <p:cNvSpPr/>
            <p:nvPr/>
          </p:nvSpPr>
          <p:spPr>
            <a:xfrm flipH="true" flipV="true">
              <a:off x="621152" y="1150257"/>
              <a:ext cx="4022403" cy="5826738"/>
            </a:xfrm>
            <a:prstGeom prst="line">
              <a:avLst/>
            </a:prstGeom>
            <a:ln cap="flat" w="127000">
              <a:solidFill>
                <a:srgbClr val="EFBC20"/>
              </a:solidFill>
              <a:prstDash val="solid"/>
              <a:headEnd type="arrow" len="sm" w="med"/>
              <a:tailEnd type="arrow" len="sm" w="med"/>
            </a:ln>
          </p:spPr>
        </p:sp>
        <p:sp>
          <p:nvSpPr>
            <p:cNvPr name="AutoShape 25" id="25"/>
            <p:cNvSpPr/>
            <p:nvPr/>
          </p:nvSpPr>
          <p:spPr>
            <a:xfrm flipV="true">
              <a:off x="41541" y="1369033"/>
              <a:ext cx="4379635" cy="3788153"/>
            </a:xfrm>
            <a:prstGeom prst="line">
              <a:avLst/>
            </a:prstGeom>
            <a:ln cap="flat" w="127000">
              <a:solidFill>
                <a:srgbClr val="FF9C00"/>
              </a:solidFill>
              <a:prstDash val="solid"/>
              <a:headEnd type="arrow" len="sm" w="med"/>
              <a:tailEnd type="arrow" len="sm" w="med"/>
            </a:ln>
          </p:spPr>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sp>
        <p:nvSpPr>
          <p:cNvPr name="TextBox 2" id="2"/>
          <p:cNvSpPr txBox="true"/>
          <p:nvPr/>
        </p:nvSpPr>
        <p:spPr>
          <a:xfrm rot="0">
            <a:off x="1028700" y="1339729"/>
            <a:ext cx="10227054" cy="1193800"/>
          </a:xfrm>
          <a:prstGeom prst="rect">
            <a:avLst/>
          </a:prstGeom>
        </p:spPr>
        <p:txBody>
          <a:bodyPr anchor="t" rtlCol="false" tIns="0" lIns="0" bIns="0" rIns="0">
            <a:spAutoFit/>
          </a:bodyPr>
          <a:lstStyle/>
          <a:p>
            <a:pPr algn="l">
              <a:lnSpc>
                <a:spcPts val="9799"/>
              </a:lnSpc>
            </a:pPr>
            <a:r>
              <a:rPr lang="en-US" sz="6999">
                <a:solidFill>
                  <a:srgbClr val="FFFFFF"/>
                </a:solidFill>
                <a:latin typeface="Lovelo"/>
                <a:ea typeface="Lovelo"/>
                <a:cs typeface="Lovelo"/>
                <a:sym typeface="Lovelo"/>
              </a:rPr>
              <a:t>CHAPTER OUTLINE</a:t>
            </a:r>
          </a:p>
        </p:txBody>
      </p:sp>
      <p:grpSp>
        <p:nvGrpSpPr>
          <p:cNvPr name="Group 3" id="3"/>
          <p:cNvGrpSpPr/>
          <p:nvPr/>
        </p:nvGrpSpPr>
        <p:grpSpPr>
          <a:xfrm rot="0">
            <a:off x="1028700" y="2695454"/>
            <a:ext cx="827456" cy="802519"/>
            <a:chOff x="0" y="0"/>
            <a:chExt cx="1103274" cy="1070025"/>
          </a:xfrm>
        </p:grpSpPr>
        <p:grpSp>
          <p:nvGrpSpPr>
            <p:cNvPr name="Group 4" id="4"/>
            <p:cNvGrpSpPr/>
            <p:nvPr/>
          </p:nvGrpSpPr>
          <p:grpSpPr>
            <a:xfrm rot="0">
              <a:off x="78443" y="2455"/>
              <a:ext cx="1024831" cy="102483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6" id="6"/>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7" id="7"/>
            <p:cNvGrpSpPr/>
            <p:nvPr/>
          </p:nvGrpSpPr>
          <p:grpSpPr>
            <a:xfrm rot="0">
              <a:off x="0" y="0"/>
              <a:ext cx="1024831" cy="102483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9" id="9"/>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10" id="10"/>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1</a:t>
              </a:r>
            </a:p>
          </p:txBody>
        </p:sp>
      </p:grpSp>
      <p:sp>
        <p:nvSpPr>
          <p:cNvPr name="TextBox 11" id="11"/>
          <p:cNvSpPr txBox="true"/>
          <p:nvPr/>
        </p:nvSpPr>
        <p:spPr>
          <a:xfrm rot="0">
            <a:off x="2077585" y="2846892"/>
            <a:ext cx="701729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Basics of Linear Algebra</a:t>
            </a:r>
          </a:p>
        </p:txBody>
      </p:sp>
      <p:grpSp>
        <p:nvGrpSpPr>
          <p:cNvPr name="Group 12" id="12"/>
          <p:cNvGrpSpPr/>
          <p:nvPr/>
        </p:nvGrpSpPr>
        <p:grpSpPr>
          <a:xfrm rot="4363817">
            <a:off x="12490847" y="3054613"/>
            <a:ext cx="6458209" cy="5118332"/>
            <a:chOff x="0" y="0"/>
            <a:chExt cx="661532" cy="524285"/>
          </a:xfrm>
        </p:grpSpPr>
        <p:sp>
          <p:nvSpPr>
            <p:cNvPr name="Freeform 13" id="13"/>
            <p:cNvSpPr/>
            <p:nvPr/>
          </p:nvSpPr>
          <p:spPr>
            <a:xfrm flipH="false" flipV="false" rot="0">
              <a:off x="0" y="0"/>
              <a:ext cx="661532" cy="524285"/>
            </a:xfrm>
            <a:custGeom>
              <a:avLst/>
              <a:gdLst/>
              <a:ahLst/>
              <a:cxnLst/>
              <a:rect r="r" b="b" t="t" l="l"/>
              <a:pathLst>
                <a:path h="524285" w="661532">
                  <a:moveTo>
                    <a:pt x="46752" y="0"/>
                  </a:moveTo>
                  <a:lnTo>
                    <a:pt x="614780" y="0"/>
                  </a:lnTo>
                  <a:cubicBezTo>
                    <a:pt x="640601" y="0"/>
                    <a:pt x="661532" y="20932"/>
                    <a:pt x="661532" y="46752"/>
                  </a:cubicBezTo>
                  <a:lnTo>
                    <a:pt x="661532" y="477533"/>
                  </a:lnTo>
                  <a:cubicBezTo>
                    <a:pt x="661532" y="503353"/>
                    <a:pt x="640601" y="524285"/>
                    <a:pt x="614780" y="524285"/>
                  </a:cubicBezTo>
                  <a:lnTo>
                    <a:pt x="46752" y="524285"/>
                  </a:lnTo>
                  <a:cubicBezTo>
                    <a:pt x="20932" y="524285"/>
                    <a:pt x="0" y="503353"/>
                    <a:pt x="0" y="477533"/>
                  </a:cubicBezTo>
                  <a:lnTo>
                    <a:pt x="0" y="46752"/>
                  </a:lnTo>
                  <a:cubicBezTo>
                    <a:pt x="0" y="20932"/>
                    <a:pt x="20932" y="0"/>
                    <a:pt x="46752" y="0"/>
                  </a:cubicBezTo>
                  <a:close/>
                </a:path>
              </a:pathLst>
            </a:custGeom>
            <a:solidFill>
              <a:srgbClr val="F8F3E6"/>
            </a:solidFill>
            <a:ln cap="rnd">
              <a:noFill/>
              <a:prstDash val="solid"/>
              <a:round/>
            </a:ln>
          </p:spPr>
        </p:sp>
        <p:sp>
          <p:nvSpPr>
            <p:cNvPr name="TextBox 14" id="14"/>
            <p:cNvSpPr txBox="true"/>
            <p:nvPr/>
          </p:nvSpPr>
          <p:spPr>
            <a:xfrm>
              <a:off x="0" y="-38100"/>
              <a:ext cx="661532" cy="562385"/>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5" id="15"/>
          <p:cNvGrpSpPr/>
          <p:nvPr/>
        </p:nvGrpSpPr>
        <p:grpSpPr>
          <a:xfrm rot="0">
            <a:off x="13151903" y="2234411"/>
            <a:ext cx="5136097" cy="6434235"/>
            <a:chOff x="0" y="0"/>
            <a:chExt cx="6848130" cy="8578980"/>
          </a:xfrm>
        </p:grpSpPr>
        <p:sp>
          <p:nvSpPr>
            <p:cNvPr name="AutoShape 16" id="16"/>
            <p:cNvSpPr/>
            <p:nvPr/>
          </p:nvSpPr>
          <p:spPr>
            <a:xfrm flipH="true" flipV="true">
              <a:off x="3602722" y="13957"/>
              <a:ext cx="1593230" cy="8551065"/>
            </a:xfrm>
            <a:prstGeom prst="line">
              <a:avLst/>
            </a:prstGeom>
            <a:ln cap="flat" w="152400">
              <a:solidFill>
                <a:srgbClr val="002C7C"/>
              </a:solidFill>
              <a:prstDash val="solid"/>
              <a:headEnd type="arrow" len="sm" w="med"/>
              <a:tailEnd type="arrow" len="sm" w="med"/>
            </a:ln>
          </p:spPr>
        </p:sp>
        <p:sp>
          <p:nvSpPr>
            <p:cNvPr name="AutoShape 17" id="17"/>
            <p:cNvSpPr/>
            <p:nvPr/>
          </p:nvSpPr>
          <p:spPr>
            <a:xfrm flipH="true">
              <a:off x="62312" y="3810153"/>
              <a:ext cx="6773164" cy="1140628"/>
            </a:xfrm>
            <a:prstGeom prst="line">
              <a:avLst/>
            </a:prstGeom>
            <a:ln cap="flat" w="152400">
              <a:solidFill>
                <a:srgbClr val="002C7C"/>
              </a:solidFill>
              <a:prstDash val="solid"/>
              <a:headEnd type="arrow" len="sm" w="med"/>
              <a:tailEnd type="arrow" len="sm" w="med"/>
            </a:ln>
          </p:spPr>
        </p:sp>
        <p:sp>
          <p:nvSpPr>
            <p:cNvPr name="AutoShape 18" id="18"/>
            <p:cNvSpPr/>
            <p:nvPr/>
          </p:nvSpPr>
          <p:spPr>
            <a:xfrm flipV="true">
              <a:off x="49849" y="1631781"/>
              <a:ext cx="5219880" cy="4514921"/>
            </a:xfrm>
            <a:prstGeom prst="line">
              <a:avLst/>
            </a:prstGeom>
            <a:ln cap="flat" w="152400">
              <a:solidFill>
                <a:srgbClr val="FF9C00"/>
              </a:solidFill>
              <a:prstDash val="solid"/>
              <a:headEnd type="arrow" len="sm" w="med"/>
              <a:tailEnd type="arrow" len="sm" w="med"/>
            </a:ln>
          </p:spPr>
        </p:sp>
        <p:sp>
          <p:nvSpPr>
            <p:cNvPr name="AutoShape 19" id="19"/>
            <p:cNvSpPr/>
            <p:nvPr/>
          </p:nvSpPr>
          <p:spPr>
            <a:xfrm flipH="true" flipV="true">
              <a:off x="765498" y="1173715"/>
              <a:ext cx="4794112" cy="6944613"/>
            </a:xfrm>
            <a:prstGeom prst="line">
              <a:avLst/>
            </a:prstGeom>
            <a:ln cap="flat" w="152400">
              <a:solidFill>
                <a:srgbClr val="EFBC20"/>
              </a:solidFill>
              <a:prstDash val="solid"/>
              <a:headEnd type="arrow" len="sm" w="med"/>
              <a:tailEnd type="arrow" len="sm" w="med"/>
            </a:ln>
          </p:spPr>
        </p:sp>
        <p:grpSp>
          <p:nvGrpSpPr>
            <p:cNvPr name="Group 20" id="20"/>
            <p:cNvGrpSpPr/>
            <p:nvPr/>
          </p:nvGrpSpPr>
          <p:grpSpPr>
            <a:xfrm rot="0">
              <a:off x="2442996" y="3706083"/>
              <a:ext cx="394868" cy="394868"/>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380876">
              <a:off x="3080327" y="3638135"/>
              <a:ext cx="891935" cy="414779"/>
            </a:xfrm>
            <a:prstGeom prst="rect">
              <a:avLst/>
            </a:prstGeom>
          </p:spPr>
          <p:txBody>
            <a:bodyPr anchor="t" rtlCol="false" tIns="0" lIns="0" bIns="0" rIns="0">
              <a:spAutoFit/>
            </a:bodyPr>
            <a:lstStyle/>
            <a:p>
              <a:pPr algn="ctr" marL="0" indent="0" lvl="0">
                <a:lnSpc>
                  <a:spcPts val="2500"/>
                </a:lnSpc>
                <a:spcBef>
                  <a:spcPct val="0"/>
                </a:spcBef>
              </a:pPr>
              <a:r>
                <a:rPr lang="en-US" b="true" sz="1786">
                  <a:solidFill>
                    <a:srgbClr val="002C7C"/>
                  </a:solidFill>
                  <a:latin typeface="Poppins Bold"/>
                  <a:ea typeface="Poppins Bold"/>
                  <a:cs typeface="Poppins Bold"/>
                  <a:sym typeface="Poppins Bold"/>
                </a:rPr>
                <a:t>(-3,1)</a:t>
              </a:r>
            </a:p>
          </p:txBody>
        </p:sp>
      </p:grpSp>
      <p:grpSp>
        <p:nvGrpSpPr>
          <p:cNvPr name="Group 24" id="24"/>
          <p:cNvGrpSpPr/>
          <p:nvPr/>
        </p:nvGrpSpPr>
        <p:grpSpPr>
          <a:xfrm rot="0">
            <a:off x="11916713" y="292637"/>
            <a:ext cx="6128190" cy="1018857"/>
            <a:chOff x="0" y="0"/>
            <a:chExt cx="8170920" cy="1358476"/>
          </a:xfrm>
        </p:grpSpPr>
        <p:grpSp>
          <p:nvGrpSpPr>
            <p:cNvPr name="Group 25" id="25"/>
            <p:cNvGrpSpPr/>
            <p:nvPr/>
          </p:nvGrpSpPr>
          <p:grpSpPr>
            <a:xfrm rot="0">
              <a:off x="0" y="0"/>
              <a:ext cx="8170920" cy="1358476"/>
              <a:chOff x="0" y="0"/>
              <a:chExt cx="825661" cy="137272"/>
            </a:xfrm>
          </p:grpSpPr>
          <p:sp>
            <p:nvSpPr>
              <p:cNvPr name="Freeform 26" id="26"/>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27" id="27"/>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28" id="28"/>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29" id="29"/>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30" id="30"/>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31" id="31"/>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32" id="32"/>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33" id="33"/>
          <p:cNvGrpSpPr/>
          <p:nvPr/>
        </p:nvGrpSpPr>
        <p:grpSpPr>
          <a:xfrm rot="0">
            <a:off x="1028700" y="3707523"/>
            <a:ext cx="827456" cy="802519"/>
            <a:chOff x="0" y="0"/>
            <a:chExt cx="1103274" cy="1070025"/>
          </a:xfrm>
        </p:grpSpPr>
        <p:grpSp>
          <p:nvGrpSpPr>
            <p:cNvPr name="Group 34" id="34"/>
            <p:cNvGrpSpPr/>
            <p:nvPr/>
          </p:nvGrpSpPr>
          <p:grpSpPr>
            <a:xfrm rot="0">
              <a:off x="78443" y="2455"/>
              <a:ext cx="1024831" cy="10248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36" id="36"/>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37" id="37"/>
            <p:cNvGrpSpPr/>
            <p:nvPr/>
          </p:nvGrpSpPr>
          <p:grpSpPr>
            <a:xfrm rot="0">
              <a:off x="0" y="0"/>
              <a:ext cx="1024831" cy="1024831"/>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39" id="39"/>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40" id="40"/>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2</a:t>
              </a:r>
            </a:p>
          </p:txBody>
        </p:sp>
      </p:grpSp>
      <p:sp>
        <p:nvSpPr>
          <p:cNvPr name="TextBox 41" id="41"/>
          <p:cNvSpPr txBox="true"/>
          <p:nvPr/>
        </p:nvSpPr>
        <p:spPr>
          <a:xfrm rot="0">
            <a:off x="2077585" y="3858961"/>
            <a:ext cx="701729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Linear Transformations</a:t>
            </a:r>
          </a:p>
        </p:txBody>
      </p:sp>
      <p:grpSp>
        <p:nvGrpSpPr>
          <p:cNvPr name="Group 42" id="42"/>
          <p:cNvGrpSpPr/>
          <p:nvPr/>
        </p:nvGrpSpPr>
        <p:grpSpPr>
          <a:xfrm rot="0">
            <a:off x="1028700" y="4719592"/>
            <a:ext cx="827456" cy="802519"/>
            <a:chOff x="0" y="0"/>
            <a:chExt cx="1103274" cy="1070025"/>
          </a:xfrm>
        </p:grpSpPr>
        <p:grpSp>
          <p:nvGrpSpPr>
            <p:cNvPr name="Group 43" id="43"/>
            <p:cNvGrpSpPr/>
            <p:nvPr/>
          </p:nvGrpSpPr>
          <p:grpSpPr>
            <a:xfrm rot="0">
              <a:off x="78443" y="2455"/>
              <a:ext cx="1024831" cy="1024831"/>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45" id="45"/>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46" id="46"/>
            <p:cNvGrpSpPr/>
            <p:nvPr/>
          </p:nvGrpSpPr>
          <p:grpSpPr>
            <a:xfrm rot="0">
              <a:off x="0" y="0"/>
              <a:ext cx="1024831" cy="1024831"/>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48" id="48"/>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49" id="49"/>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3</a:t>
              </a:r>
            </a:p>
          </p:txBody>
        </p:sp>
      </p:grpSp>
      <p:sp>
        <p:nvSpPr>
          <p:cNvPr name="TextBox 50" id="50"/>
          <p:cNvSpPr txBox="true"/>
          <p:nvPr/>
        </p:nvSpPr>
        <p:spPr>
          <a:xfrm rot="0">
            <a:off x="2077585" y="4871030"/>
            <a:ext cx="701729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Systems of Linear Equations</a:t>
            </a:r>
          </a:p>
        </p:txBody>
      </p:sp>
      <p:grpSp>
        <p:nvGrpSpPr>
          <p:cNvPr name="Group 51" id="51"/>
          <p:cNvGrpSpPr/>
          <p:nvPr/>
        </p:nvGrpSpPr>
        <p:grpSpPr>
          <a:xfrm rot="0">
            <a:off x="1028700" y="5731661"/>
            <a:ext cx="827456" cy="802519"/>
            <a:chOff x="0" y="0"/>
            <a:chExt cx="1103274" cy="1070025"/>
          </a:xfrm>
        </p:grpSpPr>
        <p:grpSp>
          <p:nvGrpSpPr>
            <p:cNvPr name="Group 52" id="52"/>
            <p:cNvGrpSpPr/>
            <p:nvPr/>
          </p:nvGrpSpPr>
          <p:grpSpPr>
            <a:xfrm rot="0">
              <a:off x="78443" y="2455"/>
              <a:ext cx="1024831" cy="1024831"/>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54" id="54"/>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55" id="55"/>
            <p:cNvGrpSpPr/>
            <p:nvPr/>
          </p:nvGrpSpPr>
          <p:grpSpPr>
            <a:xfrm rot="0">
              <a:off x="0" y="0"/>
              <a:ext cx="1024831" cy="1024831"/>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57" id="57"/>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58" id="58"/>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4</a:t>
              </a:r>
            </a:p>
          </p:txBody>
        </p:sp>
      </p:grpSp>
      <p:sp>
        <p:nvSpPr>
          <p:cNvPr name="TextBox 59" id="59"/>
          <p:cNvSpPr txBox="true"/>
          <p:nvPr/>
        </p:nvSpPr>
        <p:spPr>
          <a:xfrm rot="0">
            <a:off x="2077585" y="5883099"/>
            <a:ext cx="9762927"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Solutions to Systems of Linear Equations</a:t>
            </a:r>
          </a:p>
        </p:txBody>
      </p:sp>
      <p:grpSp>
        <p:nvGrpSpPr>
          <p:cNvPr name="Group 60" id="60"/>
          <p:cNvGrpSpPr/>
          <p:nvPr/>
        </p:nvGrpSpPr>
        <p:grpSpPr>
          <a:xfrm rot="0">
            <a:off x="1028700" y="6743730"/>
            <a:ext cx="827456" cy="802519"/>
            <a:chOff x="0" y="0"/>
            <a:chExt cx="1103274" cy="1070025"/>
          </a:xfrm>
        </p:grpSpPr>
        <p:grpSp>
          <p:nvGrpSpPr>
            <p:cNvPr name="Group 61" id="61"/>
            <p:cNvGrpSpPr/>
            <p:nvPr/>
          </p:nvGrpSpPr>
          <p:grpSpPr>
            <a:xfrm rot="0">
              <a:off x="78443" y="2455"/>
              <a:ext cx="1024831" cy="1024831"/>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63" id="63"/>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64" id="64"/>
            <p:cNvGrpSpPr/>
            <p:nvPr/>
          </p:nvGrpSpPr>
          <p:grpSpPr>
            <a:xfrm rot="0">
              <a:off x="0" y="0"/>
              <a:ext cx="1024831" cy="1024831"/>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66" id="66"/>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67" id="67"/>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5</a:t>
              </a:r>
            </a:p>
          </p:txBody>
        </p:sp>
      </p:grpSp>
      <p:sp>
        <p:nvSpPr>
          <p:cNvPr name="TextBox 68" id="68"/>
          <p:cNvSpPr txBox="true"/>
          <p:nvPr/>
        </p:nvSpPr>
        <p:spPr>
          <a:xfrm rot="0">
            <a:off x="2077585" y="6895168"/>
            <a:ext cx="1050363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Solve Systems of Linear Equations in Python</a:t>
            </a:r>
          </a:p>
        </p:txBody>
      </p:sp>
      <p:grpSp>
        <p:nvGrpSpPr>
          <p:cNvPr name="Group 69" id="69"/>
          <p:cNvGrpSpPr/>
          <p:nvPr/>
        </p:nvGrpSpPr>
        <p:grpSpPr>
          <a:xfrm rot="0">
            <a:off x="1028700" y="7755799"/>
            <a:ext cx="827456" cy="802519"/>
            <a:chOff x="0" y="0"/>
            <a:chExt cx="1103274" cy="1070025"/>
          </a:xfrm>
        </p:grpSpPr>
        <p:grpSp>
          <p:nvGrpSpPr>
            <p:cNvPr name="Group 70" id="70"/>
            <p:cNvGrpSpPr/>
            <p:nvPr/>
          </p:nvGrpSpPr>
          <p:grpSpPr>
            <a:xfrm rot="0">
              <a:off x="78443" y="2455"/>
              <a:ext cx="1024831" cy="1024831"/>
              <a:chOff x="0" y="0"/>
              <a:chExt cx="812800" cy="812800"/>
            </a:xfrm>
          </p:grpSpPr>
          <p:sp>
            <p:nvSpPr>
              <p:cNvPr name="Freeform 71" id="7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72" id="72"/>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73" id="73"/>
            <p:cNvGrpSpPr/>
            <p:nvPr/>
          </p:nvGrpSpPr>
          <p:grpSpPr>
            <a:xfrm rot="0">
              <a:off x="0" y="0"/>
              <a:ext cx="1024831" cy="1024831"/>
              <a:chOff x="0" y="0"/>
              <a:chExt cx="812800" cy="812800"/>
            </a:xfrm>
          </p:grpSpPr>
          <p:sp>
            <p:nvSpPr>
              <p:cNvPr name="Freeform 74" id="7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75" id="75"/>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76" id="76"/>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6</a:t>
              </a:r>
            </a:p>
          </p:txBody>
        </p:sp>
      </p:grpSp>
      <p:sp>
        <p:nvSpPr>
          <p:cNvPr name="TextBox 77" id="77"/>
          <p:cNvSpPr txBox="true"/>
          <p:nvPr/>
        </p:nvSpPr>
        <p:spPr>
          <a:xfrm rot="0">
            <a:off x="2077585" y="7907237"/>
            <a:ext cx="1050363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Matrix Inversion</a:t>
            </a:r>
          </a:p>
        </p:txBody>
      </p:sp>
      <p:grpSp>
        <p:nvGrpSpPr>
          <p:cNvPr name="Group 78" id="78"/>
          <p:cNvGrpSpPr/>
          <p:nvPr/>
        </p:nvGrpSpPr>
        <p:grpSpPr>
          <a:xfrm rot="0">
            <a:off x="1028700" y="8767868"/>
            <a:ext cx="827456" cy="802519"/>
            <a:chOff x="0" y="0"/>
            <a:chExt cx="1103274" cy="1070025"/>
          </a:xfrm>
        </p:grpSpPr>
        <p:grpSp>
          <p:nvGrpSpPr>
            <p:cNvPr name="Group 79" id="79"/>
            <p:cNvGrpSpPr/>
            <p:nvPr/>
          </p:nvGrpSpPr>
          <p:grpSpPr>
            <a:xfrm rot="0">
              <a:off x="78443" y="2455"/>
              <a:ext cx="1024831" cy="1024831"/>
              <a:chOff x="0" y="0"/>
              <a:chExt cx="812800" cy="812800"/>
            </a:xfrm>
          </p:grpSpPr>
          <p:sp>
            <p:nvSpPr>
              <p:cNvPr name="Freeform 80" id="8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81" id="81"/>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grpSp>
          <p:nvGrpSpPr>
            <p:cNvPr name="Group 82" id="82"/>
            <p:cNvGrpSpPr/>
            <p:nvPr/>
          </p:nvGrpSpPr>
          <p:grpSpPr>
            <a:xfrm rot="0">
              <a:off x="0" y="0"/>
              <a:ext cx="1024831" cy="1024831"/>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84" id="84"/>
              <p:cNvSpPr txBox="true"/>
              <p:nvPr/>
            </p:nvSpPr>
            <p:spPr>
              <a:xfrm>
                <a:off x="76200" y="38100"/>
                <a:ext cx="660400" cy="698500"/>
              </a:xfrm>
              <a:prstGeom prst="rect">
                <a:avLst/>
              </a:prstGeom>
            </p:spPr>
            <p:txBody>
              <a:bodyPr anchor="ctr" rtlCol="false" tIns="39675" lIns="39675" bIns="39675" rIns="39675"/>
              <a:lstStyle/>
              <a:p>
                <a:pPr algn="ctr">
                  <a:lnSpc>
                    <a:spcPts val="2660"/>
                  </a:lnSpc>
                  <a:spcBef>
                    <a:spcPct val="0"/>
                  </a:spcBef>
                </a:pPr>
              </a:p>
            </p:txBody>
          </p:sp>
        </p:grpSp>
        <p:sp>
          <p:nvSpPr>
            <p:cNvPr name="TextBox 85" id="85"/>
            <p:cNvSpPr txBox="true"/>
            <p:nvPr/>
          </p:nvSpPr>
          <p:spPr>
            <a:xfrm rot="0">
              <a:off x="78443" y="60880"/>
              <a:ext cx="873146" cy="1009146"/>
            </a:xfrm>
            <a:prstGeom prst="rect">
              <a:avLst/>
            </a:prstGeom>
          </p:spPr>
          <p:txBody>
            <a:bodyPr anchor="t" rtlCol="false" tIns="0" lIns="0" bIns="0" rIns="0">
              <a:spAutoFit/>
            </a:bodyPr>
            <a:lstStyle/>
            <a:p>
              <a:pPr algn="ctr">
                <a:lnSpc>
                  <a:spcPts val="6386"/>
                </a:lnSpc>
              </a:pPr>
              <a:r>
                <a:rPr lang="en-US" sz="4561">
                  <a:solidFill>
                    <a:srgbClr val="0B2F70"/>
                  </a:solidFill>
                  <a:latin typeface="Lovelo"/>
                  <a:ea typeface="Lovelo"/>
                  <a:cs typeface="Lovelo"/>
                  <a:sym typeface="Lovelo"/>
                </a:rPr>
                <a:t>7</a:t>
              </a:r>
            </a:p>
          </p:txBody>
        </p:sp>
      </p:grpSp>
      <p:sp>
        <p:nvSpPr>
          <p:cNvPr name="TextBox 86" id="86"/>
          <p:cNvSpPr txBox="true"/>
          <p:nvPr/>
        </p:nvSpPr>
        <p:spPr>
          <a:xfrm rot="0">
            <a:off x="2077585" y="8919306"/>
            <a:ext cx="10503635" cy="537743"/>
          </a:xfrm>
          <a:prstGeom prst="rect">
            <a:avLst/>
          </a:prstGeom>
        </p:spPr>
        <p:txBody>
          <a:bodyPr anchor="t" rtlCol="false" tIns="0" lIns="0" bIns="0" rIns="0">
            <a:spAutoFit/>
          </a:bodyPr>
          <a:lstStyle/>
          <a:p>
            <a:pPr algn="l" marL="0" indent="0" lvl="0">
              <a:lnSpc>
                <a:spcPts val="3721"/>
              </a:lnSpc>
              <a:spcBef>
                <a:spcPct val="0"/>
              </a:spcBef>
            </a:pPr>
            <a:r>
              <a:rPr lang="en-US" sz="3797">
                <a:solidFill>
                  <a:srgbClr val="FFFFFF"/>
                </a:solidFill>
                <a:latin typeface="Poppins"/>
                <a:ea typeface="Poppins"/>
                <a:cs typeface="Poppins"/>
                <a:sym typeface="Poppins"/>
              </a:rPr>
              <a:t>Summary and Problems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783363" y="3679046"/>
            <a:ext cx="6118417" cy="6097088"/>
            <a:chOff x="0" y="0"/>
            <a:chExt cx="8157889" cy="8129450"/>
          </a:xfrm>
        </p:grpSpPr>
        <p:sp>
          <p:nvSpPr>
            <p:cNvPr name="AutoShape 3" id="3"/>
            <p:cNvSpPr/>
            <p:nvPr/>
          </p:nvSpPr>
          <p:spPr>
            <a:xfrm>
              <a:off x="491720" y="4679073"/>
              <a:ext cx="7174449" cy="0"/>
            </a:xfrm>
            <a:prstGeom prst="line">
              <a:avLst/>
            </a:prstGeom>
            <a:ln cap="flat" w="21309">
              <a:solidFill>
                <a:srgbClr val="1B93B0"/>
              </a:solidFill>
              <a:prstDash val="solid"/>
              <a:headEnd type="none" len="sm" w="sm"/>
              <a:tailEnd type="none" len="sm" w="sm"/>
            </a:ln>
          </p:spPr>
        </p:sp>
        <p:sp>
          <p:nvSpPr>
            <p:cNvPr name="AutoShape 4" id="4"/>
            <p:cNvSpPr/>
            <p:nvPr/>
          </p:nvSpPr>
          <p:spPr>
            <a:xfrm>
              <a:off x="491720" y="5271452"/>
              <a:ext cx="7174449" cy="0"/>
            </a:xfrm>
            <a:prstGeom prst="line">
              <a:avLst/>
            </a:prstGeom>
            <a:ln cap="flat" w="21309">
              <a:solidFill>
                <a:srgbClr val="1B93B0"/>
              </a:solidFill>
              <a:prstDash val="solid"/>
              <a:headEnd type="none" len="sm" w="sm"/>
              <a:tailEnd type="none" len="sm" w="sm"/>
            </a:ln>
          </p:spPr>
        </p:sp>
        <p:sp>
          <p:nvSpPr>
            <p:cNvPr name="AutoShape 5" id="5"/>
            <p:cNvSpPr/>
            <p:nvPr/>
          </p:nvSpPr>
          <p:spPr>
            <a:xfrm>
              <a:off x="491720" y="5863830"/>
              <a:ext cx="7174449" cy="0"/>
            </a:xfrm>
            <a:prstGeom prst="line">
              <a:avLst/>
            </a:prstGeom>
            <a:ln cap="flat" w="21309">
              <a:solidFill>
                <a:srgbClr val="1B93B0"/>
              </a:solidFill>
              <a:prstDash val="solid"/>
              <a:headEnd type="none" len="sm" w="sm"/>
              <a:tailEnd type="none" len="sm" w="sm"/>
            </a:ln>
          </p:spPr>
        </p:sp>
        <p:sp>
          <p:nvSpPr>
            <p:cNvPr name="AutoShape 6" id="6"/>
            <p:cNvSpPr/>
            <p:nvPr/>
          </p:nvSpPr>
          <p:spPr>
            <a:xfrm>
              <a:off x="491720" y="1662257"/>
              <a:ext cx="7174449" cy="0"/>
            </a:xfrm>
            <a:prstGeom prst="line">
              <a:avLst/>
            </a:prstGeom>
            <a:ln cap="flat" w="21309">
              <a:solidFill>
                <a:srgbClr val="1B93B0"/>
              </a:solidFill>
              <a:prstDash val="solid"/>
              <a:headEnd type="none" len="sm" w="sm"/>
              <a:tailEnd type="none" len="sm" w="sm"/>
            </a:ln>
          </p:spPr>
        </p:sp>
        <p:sp>
          <p:nvSpPr>
            <p:cNvPr name="AutoShape 7" id="7"/>
            <p:cNvSpPr/>
            <p:nvPr/>
          </p:nvSpPr>
          <p:spPr>
            <a:xfrm>
              <a:off x="491720" y="2254635"/>
              <a:ext cx="7174449" cy="0"/>
            </a:xfrm>
            <a:prstGeom prst="line">
              <a:avLst/>
            </a:prstGeom>
            <a:ln cap="flat" w="21309">
              <a:solidFill>
                <a:srgbClr val="1B93B0"/>
              </a:solidFill>
              <a:prstDash val="solid"/>
              <a:headEnd type="none" len="sm" w="sm"/>
              <a:tailEnd type="none" len="sm" w="sm"/>
            </a:ln>
          </p:spPr>
        </p:sp>
        <p:sp>
          <p:nvSpPr>
            <p:cNvPr name="AutoShape 8" id="8"/>
            <p:cNvSpPr/>
            <p:nvPr/>
          </p:nvSpPr>
          <p:spPr>
            <a:xfrm>
              <a:off x="491720" y="2847013"/>
              <a:ext cx="7174449" cy="0"/>
            </a:xfrm>
            <a:prstGeom prst="line">
              <a:avLst/>
            </a:prstGeom>
            <a:ln cap="flat" w="21309">
              <a:solidFill>
                <a:srgbClr val="1B93B0"/>
              </a:solidFill>
              <a:prstDash val="solid"/>
              <a:headEnd type="none" len="sm" w="sm"/>
              <a:tailEnd type="none" len="sm" w="sm"/>
            </a:ln>
          </p:spPr>
        </p:sp>
        <p:sp>
          <p:nvSpPr>
            <p:cNvPr name="AutoShape 9" id="9"/>
            <p:cNvSpPr/>
            <p:nvPr/>
          </p:nvSpPr>
          <p:spPr>
            <a:xfrm>
              <a:off x="491720" y="3439392"/>
              <a:ext cx="7174449" cy="0"/>
            </a:xfrm>
            <a:prstGeom prst="line">
              <a:avLst/>
            </a:prstGeom>
            <a:ln cap="flat" w="21309">
              <a:solidFill>
                <a:srgbClr val="1B93B0"/>
              </a:solidFill>
              <a:prstDash val="solid"/>
              <a:headEnd type="none" len="sm" w="sm"/>
              <a:tailEnd type="none" len="sm" w="sm"/>
            </a:ln>
          </p:spPr>
        </p:sp>
        <p:sp>
          <p:nvSpPr>
            <p:cNvPr name="AutoShape 10" id="10"/>
            <p:cNvSpPr/>
            <p:nvPr/>
          </p:nvSpPr>
          <p:spPr>
            <a:xfrm>
              <a:off x="491720" y="6456208"/>
              <a:ext cx="7174449" cy="0"/>
            </a:xfrm>
            <a:prstGeom prst="line">
              <a:avLst/>
            </a:prstGeom>
            <a:ln cap="flat" w="21309">
              <a:solidFill>
                <a:srgbClr val="1B93B0"/>
              </a:solidFill>
              <a:prstDash val="solid"/>
              <a:headEnd type="none" len="sm" w="sm"/>
              <a:tailEnd type="none" len="sm" w="sm"/>
            </a:ln>
          </p:spPr>
        </p:sp>
        <p:grpSp>
          <p:nvGrpSpPr>
            <p:cNvPr name="Group 11" id="11"/>
            <p:cNvGrpSpPr/>
            <p:nvPr/>
          </p:nvGrpSpPr>
          <p:grpSpPr>
            <a:xfrm rot="0">
              <a:off x="491720" y="477501"/>
              <a:ext cx="7174449" cy="7174449"/>
              <a:chOff x="0" y="0"/>
              <a:chExt cx="1385212" cy="1385212"/>
            </a:xfrm>
          </p:grpSpPr>
          <p:sp>
            <p:nvSpPr>
              <p:cNvPr name="Freeform 12" id="12"/>
              <p:cNvSpPr/>
              <p:nvPr/>
            </p:nvSpPr>
            <p:spPr>
              <a:xfrm flipH="false" flipV="false" rot="0">
                <a:off x="0" y="0"/>
                <a:ext cx="1385212" cy="1385212"/>
              </a:xfrm>
              <a:custGeom>
                <a:avLst/>
                <a:gdLst/>
                <a:ahLst/>
                <a:cxnLst/>
                <a:rect r="r" b="b" t="t" l="l"/>
                <a:pathLst>
                  <a:path h="1385212" w="1385212">
                    <a:moveTo>
                      <a:pt x="61561" y="0"/>
                    </a:moveTo>
                    <a:lnTo>
                      <a:pt x="1323651" y="0"/>
                    </a:lnTo>
                    <a:cubicBezTo>
                      <a:pt x="1357650" y="0"/>
                      <a:pt x="1385212" y="27562"/>
                      <a:pt x="1385212" y="61561"/>
                    </a:cubicBezTo>
                    <a:lnTo>
                      <a:pt x="1385212" y="1323651"/>
                    </a:lnTo>
                    <a:cubicBezTo>
                      <a:pt x="1385212" y="1357650"/>
                      <a:pt x="1357650" y="1385212"/>
                      <a:pt x="1323651" y="1385212"/>
                    </a:cubicBezTo>
                    <a:lnTo>
                      <a:pt x="61561" y="1385212"/>
                    </a:lnTo>
                    <a:cubicBezTo>
                      <a:pt x="27562" y="1385212"/>
                      <a:pt x="0" y="1357650"/>
                      <a:pt x="0" y="1323651"/>
                    </a:cubicBezTo>
                    <a:lnTo>
                      <a:pt x="0" y="61561"/>
                    </a:lnTo>
                    <a:cubicBezTo>
                      <a:pt x="0" y="27562"/>
                      <a:pt x="27562" y="0"/>
                      <a:pt x="61561" y="0"/>
                    </a:cubicBezTo>
                    <a:close/>
                  </a:path>
                </a:pathLst>
              </a:custGeom>
              <a:solidFill>
                <a:srgbClr val="000000">
                  <a:alpha val="0"/>
                </a:srgbClr>
              </a:solidFill>
              <a:ln w="19050" cap="rnd">
                <a:solidFill>
                  <a:srgbClr val="1B93B0"/>
                </a:solidFill>
                <a:prstDash val="solid"/>
                <a:round/>
              </a:ln>
            </p:spPr>
          </p:sp>
          <p:sp>
            <p:nvSpPr>
              <p:cNvPr name="TextBox 13" id="13"/>
              <p:cNvSpPr txBox="true"/>
              <p:nvPr/>
            </p:nvSpPr>
            <p:spPr>
              <a:xfrm>
                <a:off x="0" y="-38100"/>
                <a:ext cx="1385212" cy="1423312"/>
              </a:xfrm>
              <a:prstGeom prst="rect">
                <a:avLst/>
              </a:prstGeom>
            </p:spPr>
            <p:txBody>
              <a:bodyPr anchor="ctr" rtlCol="false" tIns="54256" lIns="54256" bIns="54256" rIns="54256"/>
              <a:lstStyle/>
              <a:p>
                <a:pPr algn="ctr">
                  <a:lnSpc>
                    <a:spcPts val="2660"/>
                  </a:lnSpc>
                </a:pPr>
              </a:p>
            </p:txBody>
          </p:sp>
        </p:grpSp>
        <p:sp>
          <p:nvSpPr>
            <p:cNvPr name="AutoShape 14" id="14"/>
            <p:cNvSpPr/>
            <p:nvPr/>
          </p:nvSpPr>
          <p:spPr>
            <a:xfrm>
              <a:off x="491720" y="7048586"/>
              <a:ext cx="7174449" cy="0"/>
            </a:xfrm>
            <a:prstGeom prst="line">
              <a:avLst/>
            </a:prstGeom>
            <a:ln cap="flat" w="21309">
              <a:solidFill>
                <a:srgbClr val="1B93B0"/>
              </a:solidFill>
              <a:prstDash val="solid"/>
              <a:headEnd type="none" len="sm" w="sm"/>
              <a:tailEnd type="none" len="sm" w="sm"/>
            </a:ln>
          </p:spPr>
        </p:sp>
        <p:sp>
          <p:nvSpPr>
            <p:cNvPr name="AutoShape 15" id="15"/>
            <p:cNvSpPr/>
            <p:nvPr/>
          </p:nvSpPr>
          <p:spPr>
            <a:xfrm>
              <a:off x="491720" y="1069879"/>
              <a:ext cx="7174449" cy="0"/>
            </a:xfrm>
            <a:prstGeom prst="line">
              <a:avLst/>
            </a:prstGeom>
            <a:ln cap="flat" w="21309">
              <a:solidFill>
                <a:srgbClr val="1B93B0"/>
              </a:solidFill>
              <a:prstDash val="solid"/>
              <a:headEnd type="none" len="sm" w="sm"/>
              <a:tailEnd type="none" len="sm" w="sm"/>
            </a:ln>
          </p:spPr>
        </p:sp>
        <p:sp>
          <p:nvSpPr>
            <p:cNvPr name="AutoShape 16" id="16"/>
            <p:cNvSpPr/>
            <p:nvPr/>
          </p:nvSpPr>
          <p:spPr>
            <a:xfrm flipV="true">
              <a:off x="4697870" y="477501"/>
              <a:ext cx="0" cy="7174449"/>
            </a:xfrm>
            <a:prstGeom prst="line">
              <a:avLst/>
            </a:prstGeom>
            <a:ln cap="flat" w="21309">
              <a:solidFill>
                <a:srgbClr val="1B93B0"/>
              </a:solidFill>
              <a:prstDash val="solid"/>
              <a:headEnd type="none" len="sm" w="sm"/>
              <a:tailEnd type="none" len="sm" w="sm"/>
            </a:ln>
          </p:spPr>
        </p:sp>
        <p:sp>
          <p:nvSpPr>
            <p:cNvPr name="AutoShape 17" id="17"/>
            <p:cNvSpPr/>
            <p:nvPr/>
          </p:nvSpPr>
          <p:spPr>
            <a:xfrm flipV="true">
              <a:off x="5289333" y="477501"/>
              <a:ext cx="0" cy="7174449"/>
            </a:xfrm>
            <a:prstGeom prst="line">
              <a:avLst/>
            </a:prstGeom>
            <a:ln cap="flat" w="21309">
              <a:solidFill>
                <a:srgbClr val="1B93B0"/>
              </a:solidFill>
              <a:prstDash val="solid"/>
              <a:headEnd type="none" len="sm" w="sm"/>
              <a:tailEnd type="none" len="sm" w="sm"/>
            </a:ln>
          </p:spPr>
        </p:sp>
        <p:sp>
          <p:nvSpPr>
            <p:cNvPr name="AutoShape 18" id="18"/>
            <p:cNvSpPr/>
            <p:nvPr/>
          </p:nvSpPr>
          <p:spPr>
            <a:xfrm flipV="true">
              <a:off x="5880796" y="477501"/>
              <a:ext cx="0" cy="7174449"/>
            </a:xfrm>
            <a:prstGeom prst="line">
              <a:avLst/>
            </a:prstGeom>
            <a:ln cap="flat" w="21309">
              <a:solidFill>
                <a:srgbClr val="1B93B0"/>
              </a:solidFill>
              <a:prstDash val="solid"/>
              <a:headEnd type="none" len="sm" w="sm"/>
              <a:tailEnd type="none" len="sm" w="sm"/>
            </a:ln>
          </p:spPr>
        </p:sp>
        <p:sp>
          <p:nvSpPr>
            <p:cNvPr name="AutoShape 19" id="19"/>
            <p:cNvSpPr/>
            <p:nvPr/>
          </p:nvSpPr>
          <p:spPr>
            <a:xfrm flipV="true">
              <a:off x="1685631" y="477501"/>
              <a:ext cx="0" cy="7174449"/>
            </a:xfrm>
            <a:prstGeom prst="line">
              <a:avLst/>
            </a:prstGeom>
            <a:ln cap="flat" w="21309">
              <a:solidFill>
                <a:srgbClr val="1B93B0"/>
              </a:solidFill>
              <a:prstDash val="solid"/>
              <a:headEnd type="none" len="sm" w="sm"/>
              <a:tailEnd type="none" len="sm" w="sm"/>
            </a:ln>
          </p:spPr>
        </p:sp>
        <p:sp>
          <p:nvSpPr>
            <p:cNvPr name="AutoShape 20" id="20"/>
            <p:cNvSpPr/>
            <p:nvPr/>
          </p:nvSpPr>
          <p:spPr>
            <a:xfrm flipV="true">
              <a:off x="2277093" y="477501"/>
              <a:ext cx="0" cy="7174449"/>
            </a:xfrm>
            <a:prstGeom prst="line">
              <a:avLst/>
            </a:prstGeom>
            <a:ln cap="flat" w="21309">
              <a:solidFill>
                <a:srgbClr val="1B93B0"/>
              </a:solidFill>
              <a:prstDash val="solid"/>
              <a:headEnd type="none" len="sm" w="sm"/>
              <a:tailEnd type="none" len="sm" w="sm"/>
            </a:ln>
          </p:spPr>
        </p:sp>
        <p:sp>
          <p:nvSpPr>
            <p:cNvPr name="AutoShape 21" id="21"/>
            <p:cNvSpPr/>
            <p:nvPr/>
          </p:nvSpPr>
          <p:spPr>
            <a:xfrm flipV="true">
              <a:off x="2868556" y="477501"/>
              <a:ext cx="0" cy="7174449"/>
            </a:xfrm>
            <a:prstGeom prst="line">
              <a:avLst/>
            </a:prstGeom>
            <a:ln cap="flat" w="21309">
              <a:solidFill>
                <a:srgbClr val="1B93B0"/>
              </a:solidFill>
              <a:prstDash val="solid"/>
              <a:headEnd type="none" len="sm" w="sm"/>
              <a:tailEnd type="none" len="sm" w="sm"/>
            </a:ln>
          </p:spPr>
        </p:sp>
        <p:sp>
          <p:nvSpPr>
            <p:cNvPr name="AutoShape 22" id="22"/>
            <p:cNvSpPr/>
            <p:nvPr/>
          </p:nvSpPr>
          <p:spPr>
            <a:xfrm flipV="true">
              <a:off x="3460019" y="477501"/>
              <a:ext cx="0" cy="7174449"/>
            </a:xfrm>
            <a:prstGeom prst="line">
              <a:avLst/>
            </a:prstGeom>
            <a:ln cap="flat" w="21309">
              <a:solidFill>
                <a:srgbClr val="1B93B0"/>
              </a:solidFill>
              <a:prstDash val="solid"/>
              <a:headEnd type="none" len="sm" w="sm"/>
              <a:tailEnd type="none" len="sm" w="sm"/>
            </a:ln>
          </p:spPr>
        </p:sp>
        <p:sp>
          <p:nvSpPr>
            <p:cNvPr name="AutoShape 23" id="23"/>
            <p:cNvSpPr/>
            <p:nvPr/>
          </p:nvSpPr>
          <p:spPr>
            <a:xfrm flipV="true">
              <a:off x="6472258" y="477501"/>
              <a:ext cx="0" cy="7174449"/>
            </a:xfrm>
            <a:prstGeom prst="line">
              <a:avLst/>
            </a:prstGeom>
            <a:ln cap="flat" w="21309">
              <a:solidFill>
                <a:srgbClr val="1B93B0"/>
              </a:solidFill>
              <a:prstDash val="solid"/>
              <a:headEnd type="none" len="sm" w="sm"/>
              <a:tailEnd type="none" len="sm" w="sm"/>
            </a:ln>
          </p:spPr>
        </p:sp>
        <p:sp>
          <p:nvSpPr>
            <p:cNvPr name="AutoShape 24" id="24"/>
            <p:cNvSpPr/>
            <p:nvPr/>
          </p:nvSpPr>
          <p:spPr>
            <a:xfrm flipV="true">
              <a:off x="7063721" y="477501"/>
              <a:ext cx="0" cy="7174449"/>
            </a:xfrm>
            <a:prstGeom prst="line">
              <a:avLst/>
            </a:prstGeom>
            <a:ln cap="flat" w="21309">
              <a:solidFill>
                <a:srgbClr val="1B93B0"/>
              </a:solidFill>
              <a:prstDash val="solid"/>
              <a:headEnd type="none" len="sm" w="sm"/>
              <a:tailEnd type="none" len="sm" w="sm"/>
            </a:ln>
          </p:spPr>
        </p:sp>
        <p:sp>
          <p:nvSpPr>
            <p:cNvPr name="AutoShape 25" id="25"/>
            <p:cNvSpPr/>
            <p:nvPr/>
          </p:nvSpPr>
          <p:spPr>
            <a:xfrm flipV="true">
              <a:off x="1094168" y="477501"/>
              <a:ext cx="0" cy="7174449"/>
            </a:xfrm>
            <a:prstGeom prst="line">
              <a:avLst/>
            </a:prstGeom>
            <a:ln cap="flat" w="21309">
              <a:solidFill>
                <a:srgbClr val="1B93B0"/>
              </a:solidFill>
              <a:prstDash val="solid"/>
              <a:headEnd type="none" len="sm" w="sm"/>
              <a:tailEnd type="none" len="sm" w="sm"/>
            </a:ln>
          </p:spPr>
        </p:sp>
        <p:sp>
          <p:nvSpPr>
            <p:cNvPr name="AutoShape 26" id="26"/>
            <p:cNvSpPr/>
            <p:nvPr/>
          </p:nvSpPr>
          <p:spPr>
            <a:xfrm flipV="true">
              <a:off x="4078944" y="0"/>
              <a:ext cx="0" cy="8129450"/>
            </a:xfrm>
            <a:prstGeom prst="line">
              <a:avLst/>
            </a:prstGeom>
            <a:ln cap="flat" w="74582">
              <a:solidFill>
                <a:srgbClr val="A3DFFF"/>
              </a:solidFill>
              <a:prstDash val="solid"/>
              <a:headEnd type="arrow" len="sm" w="med"/>
              <a:tailEnd type="arrow" len="sm" w="med"/>
            </a:ln>
          </p:spPr>
        </p:sp>
        <p:sp>
          <p:nvSpPr>
            <p:cNvPr name="AutoShape 27" id="27"/>
            <p:cNvSpPr/>
            <p:nvPr/>
          </p:nvSpPr>
          <p:spPr>
            <a:xfrm flipH="true">
              <a:off x="0" y="4059232"/>
              <a:ext cx="8157889" cy="0"/>
            </a:xfrm>
            <a:prstGeom prst="line">
              <a:avLst/>
            </a:prstGeom>
            <a:ln cap="flat" w="63928">
              <a:solidFill>
                <a:srgbClr val="A3DFFF"/>
              </a:solidFill>
              <a:prstDash val="solid"/>
              <a:headEnd type="arrow" len="sm" w="med"/>
              <a:tailEnd type="arrow" len="sm" w="med"/>
            </a:ln>
          </p:spPr>
        </p:sp>
      </p:grpSp>
      <p:sp>
        <p:nvSpPr>
          <p:cNvPr name="AutoShape 28" id="28"/>
          <p:cNvSpPr/>
          <p:nvPr/>
        </p:nvSpPr>
        <p:spPr>
          <a:xfrm>
            <a:off x="14460914" y="4131761"/>
            <a:ext cx="1780025" cy="3544012"/>
          </a:xfrm>
          <a:prstGeom prst="line">
            <a:avLst/>
          </a:prstGeom>
          <a:ln cap="flat" w="104775">
            <a:solidFill>
              <a:srgbClr val="FF9C00"/>
            </a:solidFill>
            <a:prstDash val="solid"/>
            <a:headEnd type="arrow" len="sm" w="med"/>
            <a:tailEnd type="arrow" len="sm" w="med"/>
          </a:ln>
        </p:spPr>
      </p:sp>
      <p:grpSp>
        <p:nvGrpSpPr>
          <p:cNvPr name="Group 29" id="29"/>
          <p:cNvGrpSpPr/>
          <p:nvPr/>
        </p:nvGrpSpPr>
        <p:grpSpPr>
          <a:xfrm rot="0">
            <a:off x="14717550" y="4781784"/>
            <a:ext cx="250042" cy="250042"/>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2094175" y="2156773"/>
            <a:ext cx="14099650" cy="987677"/>
          </a:xfrm>
          <a:prstGeom prst="rect">
            <a:avLst/>
          </a:prstGeom>
        </p:spPr>
        <p:txBody>
          <a:bodyPr anchor="t" rtlCol="false" tIns="0" lIns="0" bIns="0" rIns="0">
            <a:spAutoFit/>
          </a:bodyPr>
          <a:lstStyle/>
          <a:p>
            <a:pPr algn="ctr">
              <a:lnSpc>
                <a:spcPts val="7237"/>
              </a:lnSpc>
            </a:pPr>
            <a:r>
              <a:rPr lang="en-US" sz="7699">
                <a:solidFill>
                  <a:srgbClr val="FFFFFF"/>
                </a:solidFill>
                <a:latin typeface="Lovelo"/>
                <a:ea typeface="Lovelo"/>
                <a:cs typeface="Lovelo"/>
                <a:sym typeface="Lovelo"/>
              </a:rPr>
              <a:t>BASICS OF LINEAR ALGEBRA</a:t>
            </a:r>
          </a:p>
        </p:txBody>
      </p:sp>
      <p:sp>
        <p:nvSpPr>
          <p:cNvPr name="TextBox 33" id="33"/>
          <p:cNvSpPr txBox="true"/>
          <p:nvPr/>
        </p:nvSpPr>
        <p:spPr>
          <a:xfrm rot="0">
            <a:off x="15161247" y="4759817"/>
            <a:ext cx="919599" cy="354315"/>
          </a:xfrm>
          <a:prstGeom prst="rect">
            <a:avLst/>
          </a:prstGeom>
        </p:spPr>
        <p:txBody>
          <a:bodyPr anchor="t" rtlCol="false" tIns="0" lIns="0" bIns="0" rIns="0">
            <a:spAutoFit/>
          </a:bodyPr>
          <a:lstStyle/>
          <a:p>
            <a:pPr algn="l">
              <a:lnSpc>
                <a:spcPts val="2572"/>
              </a:lnSpc>
            </a:pPr>
            <a:r>
              <a:rPr lang="en-US" b="true" sz="2625">
                <a:solidFill>
                  <a:srgbClr val="FF9C00"/>
                </a:solidFill>
                <a:latin typeface="Poppins Bold"/>
                <a:ea typeface="Poppins Bold"/>
                <a:cs typeface="Poppins Bold"/>
                <a:sym typeface="Poppins Bold"/>
              </a:rPr>
              <a:t>(0,4)</a:t>
            </a:r>
          </a:p>
        </p:txBody>
      </p:sp>
      <p:sp>
        <p:nvSpPr>
          <p:cNvPr name="AutoShape 34" id="34"/>
          <p:cNvSpPr/>
          <p:nvPr/>
        </p:nvSpPr>
        <p:spPr>
          <a:xfrm>
            <a:off x="14842571" y="4917925"/>
            <a:ext cx="0" cy="929715"/>
          </a:xfrm>
          <a:prstGeom prst="line">
            <a:avLst/>
          </a:prstGeom>
          <a:ln cap="flat" w="28575">
            <a:solidFill>
              <a:srgbClr val="FF9C00"/>
            </a:solidFill>
            <a:prstDash val="sysDash"/>
            <a:headEnd type="none" len="sm" w="sm"/>
            <a:tailEnd type="arrow" len="sm" w="med"/>
          </a:ln>
        </p:spPr>
      </p:sp>
      <p:grpSp>
        <p:nvGrpSpPr>
          <p:cNvPr name="Group 35" id="35"/>
          <p:cNvGrpSpPr/>
          <p:nvPr/>
        </p:nvGrpSpPr>
        <p:grpSpPr>
          <a:xfrm rot="0">
            <a:off x="15177653" y="5684128"/>
            <a:ext cx="250042" cy="250042"/>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37" id="3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38" id="38"/>
          <p:cNvSpPr/>
          <p:nvPr/>
        </p:nvSpPr>
        <p:spPr>
          <a:xfrm>
            <a:off x="14808791" y="5809149"/>
            <a:ext cx="477476" cy="0"/>
          </a:xfrm>
          <a:prstGeom prst="line">
            <a:avLst/>
          </a:prstGeom>
          <a:ln cap="flat" w="28575">
            <a:solidFill>
              <a:srgbClr val="FF9C00"/>
            </a:solidFill>
            <a:prstDash val="sysDash"/>
            <a:headEnd type="none" len="sm" w="sm"/>
            <a:tailEnd type="arrow" len="sm" w="med"/>
          </a:ln>
        </p:spPr>
      </p:sp>
      <p:sp>
        <p:nvSpPr>
          <p:cNvPr name="AutoShape 39" id="39"/>
          <p:cNvSpPr/>
          <p:nvPr/>
        </p:nvSpPr>
        <p:spPr>
          <a:xfrm>
            <a:off x="15302674" y="5805656"/>
            <a:ext cx="0" cy="921934"/>
          </a:xfrm>
          <a:prstGeom prst="line">
            <a:avLst/>
          </a:prstGeom>
          <a:ln cap="flat" w="28575">
            <a:solidFill>
              <a:srgbClr val="FF9C00"/>
            </a:solidFill>
            <a:prstDash val="sysDash"/>
            <a:headEnd type="none" len="sm" w="sm"/>
            <a:tailEnd type="arrow" len="sm" w="med"/>
          </a:ln>
        </p:spPr>
      </p:sp>
      <p:grpSp>
        <p:nvGrpSpPr>
          <p:cNvPr name="Group 40" id="40"/>
          <p:cNvGrpSpPr/>
          <p:nvPr/>
        </p:nvGrpSpPr>
        <p:grpSpPr>
          <a:xfrm rot="0">
            <a:off x="15638723" y="6598690"/>
            <a:ext cx="250042" cy="250042"/>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2" id="4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43" id="43"/>
          <p:cNvSpPr/>
          <p:nvPr/>
        </p:nvSpPr>
        <p:spPr>
          <a:xfrm>
            <a:off x="15286268" y="6727590"/>
            <a:ext cx="477476" cy="0"/>
          </a:xfrm>
          <a:prstGeom prst="line">
            <a:avLst/>
          </a:prstGeom>
          <a:ln cap="flat" w="28575">
            <a:solidFill>
              <a:srgbClr val="FF9C00"/>
            </a:solidFill>
            <a:prstDash val="sysDash"/>
            <a:headEnd type="none" len="sm" w="sm"/>
            <a:tailEnd type="arrow" len="sm" w="med"/>
          </a:ln>
        </p:spPr>
      </p:sp>
      <p:sp>
        <p:nvSpPr>
          <p:cNvPr name="TextBox 44" id="44"/>
          <p:cNvSpPr txBox="true"/>
          <p:nvPr/>
        </p:nvSpPr>
        <p:spPr>
          <a:xfrm rot="0">
            <a:off x="15572098" y="5651042"/>
            <a:ext cx="988688" cy="354315"/>
          </a:xfrm>
          <a:prstGeom prst="rect">
            <a:avLst/>
          </a:prstGeom>
        </p:spPr>
        <p:txBody>
          <a:bodyPr anchor="t" rtlCol="false" tIns="0" lIns="0" bIns="0" rIns="0">
            <a:spAutoFit/>
          </a:bodyPr>
          <a:lstStyle/>
          <a:p>
            <a:pPr algn="l">
              <a:lnSpc>
                <a:spcPts val="2572"/>
              </a:lnSpc>
            </a:pPr>
            <a:r>
              <a:rPr lang="en-US" b="true" sz="2625">
                <a:solidFill>
                  <a:srgbClr val="FF9C00"/>
                </a:solidFill>
                <a:latin typeface="Poppins Bold"/>
                <a:ea typeface="Poppins Bold"/>
                <a:cs typeface="Poppins Bold"/>
                <a:sym typeface="Poppins Bold"/>
              </a:rPr>
              <a:t>(1,2)</a:t>
            </a:r>
          </a:p>
        </p:txBody>
      </p:sp>
      <p:sp>
        <p:nvSpPr>
          <p:cNvPr name="TextBox 45" id="45"/>
          <p:cNvSpPr txBox="true"/>
          <p:nvPr/>
        </p:nvSpPr>
        <p:spPr>
          <a:xfrm rot="0">
            <a:off x="16080846" y="6812640"/>
            <a:ext cx="1027527" cy="354315"/>
          </a:xfrm>
          <a:prstGeom prst="rect">
            <a:avLst/>
          </a:prstGeom>
        </p:spPr>
        <p:txBody>
          <a:bodyPr anchor="t" rtlCol="false" tIns="0" lIns="0" bIns="0" rIns="0">
            <a:spAutoFit/>
          </a:bodyPr>
          <a:lstStyle/>
          <a:p>
            <a:pPr algn="l">
              <a:lnSpc>
                <a:spcPts val="2572"/>
              </a:lnSpc>
            </a:pPr>
            <a:r>
              <a:rPr lang="en-US" b="true" sz="2625">
                <a:solidFill>
                  <a:srgbClr val="FF9C00"/>
                </a:solidFill>
                <a:latin typeface="Poppins Bold"/>
                <a:ea typeface="Poppins Bold"/>
                <a:cs typeface="Poppins Bold"/>
                <a:sym typeface="Poppins Bold"/>
              </a:rPr>
              <a:t>(2,0)</a:t>
            </a:r>
          </a:p>
        </p:txBody>
      </p:sp>
      <p:grpSp>
        <p:nvGrpSpPr>
          <p:cNvPr name="Group 46" id="46"/>
          <p:cNvGrpSpPr/>
          <p:nvPr/>
        </p:nvGrpSpPr>
        <p:grpSpPr>
          <a:xfrm rot="0">
            <a:off x="11916713" y="292637"/>
            <a:ext cx="6128190" cy="1018857"/>
            <a:chOff x="0" y="0"/>
            <a:chExt cx="8170920" cy="1358476"/>
          </a:xfrm>
        </p:grpSpPr>
        <p:grpSp>
          <p:nvGrpSpPr>
            <p:cNvPr name="Group 47" id="47"/>
            <p:cNvGrpSpPr/>
            <p:nvPr/>
          </p:nvGrpSpPr>
          <p:grpSpPr>
            <a:xfrm rot="0">
              <a:off x="0" y="0"/>
              <a:ext cx="8170920" cy="1358476"/>
              <a:chOff x="0" y="0"/>
              <a:chExt cx="825661" cy="137272"/>
            </a:xfrm>
          </p:grpSpPr>
          <p:sp>
            <p:nvSpPr>
              <p:cNvPr name="Freeform 48" id="48"/>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49" id="49"/>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50" id="50"/>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51" id="51"/>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52" id="52"/>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53" id="53"/>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54" id="54"/>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sp>
        <p:nvSpPr>
          <p:cNvPr name="TextBox 55" id="55"/>
          <p:cNvSpPr txBox="true"/>
          <p:nvPr/>
        </p:nvSpPr>
        <p:spPr>
          <a:xfrm rot="0">
            <a:off x="1028700" y="3631421"/>
            <a:ext cx="5329133" cy="417195"/>
          </a:xfrm>
          <a:prstGeom prst="rect">
            <a:avLst/>
          </a:prstGeom>
        </p:spPr>
        <p:txBody>
          <a:bodyPr anchor="t" rtlCol="false" tIns="0" lIns="0" bIns="0" rIns="0">
            <a:spAutoFit/>
          </a:bodyPr>
          <a:lstStyle/>
          <a:p>
            <a:pPr algn="l">
              <a:lnSpc>
                <a:spcPts val="2940"/>
              </a:lnSpc>
            </a:pPr>
            <a:r>
              <a:rPr lang="en-US" b="true" sz="3000">
                <a:solidFill>
                  <a:srgbClr val="FF9C00"/>
                </a:solidFill>
                <a:latin typeface="Poppins Bold"/>
                <a:ea typeface="Poppins Bold"/>
                <a:cs typeface="Poppins Bold"/>
                <a:sym typeface="Poppins Bold"/>
              </a:rPr>
              <a:t>What is Linear Algebra?</a:t>
            </a:r>
          </a:p>
        </p:txBody>
      </p:sp>
      <p:sp>
        <p:nvSpPr>
          <p:cNvPr name="TextBox 56" id="56"/>
          <p:cNvSpPr txBox="true"/>
          <p:nvPr/>
        </p:nvSpPr>
        <p:spPr>
          <a:xfrm rot="0">
            <a:off x="1028700" y="4460325"/>
            <a:ext cx="9583088" cy="3388995"/>
          </a:xfrm>
          <a:prstGeom prst="rect">
            <a:avLst/>
          </a:prstGeom>
        </p:spPr>
        <p:txBody>
          <a:bodyPr anchor="t" rtlCol="false" tIns="0" lIns="0" bIns="0" rIns="0">
            <a:spAutoFit/>
          </a:bodyPr>
          <a:lstStyle/>
          <a:p>
            <a:pPr algn="just">
              <a:lnSpc>
                <a:spcPts val="2940"/>
              </a:lnSpc>
            </a:pPr>
            <a:r>
              <a:rPr lang="en-US" sz="3000" b="true">
                <a:solidFill>
                  <a:srgbClr val="FFFFFF"/>
                </a:solidFill>
                <a:latin typeface="Poppins Bold"/>
                <a:ea typeface="Poppins Bold"/>
                <a:cs typeface="Poppins Bold"/>
                <a:sym typeface="Poppins Bold"/>
              </a:rPr>
              <a:t>T</a:t>
            </a:r>
            <a:r>
              <a:rPr lang="en-US" b="true" sz="3000">
                <a:solidFill>
                  <a:srgbClr val="FFFFFF"/>
                </a:solidFill>
                <a:latin typeface="Poppins Bold"/>
                <a:ea typeface="Poppins Bold"/>
                <a:cs typeface="Poppins Bold"/>
                <a:sym typeface="Poppins Bold"/>
              </a:rPr>
              <a:t>he study of vectors, matrices, and linear transformations between them.</a:t>
            </a:r>
          </a:p>
          <a:p>
            <a:pPr algn="l">
              <a:lnSpc>
                <a:spcPts val="2940"/>
              </a:lnSpc>
            </a:pPr>
          </a:p>
          <a:p>
            <a:pPr algn="l">
              <a:lnSpc>
                <a:spcPts val="2940"/>
              </a:lnSpc>
            </a:pPr>
            <a:r>
              <a:rPr lang="en-US" sz="3000" b="true">
                <a:solidFill>
                  <a:srgbClr val="FFFFFF"/>
                </a:solidFill>
                <a:latin typeface="Poppins Bold"/>
                <a:ea typeface="Poppins Bold"/>
                <a:cs typeface="Poppins Bold"/>
                <a:sym typeface="Poppins Bold"/>
              </a:rPr>
              <a:t>Foundation of many fields: data analysis, engineering, machine learning, physics.</a:t>
            </a:r>
          </a:p>
          <a:p>
            <a:pPr algn="l">
              <a:lnSpc>
                <a:spcPts val="2940"/>
              </a:lnSpc>
            </a:pPr>
          </a:p>
          <a:p>
            <a:pPr algn="l">
              <a:lnSpc>
                <a:spcPts val="2940"/>
              </a:lnSpc>
            </a:pPr>
            <a:r>
              <a:rPr lang="en-US" b="true" sz="3000">
                <a:solidFill>
                  <a:srgbClr val="FFFFFF"/>
                </a:solidFill>
                <a:latin typeface="Poppins Bold"/>
                <a:ea typeface="Poppins Bold"/>
                <a:cs typeface="Poppins Bold"/>
                <a:sym typeface="Poppins Bold"/>
              </a:rPr>
              <a:t>In numerical computation, linear algebra helps solve systems of equations and model transformations efficiently.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470358" y="2263020"/>
            <a:ext cx="8217307" cy="2523085"/>
            <a:chOff x="0" y="0"/>
            <a:chExt cx="841722" cy="258447"/>
          </a:xfrm>
        </p:grpSpPr>
        <p:sp>
          <p:nvSpPr>
            <p:cNvPr name="Freeform 12" id="12"/>
            <p:cNvSpPr/>
            <p:nvPr/>
          </p:nvSpPr>
          <p:spPr>
            <a:xfrm flipH="false" flipV="false" rot="0">
              <a:off x="0" y="0"/>
              <a:ext cx="841722" cy="258447"/>
            </a:xfrm>
            <a:custGeom>
              <a:avLst/>
              <a:gdLst/>
              <a:ahLst/>
              <a:cxnLst/>
              <a:rect r="r" b="b" t="t" l="l"/>
              <a:pathLst>
                <a:path h="258447" w="841722">
                  <a:moveTo>
                    <a:pt x="36744" y="0"/>
                  </a:moveTo>
                  <a:lnTo>
                    <a:pt x="804978" y="0"/>
                  </a:lnTo>
                  <a:cubicBezTo>
                    <a:pt x="825271" y="0"/>
                    <a:pt x="841722" y="16451"/>
                    <a:pt x="841722" y="36744"/>
                  </a:cubicBezTo>
                  <a:lnTo>
                    <a:pt x="841722" y="221703"/>
                  </a:lnTo>
                  <a:cubicBezTo>
                    <a:pt x="841722" y="231448"/>
                    <a:pt x="837850" y="240794"/>
                    <a:pt x="830960" y="247685"/>
                  </a:cubicBezTo>
                  <a:cubicBezTo>
                    <a:pt x="824069" y="254575"/>
                    <a:pt x="814723" y="258447"/>
                    <a:pt x="804978" y="258447"/>
                  </a:cubicBezTo>
                  <a:lnTo>
                    <a:pt x="36744" y="258447"/>
                  </a:lnTo>
                  <a:cubicBezTo>
                    <a:pt x="26999" y="258447"/>
                    <a:pt x="17653" y="254575"/>
                    <a:pt x="10762" y="247685"/>
                  </a:cubicBezTo>
                  <a:cubicBezTo>
                    <a:pt x="3871" y="240794"/>
                    <a:pt x="0" y="231448"/>
                    <a:pt x="0" y="221703"/>
                  </a:cubicBezTo>
                  <a:lnTo>
                    <a:pt x="0" y="36744"/>
                  </a:lnTo>
                  <a:cubicBezTo>
                    <a:pt x="0" y="26999"/>
                    <a:pt x="3871" y="17653"/>
                    <a:pt x="10762" y="10762"/>
                  </a:cubicBezTo>
                  <a:cubicBezTo>
                    <a:pt x="17653" y="3871"/>
                    <a:pt x="26999" y="0"/>
                    <a:pt x="36744" y="0"/>
                  </a:cubicBezTo>
                  <a:close/>
                </a:path>
              </a:pathLst>
            </a:custGeom>
            <a:solidFill>
              <a:srgbClr val="F8F3E6"/>
            </a:solidFill>
            <a:ln cap="rnd">
              <a:noFill/>
              <a:prstDash val="solid"/>
              <a:round/>
            </a:ln>
          </p:spPr>
        </p:sp>
        <p:sp>
          <p:nvSpPr>
            <p:cNvPr name="TextBox 13" id="13"/>
            <p:cNvSpPr txBox="true"/>
            <p:nvPr/>
          </p:nvSpPr>
          <p:spPr>
            <a:xfrm>
              <a:off x="0" y="-38100"/>
              <a:ext cx="841722" cy="296547"/>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4" id="14"/>
          <p:cNvGrpSpPr/>
          <p:nvPr/>
        </p:nvGrpSpPr>
        <p:grpSpPr>
          <a:xfrm rot="0">
            <a:off x="8875447" y="2263020"/>
            <a:ext cx="8942195" cy="2523085"/>
            <a:chOff x="0" y="0"/>
            <a:chExt cx="915974" cy="258447"/>
          </a:xfrm>
        </p:grpSpPr>
        <p:sp>
          <p:nvSpPr>
            <p:cNvPr name="Freeform 15" id="15"/>
            <p:cNvSpPr/>
            <p:nvPr/>
          </p:nvSpPr>
          <p:spPr>
            <a:xfrm flipH="false" flipV="false" rot="0">
              <a:off x="0" y="0"/>
              <a:ext cx="915974" cy="258447"/>
            </a:xfrm>
            <a:custGeom>
              <a:avLst/>
              <a:gdLst/>
              <a:ahLst/>
              <a:cxnLst/>
              <a:rect r="r" b="b" t="t" l="l"/>
              <a:pathLst>
                <a:path h="258447" w="915974">
                  <a:moveTo>
                    <a:pt x="33765" y="0"/>
                  </a:moveTo>
                  <a:lnTo>
                    <a:pt x="882209" y="0"/>
                  </a:lnTo>
                  <a:cubicBezTo>
                    <a:pt x="891164" y="0"/>
                    <a:pt x="899752" y="3557"/>
                    <a:pt x="906084" y="9890"/>
                  </a:cubicBezTo>
                  <a:cubicBezTo>
                    <a:pt x="912416" y="16222"/>
                    <a:pt x="915974" y="24810"/>
                    <a:pt x="915974" y="33765"/>
                  </a:cubicBezTo>
                  <a:lnTo>
                    <a:pt x="915974" y="224681"/>
                  </a:lnTo>
                  <a:cubicBezTo>
                    <a:pt x="915974" y="233637"/>
                    <a:pt x="912416" y="242225"/>
                    <a:pt x="906084" y="248557"/>
                  </a:cubicBezTo>
                  <a:cubicBezTo>
                    <a:pt x="899752" y="254889"/>
                    <a:pt x="891164" y="258447"/>
                    <a:pt x="882209" y="258447"/>
                  </a:cubicBezTo>
                  <a:lnTo>
                    <a:pt x="33765" y="258447"/>
                  </a:lnTo>
                  <a:cubicBezTo>
                    <a:pt x="24810" y="258447"/>
                    <a:pt x="16222" y="254889"/>
                    <a:pt x="9890" y="248557"/>
                  </a:cubicBezTo>
                  <a:cubicBezTo>
                    <a:pt x="3557" y="242225"/>
                    <a:pt x="0" y="233637"/>
                    <a:pt x="0" y="224681"/>
                  </a:cubicBezTo>
                  <a:lnTo>
                    <a:pt x="0" y="33765"/>
                  </a:lnTo>
                  <a:cubicBezTo>
                    <a:pt x="0" y="24810"/>
                    <a:pt x="3557" y="16222"/>
                    <a:pt x="9890" y="9890"/>
                  </a:cubicBezTo>
                  <a:cubicBezTo>
                    <a:pt x="16222" y="3557"/>
                    <a:pt x="24810" y="0"/>
                    <a:pt x="33765" y="0"/>
                  </a:cubicBezTo>
                  <a:close/>
                </a:path>
              </a:pathLst>
            </a:custGeom>
            <a:solidFill>
              <a:srgbClr val="F8F3E6"/>
            </a:solidFill>
            <a:ln cap="rnd">
              <a:noFill/>
              <a:prstDash val="solid"/>
              <a:round/>
            </a:ln>
          </p:spPr>
        </p:sp>
        <p:sp>
          <p:nvSpPr>
            <p:cNvPr name="TextBox 16" id="16"/>
            <p:cNvSpPr txBox="true"/>
            <p:nvPr/>
          </p:nvSpPr>
          <p:spPr>
            <a:xfrm>
              <a:off x="0" y="-38100"/>
              <a:ext cx="915974" cy="296547"/>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7" id="17"/>
          <p:cNvGrpSpPr/>
          <p:nvPr/>
        </p:nvGrpSpPr>
        <p:grpSpPr>
          <a:xfrm rot="0">
            <a:off x="2863612" y="4993668"/>
            <a:ext cx="12284570" cy="5074699"/>
            <a:chOff x="0" y="0"/>
            <a:chExt cx="1258343" cy="519815"/>
          </a:xfrm>
        </p:grpSpPr>
        <p:sp>
          <p:nvSpPr>
            <p:cNvPr name="Freeform 18" id="18"/>
            <p:cNvSpPr/>
            <p:nvPr/>
          </p:nvSpPr>
          <p:spPr>
            <a:xfrm flipH="false" flipV="false" rot="0">
              <a:off x="0" y="0"/>
              <a:ext cx="1258343" cy="519816"/>
            </a:xfrm>
            <a:custGeom>
              <a:avLst/>
              <a:gdLst/>
              <a:ahLst/>
              <a:cxnLst/>
              <a:rect r="r" b="b" t="t" l="l"/>
              <a:pathLst>
                <a:path h="519816" w="1258343">
                  <a:moveTo>
                    <a:pt x="24578" y="0"/>
                  </a:moveTo>
                  <a:lnTo>
                    <a:pt x="1233764" y="0"/>
                  </a:lnTo>
                  <a:cubicBezTo>
                    <a:pt x="1240283" y="0"/>
                    <a:pt x="1246534" y="2590"/>
                    <a:pt x="1251144" y="7199"/>
                  </a:cubicBezTo>
                  <a:cubicBezTo>
                    <a:pt x="1255753" y="11808"/>
                    <a:pt x="1258343" y="18060"/>
                    <a:pt x="1258343" y="24578"/>
                  </a:cubicBezTo>
                  <a:lnTo>
                    <a:pt x="1258343" y="495237"/>
                  </a:lnTo>
                  <a:cubicBezTo>
                    <a:pt x="1258343" y="508811"/>
                    <a:pt x="1247338" y="519816"/>
                    <a:pt x="1233764" y="519816"/>
                  </a:cubicBezTo>
                  <a:lnTo>
                    <a:pt x="24578" y="519816"/>
                  </a:lnTo>
                  <a:cubicBezTo>
                    <a:pt x="11004" y="519816"/>
                    <a:pt x="0" y="508811"/>
                    <a:pt x="0" y="495237"/>
                  </a:cubicBezTo>
                  <a:lnTo>
                    <a:pt x="0" y="24578"/>
                  </a:lnTo>
                  <a:cubicBezTo>
                    <a:pt x="0" y="11004"/>
                    <a:pt x="11004" y="0"/>
                    <a:pt x="24578" y="0"/>
                  </a:cubicBezTo>
                  <a:close/>
                </a:path>
              </a:pathLst>
            </a:custGeom>
            <a:solidFill>
              <a:srgbClr val="F8F3E6"/>
            </a:solidFill>
            <a:ln cap="rnd">
              <a:noFill/>
              <a:prstDash val="solid"/>
              <a:round/>
            </a:ln>
          </p:spPr>
        </p:sp>
        <p:sp>
          <p:nvSpPr>
            <p:cNvPr name="TextBox 19" id="19"/>
            <p:cNvSpPr txBox="true"/>
            <p:nvPr/>
          </p:nvSpPr>
          <p:spPr>
            <a:xfrm>
              <a:off x="0" y="-38100"/>
              <a:ext cx="1258343" cy="557915"/>
            </a:xfrm>
            <a:prstGeom prst="rect">
              <a:avLst/>
            </a:prstGeom>
          </p:spPr>
          <p:txBody>
            <a:bodyPr anchor="ctr" rtlCol="false" tIns="50800" lIns="50800" bIns="50800" rIns="50800"/>
            <a:lstStyle/>
            <a:p>
              <a:pPr algn="ctr" marL="0" indent="0" lvl="0">
                <a:lnSpc>
                  <a:spcPts val="3359"/>
                </a:lnSpc>
                <a:spcBef>
                  <a:spcPct val="0"/>
                </a:spcBef>
              </a:pPr>
            </a:p>
          </p:txBody>
        </p:sp>
      </p:grpSp>
      <p:graphicFrame>
        <p:nvGraphicFramePr>
          <p:cNvPr name="Object 20" id="20"/>
          <p:cNvGraphicFramePr/>
          <p:nvPr/>
        </p:nvGraphicFramePr>
        <p:xfrm>
          <a:off x="3630934" y="5665838"/>
          <a:ext cx="5657850" cy="3771900"/>
        </p:xfrm>
        <a:graphic>
          <a:graphicData uri="http://schemas.openxmlformats.org/presentationml/2006/ole">
            <p:oleObj imgW="6781800" imgH="49022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TextBox 21" id="21"/>
          <p:cNvSpPr txBox="true"/>
          <p:nvPr/>
        </p:nvSpPr>
        <p:spPr>
          <a:xfrm rot="0">
            <a:off x="475774" y="1464994"/>
            <a:ext cx="1733608"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Sets</a:t>
            </a:r>
          </a:p>
        </p:txBody>
      </p:sp>
      <p:sp>
        <p:nvSpPr>
          <p:cNvPr name="TextBox 22" id="22"/>
          <p:cNvSpPr txBox="true"/>
          <p:nvPr/>
        </p:nvSpPr>
        <p:spPr>
          <a:xfrm rot="0">
            <a:off x="707656" y="2486147"/>
            <a:ext cx="7742711" cy="210540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D</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fini</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ion:</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A s</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i</a:t>
            </a:r>
            <a:r>
              <a:rPr lang="en-US" b="true" sz="2400" strike="noStrike" u="none">
                <a:solidFill>
                  <a:srgbClr val="042560"/>
                </a:solidFill>
                <a:latin typeface="Poppins Bold"/>
                <a:ea typeface="Poppins Bold"/>
                <a:cs typeface="Poppins Bold"/>
                <a:sym typeface="Poppins Bold"/>
              </a:rPr>
              <a:t>s</a:t>
            </a:r>
            <a:r>
              <a:rPr lang="en-US" b="true" sz="2400" strike="noStrike" u="none">
                <a:solidFill>
                  <a:srgbClr val="042560"/>
                </a:solidFill>
                <a:latin typeface="Poppins Bold"/>
                <a:ea typeface="Poppins Bold"/>
                <a:cs typeface="Poppins Bold"/>
                <a:sym typeface="Poppins Bold"/>
              </a:rPr>
              <a:t> a c</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ll</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c</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i</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n</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f</a:t>
            </a:r>
            <a:r>
              <a:rPr lang="en-US" b="true" sz="2400" strike="noStrike" u="none">
                <a:solidFill>
                  <a:srgbClr val="042560"/>
                </a:solidFill>
                <a:latin typeface="Poppins Bold"/>
                <a:ea typeface="Poppins Bold"/>
                <a:cs typeface="Poppins Bold"/>
                <a:sym typeface="Poppins Bold"/>
              </a:rPr>
              <a:t> dist</a:t>
            </a:r>
            <a:r>
              <a:rPr lang="en-US" b="true" sz="2400" strike="noStrike" u="none">
                <a:solidFill>
                  <a:srgbClr val="042560"/>
                </a:solidFill>
                <a:latin typeface="Poppins Bold"/>
                <a:ea typeface="Poppins Bold"/>
                <a:cs typeface="Poppins Bold"/>
                <a:sym typeface="Poppins Bold"/>
              </a:rPr>
              <a:t>in</a:t>
            </a:r>
            <a:r>
              <a:rPr lang="en-US" b="true" sz="2400" strike="noStrike" u="none">
                <a:solidFill>
                  <a:srgbClr val="042560"/>
                </a:solidFill>
                <a:latin typeface="Poppins Bold"/>
                <a:ea typeface="Poppins Bold"/>
                <a:cs typeface="Poppins Bold"/>
                <a:sym typeface="Poppins Bold"/>
              </a:rPr>
              <a:t>c</a:t>
            </a:r>
            <a:r>
              <a:rPr lang="en-US" b="true" sz="2400" strike="noStrike" u="none">
                <a:solidFill>
                  <a:srgbClr val="042560"/>
                </a:solidFill>
                <a:latin typeface="Poppins Bold"/>
                <a:ea typeface="Poppins Bold"/>
                <a:cs typeface="Poppins Bold"/>
                <a:sym typeface="Poppins Bold"/>
              </a:rPr>
              <a:t>t </a:t>
            </a:r>
            <a:r>
              <a:rPr lang="en-US" b="true" sz="2400" strike="noStrike" u="none">
                <a:solidFill>
                  <a:srgbClr val="042560"/>
                </a:solidFill>
                <a:latin typeface="Poppins Bold"/>
                <a:ea typeface="Poppins Bold"/>
                <a:cs typeface="Poppins Bold"/>
                <a:sym typeface="Poppins Bold"/>
              </a:rPr>
              <a:t>obj</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c</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s</a:t>
            </a:r>
            <a:r>
              <a:rPr lang="en-US" b="true" sz="2400" strike="noStrike" u="none">
                <a:solidFill>
                  <a:srgbClr val="042560"/>
                </a:solidFill>
                <a:latin typeface="Poppins Bold"/>
                <a:ea typeface="Poppins Bold"/>
                <a:cs typeface="Poppins Bold"/>
                <a:sym typeface="Poppins Bold"/>
              </a:rPr>
              <a:t> w</a:t>
            </a:r>
            <a:r>
              <a:rPr lang="en-US" b="true" sz="2400" strike="noStrike" u="none">
                <a:solidFill>
                  <a:srgbClr val="042560"/>
                </a:solidFill>
                <a:latin typeface="Poppins Bold"/>
                <a:ea typeface="Poppins Bold"/>
                <a:cs typeface="Poppins Bold"/>
                <a:sym typeface="Poppins Bold"/>
              </a:rPr>
              <a:t>ri</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n in b</a:t>
            </a:r>
            <a:r>
              <a:rPr lang="en-US" b="true" sz="2400" strike="noStrike" u="none">
                <a:solidFill>
                  <a:srgbClr val="042560"/>
                </a:solidFill>
                <a:latin typeface="Poppins Bold"/>
                <a:ea typeface="Poppins Bold"/>
                <a:cs typeface="Poppins Bold"/>
                <a:sym typeface="Poppins Bold"/>
              </a:rPr>
              <a:t>r</a:t>
            </a:r>
            <a:r>
              <a:rPr lang="en-US" b="true" sz="2400" strike="noStrike" u="none">
                <a:solidFill>
                  <a:srgbClr val="042560"/>
                </a:solidFill>
                <a:latin typeface="Poppins Bold"/>
                <a:ea typeface="Poppins Bold"/>
                <a:cs typeface="Poppins Bold"/>
                <a:sym typeface="Poppins Bold"/>
              </a:rPr>
              <a:t>aces</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a:t>
            </a: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Exam</a:t>
            </a:r>
            <a:r>
              <a:rPr lang="en-US" b="true" sz="2400" strike="noStrike" u="none">
                <a:solidFill>
                  <a:srgbClr val="042560"/>
                </a:solidFill>
                <a:latin typeface="Poppins Bold"/>
                <a:ea typeface="Poppins Bold"/>
                <a:cs typeface="Poppins Bold"/>
                <a:sym typeface="Poppins Bold"/>
              </a:rPr>
              <a:t>p</a:t>
            </a:r>
            <a:r>
              <a:rPr lang="en-US" b="true" sz="2400" strike="noStrike" u="none">
                <a:solidFill>
                  <a:srgbClr val="042560"/>
                </a:solidFill>
                <a:latin typeface="Poppins Bold"/>
                <a:ea typeface="Poppins Bold"/>
                <a:cs typeface="Poppins Bold"/>
                <a:sym typeface="Poppins Bold"/>
              </a:rPr>
              <a:t>le: S = {</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ra</a:t>
            </a:r>
            <a:r>
              <a:rPr lang="en-US" b="true" sz="2400" strike="noStrike" u="none">
                <a:solidFill>
                  <a:srgbClr val="042560"/>
                </a:solidFill>
                <a:latin typeface="Poppins Bold"/>
                <a:ea typeface="Poppins Bold"/>
                <a:cs typeface="Poppins Bold"/>
                <a:sym typeface="Poppins Bold"/>
              </a:rPr>
              <a:t>n</a:t>
            </a:r>
            <a:r>
              <a:rPr lang="en-US" b="true" sz="2400" strike="noStrike" u="none">
                <a:solidFill>
                  <a:srgbClr val="042560"/>
                </a:solidFill>
                <a:latin typeface="Poppins Bold"/>
                <a:ea typeface="Poppins Bold"/>
                <a:cs typeface="Poppins Bold"/>
                <a:sym typeface="Poppins Bold"/>
              </a:rPr>
              <a:t>ge, apple, banana}</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The emp</a:t>
            </a:r>
            <a:r>
              <a:rPr lang="en-US" b="true" sz="2400" strike="noStrike" u="none">
                <a:solidFill>
                  <a:srgbClr val="042560"/>
                </a:solidFill>
                <a:latin typeface="Poppins Bold"/>
                <a:ea typeface="Poppins Bold"/>
                <a:cs typeface="Poppins Bold"/>
                <a:sym typeface="Poppins Bold"/>
              </a:rPr>
              <a:t>t</a:t>
            </a:r>
            <a:r>
              <a:rPr lang="en-US" b="true" sz="2400" strike="noStrike" u="none">
                <a:solidFill>
                  <a:srgbClr val="042560"/>
                </a:solidFill>
                <a:latin typeface="Poppins Bold"/>
                <a:ea typeface="Poppins Bold"/>
                <a:cs typeface="Poppins Bold"/>
                <a:sym typeface="Poppins Bold"/>
              </a:rPr>
              <a:t>y </a:t>
            </a:r>
            <a:r>
              <a:rPr lang="en-US" b="true" sz="2400" strike="noStrike" u="none">
                <a:solidFill>
                  <a:srgbClr val="042560"/>
                </a:solidFill>
                <a:latin typeface="Poppins Bold"/>
                <a:ea typeface="Poppins Bold"/>
                <a:cs typeface="Poppins Bold"/>
                <a:sym typeface="Poppins Bold"/>
              </a:rPr>
              <a:t>s</a:t>
            </a:r>
            <a:r>
              <a:rPr lang="en-US" b="true" sz="2400" strike="noStrike" u="none">
                <a:solidFill>
                  <a:srgbClr val="042560"/>
                </a:solidFill>
                <a:latin typeface="Poppins Bold"/>
                <a:ea typeface="Poppins Bold"/>
                <a:cs typeface="Poppins Bold"/>
                <a:sym typeface="Poppins Bold"/>
              </a:rPr>
              <a:t>et: {} or ∅</a:t>
            </a:r>
            <a:r>
              <a:rPr lang="en-US" b="true" sz="2400" strike="noStrike" u="none">
                <a:solidFill>
                  <a:srgbClr val="042560"/>
                </a:solidFill>
                <a:latin typeface="Poppins Bold"/>
                <a:ea typeface="Poppins Bold"/>
                <a:cs typeface="Poppins Bold"/>
                <a:sym typeface="Poppins Bold"/>
              </a:rPr>
              <a:t>.</a:t>
            </a:r>
          </a:p>
        </p:txBody>
      </p:sp>
      <p:sp>
        <p:nvSpPr>
          <p:cNvPr name="TextBox 23" id="23"/>
          <p:cNvSpPr txBox="true"/>
          <p:nvPr/>
        </p:nvSpPr>
        <p:spPr>
          <a:xfrm rot="0">
            <a:off x="9128981" y="2486147"/>
            <a:ext cx="8435126" cy="210540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Op</a:t>
            </a:r>
            <a:r>
              <a:rPr lang="en-US" b="true" sz="2400" strike="noStrike" u="none">
                <a:solidFill>
                  <a:srgbClr val="042560"/>
                </a:solidFill>
                <a:latin typeface="Poppins Bold"/>
                <a:ea typeface="Poppins Bold"/>
                <a:cs typeface="Poppins Bold"/>
                <a:sym typeface="Poppins Bold"/>
              </a:rPr>
              <a:t>eration</a:t>
            </a:r>
            <a:r>
              <a:rPr lang="en-US" b="true" sz="2400" strike="noStrike" u="none">
                <a:solidFill>
                  <a:srgbClr val="042560"/>
                </a:solidFill>
                <a:latin typeface="Poppins Bold"/>
                <a:ea typeface="Poppins Bold"/>
                <a:cs typeface="Poppins Bold"/>
                <a:sym typeface="Poppins Bold"/>
              </a:rPr>
              <a:t>s</a:t>
            </a:r>
            <a:r>
              <a:rPr lang="en-US" b="true" sz="2400" strike="noStrike" u="none">
                <a:solidFill>
                  <a:srgbClr val="042560"/>
                </a:solidFill>
                <a:latin typeface="Poppins Bold"/>
                <a:ea typeface="Poppins Bold"/>
                <a:cs typeface="Poppins Bold"/>
                <a:sym typeface="Poppins Bold"/>
              </a:rPr>
              <a:t>:</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Union: </a:t>
            </a:r>
            <a:r>
              <a:rPr lang="en-US" b="true" sz="2400" strike="noStrike" u="none">
                <a:solidFill>
                  <a:srgbClr val="042560"/>
                </a:solidFill>
                <a:latin typeface="Poppins Bold"/>
                <a:ea typeface="Poppins Bold"/>
                <a:cs typeface="Poppins Bold"/>
                <a:sym typeface="Poppins Bold"/>
              </a:rPr>
              <a:t>A </a:t>
            </a:r>
            <a:r>
              <a:rPr lang="en-US" b="true" sz="2400" strike="noStrike" u="none">
                <a:solidFill>
                  <a:srgbClr val="042560"/>
                </a:solidFill>
                <a:latin typeface="Poppins Bold"/>
                <a:ea typeface="Poppins Bold"/>
                <a:cs typeface="Poppins Bold"/>
                <a:sym typeface="Poppins Bold"/>
              </a:rPr>
              <a:t>∪</a:t>
            </a:r>
            <a:r>
              <a:rPr lang="en-US" b="true" sz="2400" strike="noStrike" u="none">
                <a:solidFill>
                  <a:srgbClr val="042560"/>
                </a:solidFill>
                <a:latin typeface="Poppins Bold"/>
                <a:ea typeface="Poppins Bold"/>
                <a:cs typeface="Poppins Bold"/>
                <a:sym typeface="Poppins Bold"/>
              </a:rPr>
              <a:t> B </a:t>
            </a:r>
            <a:r>
              <a:rPr lang="en-US" b="true" sz="2400" strike="noStrike" u="none">
                <a:solidFill>
                  <a:srgbClr val="042560"/>
                </a:solidFill>
                <a:latin typeface="Poppins Bold"/>
                <a:ea typeface="Poppins Bold"/>
                <a:cs typeface="Poppins Bold"/>
                <a:sym typeface="Poppins Bold"/>
              </a:rPr>
              <a:t>→</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lements in either </a:t>
            </a:r>
            <a:r>
              <a:rPr lang="en-US" b="true" sz="2400" strike="noStrike" u="none">
                <a:solidFill>
                  <a:srgbClr val="042560"/>
                </a:solidFill>
                <a:latin typeface="Poppins Bold"/>
                <a:ea typeface="Poppins Bold"/>
                <a:cs typeface="Poppins Bold"/>
                <a:sym typeface="Poppins Bold"/>
              </a:rPr>
              <a:t>A</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r B.</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Int</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rsection</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A</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B → </a:t>
            </a:r>
            <a:r>
              <a:rPr lang="en-US" b="true" sz="2400" strike="noStrike" u="none">
                <a:solidFill>
                  <a:srgbClr val="042560"/>
                </a:solidFill>
                <a:latin typeface="Poppins Bold"/>
                <a:ea typeface="Poppins Bold"/>
                <a:cs typeface="Poppins Bold"/>
                <a:sym typeface="Poppins Bold"/>
              </a:rPr>
              <a:t>ele</a:t>
            </a:r>
            <a:r>
              <a:rPr lang="en-US" b="true" sz="2400" strike="noStrike" u="none">
                <a:solidFill>
                  <a:srgbClr val="042560"/>
                </a:solidFill>
                <a:latin typeface="Poppins Bold"/>
                <a:ea typeface="Poppins Bold"/>
                <a:cs typeface="Poppins Bold"/>
                <a:sym typeface="Poppins Bold"/>
              </a:rPr>
              <a:t>ments</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commo</a:t>
            </a:r>
            <a:r>
              <a:rPr lang="en-US" b="true" sz="2400" strike="noStrike" u="none">
                <a:solidFill>
                  <a:srgbClr val="042560"/>
                </a:solidFill>
                <a:latin typeface="Poppins Bold"/>
                <a:ea typeface="Poppins Bold"/>
                <a:cs typeface="Poppins Bold"/>
                <a:sym typeface="Poppins Bold"/>
              </a:rPr>
              <a:t>n</a:t>
            </a:r>
            <a:r>
              <a:rPr lang="en-US" b="true" sz="2400" strike="noStrike" u="none">
                <a:solidFill>
                  <a:srgbClr val="042560"/>
                </a:solidFill>
                <a:latin typeface="Poppins Bold"/>
                <a:ea typeface="Poppins Bold"/>
                <a:cs typeface="Poppins Bold"/>
                <a:sym typeface="Poppins Bold"/>
              </a:rPr>
              <a:t> to A </a:t>
            </a:r>
            <a:r>
              <a:rPr lang="en-US" b="true" sz="2400" strike="noStrike" u="none">
                <a:solidFill>
                  <a:srgbClr val="042560"/>
                </a:solidFill>
                <a:latin typeface="Poppins Bold"/>
                <a:ea typeface="Poppins Bold"/>
                <a:cs typeface="Poppins Bold"/>
                <a:sym typeface="Poppins Bold"/>
              </a:rPr>
              <a:t>an</a:t>
            </a:r>
            <a:r>
              <a:rPr lang="en-US" b="true" sz="2400" strike="noStrike" u="none">
                <a:solidFill>
                  <a:srgbClr val="042560"/>
                </a:solidFill>
                <a:latin typeface="Poppins Bold"/>
                <a:ea typeface="Poppins Bold"/>
                <a:cs typeface="Poppins Bold"/>
                <a:sym typeface="Poppins Bold"/>
              </a:rPr>
              <a:t>d B.</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Set differenc</a:t>
            </a:r>
            <a:r>
              <a:rPr lang="en-US" b="true" sz="2400" strike="noStrike" u="none">
                <a:solidFill>
                  <a:srgbClr val="042560"/>
                </a:solidFill>
                <a:latin typeface="Poppins Bold"/>
                <a:ea typeface="Poppins Bold"/>
                <a:cs typeface="Poppins Bold"/>
                <a:sym typeface="Poppins Bold"/>
              </a:rPr>
              <a:t>e</a:t>
            </a:r>
            <a:r>
              <a:rPr lang="en-US" b="true" sz="2400" strike="noStrike" u="none">
                <a:solidFill>
                  <a:srgbClr val="042560"/>
                </a:solidFill>
                <a:latin typeface="Poppins Bold"/>
                <a:ea typeface="Poppins Bold"/>
                <a:cs typeface="Poppins Bold"/>
                <a:sym typeface="Poppins Bold"/>
              </a:rPr>
              <a:t>:</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A \ B → el</a:t>
            </a:r>
            <a:r>
              <a:rPr lang="en-US" b="true" sz="2400" strike="noStrike" u="none">
                <a:solidFill>
                  <a:srgbClr val="042560"/>
                </a:solidFill>
                <a:latin typeface="Poppins Bold"/>
                <a:ea typeface="Poppins Bold"/>
                <a:cs typeface="Poppins Bold"/>
                <a:sym typeface="Poppins Bold"/>
              </a:rPr>
              <a:t>em</a:t>
            </a:r>
            <a:r>
              <a:rPr lang="en-US" b="true" sz="2400" strike="noStrike" u="none">
                <a:solidFill>
                  <a:srgbClr val="042560"/>
                </a:solidFill>
                <a:latin typeface="Poppins Bold"/>
                <a:ea typeface="Poppins Bold"/>
                <a:cs typeface="Poppins Bold"/>
                <a:sym typeface="Poppins Bold"/>
              </a:rPr>
              <a:t>en</a:t>
            </a:r>
            <a:r>
              <a:rPr lang="en-US" b="true" sz="2400" strike="noStrike" u="none">
                <a:solidFill>
                  <a:srgbClr val="042560"/>
                </a:solidFill>
                <a:latin typeface="Poppins Bold"/>
                <a:ea typeface="Poppins Bold"/>
                <a:cs typeface="Poppins Bold"/>
                <a:sym typeface="Poppins Bold"/>
              </a:rPr>
              <a:t>ts </a:t>
            </a:r>
            <a:r>
              <a:rPr lang="en-US" b="true" sz="2400" strike="noStrike" u="none">
                <a:solidFill>
                  <a:srgbClr val="042560"/>
                </a:solidFill>
                <a:latin typeface="Poppins Bold"/>
                <a:ea typeface="Poppins Bold"/>
                <a:cs typeface="Poppins Bold"/>
                <a:sym typeface="Poppins Bold"/>
              </a:rPr>
              <a:t>in A</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n</a:t>
            </a:r>
            <a:r>
              <a:rPr lang="en-US" b="true" sz="2400" strike="noStrike" u="none">
                <a:solidFill>
                  <a:srgbClr val="042560"/>
                </a:solidFill>
                <a:latin typeface="Poppins Bold"/>
                <a:ea typeface="Poppins Bold"/>
                <a:cs typeface="Poppins Bold"/>
                <a:sym typeface="Poppins Bold"/>
              </a:rPr>
              <a:t>o</a:t>
            </a:r>
            <a:r>
              <a:rPr lang="en-US" b="true" sz="2400" strike="noStrike" u="none">
                <a:solidFill>
                  <a:srgbClr val="042560"/>
                </a:solidFill>
                <a:latin typeface="Poppins Bold"/>
                <a:ea typeface="Poppins Bold"/>
                <a:cs typeface="Poppins Bold"/>
                <a:sym typeface="Poppins Bold"/>
              </a:rPr>
              <a:t>t in</a:t>
            </a:r>
            <a:r>
              <a:rPr lang="en-US" b="true" sz="2400" strike="noStrike" u="none">
                <a:solidFill>
                  <a:srgbClr val="042560"/>
                </a:solidFill>
                <a:latin typeface="Poppins Bold"/>
                <a:ea typeface="Poppins Bold"/>
                <a:cs typeface="Poppins Bold"/>
                <a:sym typeface="Poppins Bold"/>
              </a:rPr>
              <a:t> </a:t>
            </a:r>
            <a:r>
              <a:rPr lang="en-US" b="true" sz="2400" strike="noStrike" u="none">
                <a:solidFill>
                  <a:srgbClr val="042560"/>
                </a:solidFill>
                <a:latin typeface="Poppins Bold"/>
                <a:ea typeface="Poppins Bold"/>
                <a:cs typeface="Poppins Bold"/>
                <a:sym typeface="Poppins Bold"/>
              </a:rPr>
              <a:t>B</a:t>
            </a:r>
            <a:r>
              <a:rPr lang="en-US" b="true" sz="2400" strike="noStrike" u="none">
                <a:solidFill>
                  <a:srgbClr val="042560"/>
                </a:solidFill>
                <a:latin typeface="Poppins Bold"/>
                <a:ea typeface="Poppins Bold"/>
                <a:cs typeface="Poppins Bold"/>
                <a:sym typeface="Poppins Bold"/>
              </a:rPr>
              <a:t>.</a:t>
            </a:r>
          </a:p>
        </p:txBody>
      </p:sp>
      <p:sp>
        <p:nvSpPr>
          <p:cNvPr name="TextBox 24" id="24"/>
          <p:cNvSpPr txBox="true"/>
          <p:nvPr/>
        </p:nvSpPr>
        <p:spPr>
          <a:xfrm rot="0">
            <a:off x="3088260" y="5117493"/>
            <a:ext cx="4136469" cy="424815"/>
          </a:xfrm>
          <a:prstGeom prst="rect">
            <a:avLst/>
          </a:prstGeom>
        </p:spPr>
        <p:txBody>
          <a:bodyPr anchor="t" rtlCol="false" tIns="0" lIns="0" bIns="0" rIns="0">
            <a:spAutoFit/>
          </a:bodyPr>
          <a:lstStyle/>
          <a:p>
            <a:pPr algn="ctr">
              <a:lnSpc>
                <a:spcPts val="3359"/>
              </a:lnSpc>
              <a:spcBef>
                <a:spcPct val="0"/>
              </a:spcBef>
            </a:pPr>
            <a:r>
              <a:rPr lang="en-US" b="true" sz="2400">
                <a:solidFill>
                  <a:srgbClr val="042560"/>
                </a:solidFill>
                <a:latin typeface="Poppins Bold"/>
                <a:ea typeface="Poppins Bold"/>
                <a:cs typeface="Poppins Bold"/>
                <a:sym typeface="Poppins Bold"/>
              </a:rPr>
              <a:t>Common s</a:t>
            </a:r>
            <a:r>
              <a:rPr lang="en-US" b="true" sz="2400">
                <a:solidFill>
                  <a:srgbClr val="042560"/>
                </a:solidFill>
                <a:latin typeface="Poppins Bold"/>
                <a:ea typeface="Poppins Bold"/>
                <a:cs typeface="Poppins Bold"/>
                <a:sym typeface="Poppins Bold"/>
              </a:rPr>
              <a:t>ets of numbers:</a:t>
            </a:r>
          </a:p>
        </p:txBody>
      </p:sp>
      <p:grpSp>
        <p:nvGrpSpPr>
          <p:cNvPr name="Group 25" id="25"/>
          <p:cNvGrpSpPr/>
          <p:nvPr/>
        </p:nvGrpSpPr>
        <p:grpSpPr>
          <a:xfrm rot="0">
            <a:off x="282710" y="292637"/>
            <a:ext cx="7163153" cy="1018857"/>
            <a:chOff x="0" y="0"/>
            <a:chExt cx="9550871" cy="1358476"/>
          </a:xfrm>
        </p:grpSpPr>
        <p:grpSp>
          <p:nvGrpSpPr>
            <p:cNvPr name="Group 26" id="26"/>
            <p:cNvGrpSpPr/>
            <p:nvPr/>
          </p:nvGrpSpPr>
          <p:grpSpPr>
            <a:xfrm rot="0">
              <a:off x="0" y="0"/>
              <a:ext cx="9550871" cy="1358476"/>
              <a:chOff x="0" y="0"/>
              <a:chExt cx="965104" cy="137272"/>
            </a:xfrm>
          </p:grpSpPr>
          <p:sp>
            <p:nvSpPr>
              <p:cNvPr name="Freeform 27" id="27"/>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28" id="28"/>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29" id="29"/>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BASICS OF LINEAR ALGEBRA</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BASICS OF LINEAR ALGEBRA</a:t>
              </a:r>
            </a:p>
          </p:txBody>
        </p:sp>
      </p:grpSp>
      <p:grpSp>
        <p:nvGrpSpPr>
          <p:cNvPr name="Group 16" id="16"/>
          <p:cNvGrpSpPr/>
          <p:nvPr/>
        </p:nvGrpSpPr>
        <p:grpSpPr>
          <a:xfrm rot="0">
            <a:off x="749529" y="2263020"/>
            <a:ext cx="6226364" cy="3106911"/>
            <a:chOff x="0" y="0"/>
            <a:chExt cx="637784" cy="318249"/>
          </a:xfrm>
        </p:grpSpPr>
        <p:sp>
          <p:nvSpPr>
            <p:cNvPr name="Freeform 17" id="17"/>
            <p:cNvSpPr/>
            <p:nvPr/>
          </p:nvSpPr>
          <p:spPr>
            <a:xfrm flipH="false" flipV="false" rot="0">
              <a:off x="0" y="0"/>
              <a:ext cx="637784" cy="318249"/>
            </a:xfrm>
            <a:custGeom>
              <a:avLst/>
              <a:gdLst/>
              <a:ahLst/>
              <a:cxnLst/>
              <a:rect r="r" b="b" t="t" l="l"/>
              <a:pathLst>
                <a:path h="318249" w="637784">
                  <a:moveTo>
                    <a:pt x="48493" y="0"/>
                  </a:moveTo>
                  <a:lnTo>
                    <a:pt x="589291" y="0"/>
                  </a:lnTo>
                  <a:cubicBezTo>
                    <a:pt x="616073" y="0"/>
                    <a:pt x="637784" y="21711"/>
                    <a:pt x="637784" y="48493"/>
                  </a:cubicBezTo>
                  <a:lnTo>
                    <a:pt x="637784" y="269756"/>
                  </a:lnTo>
                  <a:cubicBezTo>
                    <a:pt x="637784" y="282618"/>
                    <a:pt x="632675" y="294952"/>
                    <a:pt x="623580" y="304046"/>
                  </a:cubicBezTo>
                  <a:cubicBezTo>
                    <a:pt x="614486" y="313140"/>
                    <a:pt x="602152" y="318249"/>
                    <a:pt x="589291" y="318249"/>
                  </a:cubicBezTo>
                  <a:lnTo>
                    <a:pt x="48493" y="318249"/>
                  </a:lnTo>
                  <a:cubicBezTo>
                    <a:pt x="21711" y="318249"/>
                    <a:pt x="0" y="296538"/>
                    <a:pt x="0" y="269756"/>
                  </a:cubicBezTo>
                  <a:lnTo>
                    <a:pt x="0" y="48493"/>
                  </a:lnTo>
                  <a:cubicBezTo>
                    <a:pt x="0" y="21711"/>
                    <a:pt x="21711" y="0"/>
                    <a:pt x="48493" y="0"/>
                  </a:cubicBezTo>
                  <a:close/>
                </a:path>
              </a:pathLst>
            </a:custGeom>
            <a:solidFill>
              <a:srgbClr val="F8F3E6"/>
            </a:solidFill>
            <a:ln cap="rnd">
              <a:noFill/>
              <a:prstDash val="solid"/>
              <a:round/>
            </a:ln>
          </p:spPr>
        </p:sp>
        <p:sp>
          <p:nvSpPr>
            <p:cNvPr name="TextBox 18" id="18"/>
            <p:cNvSpPr txBox="true"/>
            <p:nvPr/>
          </p:nvSpPr>
          <p:spPr>
            <a:xfrm>
              <a:off x="0" y="-38100"/>
              <a:ext cx="637784" cy="356349"/>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7162468" y="2263020"/>
            <a:ext cx="3917760" cy="3106911"/>
            <a:chOff x="0" y="0"/>
            <a:chExt cx="401307" cy="318249"/>
          </a:xfrm>
        </p:grpSpPr>
        <p:sp>
          <p:nvSpPr>
            <p:cNvPr name="Freeform 20" id="20"/>
            <p:cNvSpPr/>
            <p:nvPr/>
          </p:nvSpPr>
          <p:spPr>
            <a:xfrm flipH="false" flipV="false" rot="0">
              <a:off x="0" y="0"/>
              <a:ext cx="401307" cy="318249"/>
            </a:xfrm>
            <a:custGeom>
              <a:avLst/>
              <a:gdLst/>
              <a:ahLst/>
              <a:cxnLst/>
              <a:rect r="r" b="b" t="t" l="l"/>
              <a:pathLst>
                <a:path h="318249" w="401307">
                  <a:moveTo>
                    <a:pt x="77068" y="0"/>
                  </a:moveTo>
                  <a:lnTo>
                    <a:pt x="324239" y="0"/>
                  </a:lnTo>
                  <a:cubicBezTo>
                    <a:pt x="366802" y="0"/>
                    <a:pt x="401307" y="34505"/>
                    <a:pt x="401307" y="77068"/>
                  </a:cubicBezTo>
                  <a:lnTo>
                    <a:pt x="401307" y="241181"/>
                  </a:lnTo>
                  <a:cubicBezTo>
                    <a:pt x="401307" y="261621"/>
                    <a:pt x="393187" y="281224"/>
                    <a:pt x="378734" y="295677"/>
                  </a:cubicBezTo>
                  <a:cubicBezTo>
                    <a:pt x="364281" y="310130"/>
                    <a:pt x="344679" y="318249"/>
                    <a:pt x="324239" y="318249"/>
                  </a:cubicBezTo>
                  <a:lnTo>
                    <a:pt x="77068" y="318249"/>
                  </a:lnTo>
                  <a:cubicBezTo>
                    <a:pt x="34505" y="318249"/>
                    <a:pt x="0" y="283745"/>
                    <a:pt x="0" y="241181"/>
                  </a:cubicBezTo>
                  <a:lnTo>
                    <a:pt x="0" y="77068"/>
                  </a:lnTo>
                  <a:cubicBezTo>
                    <a:pt x="0" y="34505"/>
                    <a:pt x="34505" y="0"/>
                    <a:pt x="77068" y="0"/>
                  </a:cubicBezTo>
                  <a:close/>
                </a:path>
              </a:pathLst>
            </a:custGeom>
            <a:solidFill>
              <a:srgbClr val="F8F3E6"/>
            </a:solidFill>
            <a:ln cap="rnd">
              <a:noFill/>
              <a:prstDash val="solid"/>
              <a:round/>
            </a:ln>
          </p:spPr>
        </p:sp>
        <p:sp>
          <p:nvSpPr>
            <p:cNvPr name="TextBox 21" id="21"/>
            <p:cNvSpPr txBox="true"/>
            <p:nvPr/>
          </p:nvSpPr>
          <p:spPr>
            <a:xfrm>
              <a:off x="0" y="-38100"/>
              <a:ext cx="401307" cy="356349"/>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22" id="22"/>
          <p:cNvSpPr txBox="true"/>
          <p:nvPr/>
        </p:nvSpPr>
        <p:spPr>
          <a:xfrm rot="0">
            <a:off x="7309989" y="2486147"/>
            <a:ext cx="3121423" cy="269595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Notation:</a:t>
            </a:r>
          </a:p>
          <a:p>
            <a:pPr algn="l">
              <a:lnSpc>
                <a:spcPts val="2352"/>
              </a:lnSpc>
            </a:pPr>
          </a:p>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C</a:t>
            </a:r>
            <a:r>
              <a:rPr lang="en-US" b="true" sz="2400" strike="noStrike" u="none">
                <a:solidFill>
                  <a:srgbClr val="042560"/>
                </a:solidFill>
                <a:latin typeface="Poppins Bold"/>
                <a:ea typeface="Poppins Bold"/>
                <a:cs typeface="Poppins Bold"/>
                <a:sym typeface="Poppins Bold"/>
              </a:rPr>
              <a:t>olumn vector:</a:t>
            </a:r>
          </a:p>
          <a:p>
            <a:pPr algn="l" marL="0" indent="0" lvl="0">
              <a:lnSpc>
                <a:spcPts val="2352"/>
              </a:lnSpc>
              <a:spcBef>
                <a:spcPct val="0"/>
              </a:spcBef>
            </a:pPr>
          </a:p>
          <a:p>
            <a:pPr algn="l" marL="0" indent="0" lvl="0">
              <a:lnSpc>
                <a:spcPts val="2352"/>
              </a:lnSpc>
              <a:spcBef>
                <a:spcPct val="0"/>
              </a:spcBef>
            </a:pPr>
          </a:p>
          <a:p>
            <a:pPr algn="l" marL="0" indent="0" lvl="0">
              <a:lnSpc>
                <a:spcPts val="2352"/>
              </a:lnSpc>
              <a:spcBef>
                <a:spcPct val="0"/>
              </a:spcBef>
            </a:pPr>
          </a:p>
          <a:p>
            <a:pPr algn="l" marL="0" indent="0" lvl="0">
              <a:lnSpc>
                <a:spcPts val="2352"/>
              </a:lnSpc>
              <a:spcBef>
                <a:spcPct val="0"/>
              </a:spcBef>
            </a:pP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Row</a:t>
            </a:r>
            <a:r>
              <a:rPr lang="en-US" b="true" sz="2400" strike="noStrike" u="none">
                <a:solidFill>
                  <a:srgbClr val="042560"/>
                </a:solidFill>
                <a:latin typeface="Poppins Bold"/>
                <a:ea typeface="Poppins Bold"/>
                <a:cs typeface="Poppins Bold"/>
                <a:sym typeface="Poppins Bold"/>
              </a:rPr>
              <a:t> vector: [1, 2, 3]</a:t>
            </a:r>
          </a:p>
        </p:txBody>
      </p:sp>
      <p:sp>
        <p:nvSpPr>
          <p:cNvPr name="Freeform 23" id="23"/>
          <p:cNvSpPr/>
          <p:nvPr/>
        </p:nvSpPr>
        <p:spPr>
          <a:xfrm flipH="false" flipV="false" rot="0">
            <a:off x="9854865" y="3094417"/>
            <a:ext cx="576547" cy="1527640"/>
          </a:xfrm>
          <a:custGeom>
            <a:avLst/>
            <a:gdLst/>
            <a:ahLst/>
            <a:cxnLst/>
            <a:rect r="r" b="b" t="t" l="l"/>
            <a:pathLst>
              <a:path h="1527640" w="576547">
                <a:moveTo>
                  <a:pt x="0" y="0"/>
                </a:moveTo>
                <a:lnTo>
                  <a:pt x="576547" y="0"/>
                </a:lnTo>
                <a:lnTo>
                  <a:pt x="576547" y="1527640"/>
                </a:lnTo>
                <a:lnTo>
                  <a:pt x="0" y="1527640"/>
                </a:lnTo>
                <a:lnTo>
                  <a:pt x="0" y="0"/>
                </a:lnTo>
                <a:close/>
              </a:path>
            </a:pathLst>
          </a:custGeom>
          <a:blipFill>
            <a:blip r:embed="rId7"/>
            <a:stretch>
              <a:fillRect l="0" t="0" r="0" b="0"/>
            </a:stretch>
          </a:blipFill>
        </p:spPr>
      </p:sp>
      <p:grpSp>
        <p:nvGrpSpPr>
          <p:cNvPr name="Group 24" id="24"/>
          <p:cNvGrpSpPr/>
          <p:nvPr/>
        </p:nvGrpSpPr>
        <p:grpSpPr>
          <a:xfrm rot="0">
            <a:off x="11312107" y="2263020"/>
            <a:ext cx="6226364" cy="3106911"/>
            <a:chOff x="0" y="0"/>
            <a:chExt cx="637784" cy="318249"/>
          </a:xfrm>
        </p:grpSpPr>
        <p:sp>
          <p:nvSpPr>
            <p:cNvPr name="Freeform 25" id="25"/>
            <p:cNvSpPr/>
            <p:nvPr/>
          </p:nvSpPr>
          <p:spPr>
            <a:xfrm flipH="false" flipV="false" rot="0">
              <a:off x="0" y="0"/>
              <a:ext cx="637784" cy="318249"/>
            </a:xfrm>
            <a:custGeom>
              <a:avLst/>
              <a:gdLst/>
              <a:ahLst/>
              <a:cxnLst/>
              <a:rect r="r" b="b" t="t" l="l"/>
              <a:pathLst>
                <a:path h="318249" w="637784">
                  <a:moveTo>
                    <a:pt x="48493" y="0"/>
                  </a:moveTo>
                  <a:lnTo>
                    <a:pt x="589291" y="0"/>
                  </a:lnTo>
                  <a:cubicBezTo>
                    <a:pt x="616073" y="0"/>
                    <a:pt x="637784" y="21711"/>
                    <a:pt x="637784" y="48493"/>
                  </a:cubicBezTo>
                  <a:lnTo>
                    <a:pt x="637784" y="269756"/>
                  </a:lnTo>
                  <a:cubicBezTo>
                    <a:pt x="637784" y="282618"/>
                    <a:pt x="632675" y="294952"/>
                    <a:pt x="623580" y="304046"/>
                  </a:cubicBezTo>
                  <a:cubicBezTo>
                    <a:pt x="614486" y="313140"/>
                    <a:pt x="602152" y="318249"/>
                    <a:pt x="589291" y="318249"/>
                  </a:cubicBezTo>
                  <a:lnTo>
                    <a:pt x="48493" y="318249"/>
                  </a:lnTo>
                  <a:cubicBezTo>
                    <a:pt x="21711" y="318249"/>
                    <a:pt x="0" y="296538"/>
                    <a:pt x="0" y="269756"/>
                  </a:cubicBezTo>
                  <a:lnTo>
                    <a:pt x="0" y="48493"/>
                  </a:lnTo>
                  <a:cubicBezTo>
                    <a:pt x="0" y="21711"/>
                    <a:pt x="21711" y="0"/>
                    <a:pt x="48493" y="0"/>
                  </a:cubicBezTo>
                  <a:close/>
                </a:path>
              </a:pathLst>
            </a:custGeom>
            <a:solidFill>
              <a:srgbClr val="F8F3E6"/>
            </a:solidFill>
            <a:ln cap="rnd">
              <a:noFill/>
              <a:prstDash val="solid"/>
              <a:round/>
            </a:ln>
          </p:spPr>
        </p:sp>
        <p:sp>
          <p:nvSpPr>
            <p:cNvPr name="TextBox 26" id="26"/>
            <p:cNvSpPr txBox="true"/>
            <p:nvPr/>
          </p:nvSpPr>
          <p:spPr>
            <a:xfrm>
              <a:off x="0" y="-38100"/>
              <a:ext cx="637784" cy="356349"/>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7" id="27"/>
          <p:cNvGrpSpPr/>
          <p:nvPr/>
        </p:nvGrpSpPr>
        <p:grpSpPr>
          <a:xfrm rot="0">
            <a:off x="749529" y="5560430"/>
            <a:ext cx="8217307" cy="4459384"/>
            <a:chOff x="0" y="0"/>
            <a:chExt cx="841722" cy="456787"/>
          </a:xfrm>
        </p:grpSpPr>
        <p:sp>
          <p:nvSpPr>
            <p:cNvPr name="Freeform 28" id="28"/>
            <p:cNvSpPr/>
            <p:nvPr/>
          </p:nvSpPr>
          <p:spPr>
            <a:xfrm flipH="false" flipV="false" rot="0">
              <a:off x="0" y="0"/>
              <a:ext cx="841722" cy="456787"/>
            </a:xfrm>
            <a:custGeom>
              <a:avLst/>
              <a:gdLst/>
              <a:ahLst/>
              <a:cxnLst/>
              <a:rect r="r" b="b" t="t" l="l"/>
              <a:pathLst>
                <a:path h="456787" w="841722">
                  <a:moveTo>
                    <a:pt x="36744" y="0"/>
                  </a:moveTo>
                  <a:lnTo>
                    <a:pt x="804978" y="0"/>
                  </a:lnTo>
                  <a:cubicBezTo>
                    <a:pt x="825271" y="0"/>
                    <a:pt x="841722" y="16451"/>
                    <a:pt x="841722" y="36744"/>
                  </a:cubicBezTo>
                  <a:lnTo>
                    <a:pt x="841722" y="420043"/>
                  </a:lnTo>
                  <a:cubicBezTo>
                    <a:pt x="841722" y="429788"/>
                    <a:pt x="837850" y="439134"/>
                    <a:pt x="830960" y="446025"/>
                  </a:cubicBezTo>
                  <a:cubicBezTo>
                    <a:pt x="824069" y="452916"/>
                    <a:pt x="814723" y="456787"/>
                    <a:pt x="804978" y="456787"/>
                  </a:cubicBezTo>
                  <a:lnTo>
                    <a:pt x="36744" y="456787"/>
                  </a:lnTo>
                  <a:cubicBezTo>
                    <a:pt x="26999" y="456787"/>
                    <a:pt x="17653" y="452916"/>
                    <a:pt x="10762" y="446025"/>
                  </a:cubicBezTo>
                  <a:cubicBezTo>
                    <a:pt x="3871" y="439134"/>
                    <a:pt x="0" y="429788"/>
                    <a:pt x="0" y="420043"/>
                  </a:cubicBezTo>
                  <a:lnTo>
                    <a:pt x="0" y="36744"/>
                  </a:lnTo>
                  <a:cubicBezTo>
                    <a:pt x="0" y="26999"/>
                    <a:pt x="3871" y="17653"/>
                    <a:pt x="10762" y="10762"/>
                  </a:cubicBezTo>
                  <a:cubicBezTo>
                    <a:pt x="17653" y="3871"/>
                    <a:pt x="26999" y="0"/>
                    <a:pt x="36744" y="0"/>
                  </a:cubicBezTo>
                  <a:close/>
                </a:path>
              </a:pathLst>
            </a:custGeom>
            <a:solidFill>
              <a:srgbClr val="F8F3E6"/>
            </a:solidFill>
            <a:ln cap="rnd">
              <a:noFill/>
              <a:prstDash val="solid"/>
              <a:round/>
            </a:ln>
          </p:spPr>
        </p:sp>
        <p:sp>
          <p:nvSpPr>
            <p:cNvPr name="TextBox 29" id="29"/>
            <p:cNvSpPr txBox="true"/>
            <p:nvPr/>
          </p:nvSpPr>
          <p:spPr>
            <a:xfrm>
              <a:off x="0" y="-38100"/>
              <a:ext cx="841722" cy="49488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30" id="30"/>
          <p:cNvSpPr txBox="true"/>
          <p:nvPr/>
        </p:nvSpPr>
        <p:spPr>
          <a:xfrm rot="0">
            <a:off x="11570915" y="2486147"/>
            <a:ext cx="5708749" cy="210540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Addition:</a:t>
            </a:r>
          </a:p>
          <a:p>
            <a:pPr algn="l">
              <a:lnSpc>
                <a:spcPts val="2352"/>
              </a:lnSpc>
            </a:pPr>
          </a:p>
          <a:p>
            <a:pPr algn="l">
              <a:lnSpc>
                <a:spcPts val="2352"/>
              </a:lnSpc>
            </a:pPr>
          </a:p>
          <a:p>
            <a:pPr algn="l">
              <a:lnSpc>
                <a:spcPts val="2352"/>
              </a:lnSpc>
            </a:pPr>
          </a:p>
          <a:p>
            <a:pPr algn="l">
              <a:lnSpc>
                <a:spcPts val="2352"/>
              </a:lnSpc>
            </a:pPr>
            <a:r>
              <a:rPr lang="en-US" sz="2400" b="true">
                <a:solidFill>
                  <a:srgbClr val="042560"/>
                </a:solidFill>
                <a:latin typeface="Poppins Bold"/>
                <a:ea typeface="Poppins Bold"/>
                <a:cs typeface="Poppins Bold"/>
                <a:sym typeface="Poppins Bold"/>
              </a:rPr>
              <a:t>Scalar Multiplication:</a:t>
            </a:r>
          </a:p>
          <a:p>
            <a:pPr algn="l">
              <a:lnSpc>
                <a:spcPts val="2352"/>
              </a:lnSpc>
            </a:pPr>
          </a:p>
          <a:p>
            <a:pPr algn="l" marL="0" indent="0" lvl="0">
              <a:lnSpc>
                <a:spcPts val="2352"/>
              </a:lnSpc>
              <a:spcBef>
                <a:spcPct val="0"/>
              </a:spcBef>
            </a:pPr>
          </a:p>
        </p:txBody>
      </p:sp>
      <p:sp>
        <p:nvSpPr>
          <p:cNvPr name="Freeform 31" id="31"/>
          <p:cNvSpPr/>
          <p:nvPr/>
        </p:nvSpPr>
        <p:spPr>
          <a:xfrm flipH="false" flipV="false" rot="0">
            <a:off x="11591278" y="2777104"/>
            <a:ext cx="5666876" cy="572412"/>
          </a:xfrm>
          <a:custGeom>
            <a:avLst/>
            <a:gdLst/>
            <a:ahLst/>
            <a:cxnLst/>
            <a:rect r="r" b="b" t="t" l="l"/>
            <a:pathLst>
              <a:path h="572412" w="5666876">
                <a:moveTo>
                  <a:pt x="0" y="0"/>
                </a:moveTo>
                <a:lnTo>
                  <a:pt x="5666876" y="0"/>
                </a:lnTo>
                <a:lnTo>
                  <a:pt x="5666876" y="572412"/>
                </a:lnTo>
                <a:lnTo>
                  <a:pt x="0" y="572412"/>
                </a:lnTo>
                <a:lnTo>
                  <a:pt x="0" y="0"/>
                </a:lnTo>
                <a:close/>
              </a:path>
            </a:pathLst>
          </a:custGeom>
          <a:blipFill>
            <a:blip r:embed="rId8"/>
            <a:stretch>
              <a:fillRect l="0" t="0" r="0" b="0"/>
            </a:stretch>
          </a:blipFill>
        </p:spPr>
      </p:sp>
      <p:sp>
        <p:nvSpPr>
          <p:cNvPr name="Freeform 32" id="32"/>
          <p:cNvSpPr/>
          <p:nvPr/>
        </p:nvSpPr>
        <p:spPr>
          <a:xfrm flipH="false" flipV="false" rot="0">
            <a:off x="11591278" y="3918824"/>
            <a:ext cx="4235421" cy="603547"/>
          </a:xfrm>
          <a:custGeom>
            <a:avLst/>
            <a:gdLst/>
            <a:ahLst/>
            <a:cxnLst/>
            <a:rect r="r" b="b" t="t" l="l"/>
            <a:pathLst>
              <a:path h="603547" w="4235421">
                <a:moveTo>
                  <a:pt x="0" y="0"/>
                </a:moveTo>
                <a:lnTo>
                  <a:pt x="4235421" y="0"/>
                </a:lnTo>
                <a:lnTo>
                  <a:pt x="4235421" y="603547"/>
                </a:lnTo>
                <a:lnTo>
                  <a:pt x="0" y="603547"/>
                </a:lnTo>
                <a:lnTo>
                  <a:pt x="0" y="0"/>
                </a:lnTo>
                <a:close/>
              </a:path>
            </a:pathLst>
          </a:custGeom>
          <a:blipFill>
            <a:blip r:embed="rId9"/>
            <a:stretch>
              <a:fillRect l="0" t="0" r="0" b="0"/>
            </a:stretch>
          </a:blipFill>
        </p:spPr>
      </p:sp>
      <p:sp>
        <p:nvSpPr>
          <p:cNvPr name="TextBox 33" id="33"/>
          <p:cNvSpPr txBox="true"/>
          <p:nvPr/>
        </p:nvSpPr>
        <p:spPr>
          <a:xfrm rot="0">
            <a:off x="1028700" y="5722355"/>
            <a:ext cx="7742711" cy="92430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Dot Product:                             Angle Formula:</a:t>
            </a:r>
          </a:p>
          <a:p>
            <a:pPr algn="l">
              <a:lnSpc>
                <a:spcPts val="2352"/>
              </a:lnSpc>
            </a:pPr>
          </a:p>
          <a:p>
            <a:pPr algn="l" marL="0" indent="0" lvl="0">
              <a:lnSpc>
                <a:spcPts val="2352"/>
              </a:lnSpc>
              <a:spcBef>
                <a:spcPct val="0"/>
              </a:spcBef>
            </a:pPr>
          </a:p>
        </p:txBody>
      </p:sp>
      <p:sp>
        <p:nvSpPr>
          <p:cNvPr name="Freeform 34" id="34"/>
          <p:cNvSpPr/>
          <p:nvPr/>
        </p:nvSpPr>
        <p:spPr>
          <a:xfrm flipH="false" flipV="false" rot="0">
            <a:off x="986827" y="5987904"/>
            <a:ext cx="2825522" cy="659908"/>
          </a:xfrm>
          <a:custGeom>
            <a:avLst/>
            <a:gdLst/>
            <a:ahLst/>
            <a:cxnLst/>
            <a:rect r="r" b="b" t="t" l="l"/>
            <a:pathLst>
              <a:path h="659908" w="2825522">
                <a:moveTo>
                  <a:pt x="0" y="0"/>
                </a:moveTo>
                <a:lnTo>
                  <a:pt x="2825522" y="0"/>
                </a:lnTo>
                <a:lnTo>
                  <a:pt x="2825522" y="659908"/>
                </a:lnTo>
                <a:lnTo>
                  <a:pt x="0" y="659908"/>
                </a:lnTo>
                <a:lnTo>
                  <a:pt x="0" y="0"/>
                </a:lnTo>
                <a:close/>
              </a:path>
            </a:pathLst>
          </a:custGeom>
          <a:blipFill>
            <a:blip r:embed="rId10"/>
            <a:stretch>
              <a:fillRect l="0" t="0" r="0" b="0"/>
            </a:stretch>
          </a:blipFill>
        </p:spPr>
      </p:sp>
      <p:sp>
        <p:nvSpPr>
          <p:cNvPr name="Freeform 35" id="35"/>
          <p:cNvSpPr/>
          <p:nvPr/>
        </p:nvSpPr>
        <p:spPr>
          <a:xfrm flipH="false" flipV="false" rot="0">
            <a:off x="4745232" y="5962528"/>
            <a:ext cx="3795449" cy="664849"/>
          </a:xfrm>
          <a:custGeom>
            <a:avLst/>
            <a:gdLst/>
            <a:ahLst/>
            <a:cxnLst/>
            <a:rect r="r" b="b" t="t" l="l"/>
            <a:pathLst>
              <a:path h="664849" w="3795449">
                <a:moveTo>
                  <a:pt x="0" y="0"/>
                </a:moveTo>
                <a:lnTo>
                  <a:pt x="3795449" y="0"/>
                </a:lnTo>
                <a:lnTo>
                  <a:pt x="3795449" y="664849"/>
                </a:lnTo>
                <a:lnTo>
                  <a:pt x="0" y="664849"/>
                </a:lnTo>
                <a:lnTo>
                  <a:pt x="0" y="0"/>
                </a:lnTo>
                <a:close/>
              </a:path>
            </a:pathLst>
          </a:custGeom>
          <a:blipFill>
            <a:blip r:embed="rId11"/>
            <a:stretch>
              <a:fillRect l="0" t="0" r="0" b="0"/>
            </a:stretch>
          </a:blipFill>
        </p:spPr>
      </p:sp>
      <p:grpSp>
        <p:nvGrpSpPr>
          <p:cNvPr name="Group 36" id="36"/>
          <p:cNvGrpSpPr/>
          <p:nvPr/>
        </p:nvGrpSpPr>
        <p:grpSpPr>
          <a:xfrm rot="0">
            <a:off x="9321164" y="5560430"/>
            <a:ext cx="8217307" cy="4459384"/>
            <a:chOff x="0" y="0"/>
            <a:chExt cx="841722" cy="456787"/>
          </a:xfrm>
        </p:grpSpPr>
        <p:sp>
          <p:nvSpPr>
            <p:cNvPr name="Freeform 37" id="37"/>
            <p:cNvSpPr/>
            <p:nvPr/>
          </p:nvSpPr>
          <p:spPr>
            <a:xfrm flipH="false" flipV="false" rot="0">
              <a:off x="0" y="0"/>
              <a:ext cx="841722" cy="456787"/>
            </a:xfrm>
            <a:custGeom>
              <a:avLst/>
              <a:gdLst/>
              <a:ahLst/>
              <a:cxnLst/>
              <a:rect r="r" b="b" t="t" l="l"/>
              <a:pathLst>
                <a:path h="456787" w="841722">
                  <a:moveTo>
                    <a:pt x="36744" y="0"/>
                  </a:moveTo>
                  <a:lnTo>
                    <a:pt x="804978" y="0"/>
                  </a:lnTo>
                  <a:cubicBezTo>
                    <a:pt x="825271" y="0"/>
                    <a:pt x="841722" y="16451"/>
                    <a:pt x="841722" y="36744"/>
                  </a:cubicBezTo>
                  <a:lnTo>
                    <a:pt x="841722" y="420043"/>
                  </a:lnTo>
                  <a:cubicBezTo>
                    <a:pt x="841722" y="429788"/>
                    <a:pt x="837850" y="439134"/>
                    <a:pt x="830960" y="446025"/>
                  </a:cubicBezTo>
                  <a:cubicBezTo>
                    <a:pt x="824069" y="452916"/>
                    <a:pt x="814723" y="456787"/>
                    <a:pt x="804978" y="456787"/>
                  </a:cubicBezTo>
                  <a:lnTo>
                    <a:pt x="36744" y="456787"/>
                  </a:lnTo>
                  <a:cubicBezTo>
                    <a:pt x="26999" y="456787"/>
                    <a:pt x="17653" y="452916"/>
                    <a:pt x="10762" y="446025"/>
                  </a:cubicBezTo>
                  <a:cubicBezTo>
                    <a:pt x="3871" y="439134"/>
                    <a:pt x="0" y="429788"/>
                    <a:pt x="0" y="420043"/>
                  </a:cubicBezTo>
                  <a:lnTo>
                    <a:pt x="0" y="36744"/>
                  </a:lnTo>
                  <a:cubicBezTo>
                    <a:pt x="0" y="26999"/>
                    <a:pt x="3871" y="17653"/>
                    <a:pt x="10762" y="10762"/>
                  </a:cubicBezTo>
                  <a:cubicBezTo>
                    <a:pt x="17653" y="3871"/>
                    <a:pt x="26999" y="0"/>
                    <a:pt x="36744" y="0"/>
                  </a:cubicBezTo>
                  <a:close/>
                </a:path>
              </a:pathLst>
            </a:custGeom>
            <a:solidFill>
              <a:srgbClr val="F8F3E6"/>
            </a:solidFill>
            <a:ln cap="rnd">
              <a:noFill/>
              <a:prstDash val="solid"/>
              <a:round/>
            </a:ln>
          </p:spPr>
        </p:sp>
        <p:sp>
          <p:nvSpPr>
            <p:cNvPr name="TextBox 38" id="38"/>
            <p:cNvSpPr txBox="true"/>
            <p:nvPr/>
          </p:nvSpPr>
          <p:spPr>
            <a:xfrm>
              <a:off x="0" y="-38100"/>
              <a:ext cx="841722" cy="49488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39" id="39"/>
          <p:cNvSpPr/>
          <p:nvPr/>
        </p:nvSpPr>
        <p:spPr>
          <a:xfrm flipH="false" flipV="false" rot="0">
            <a:off x="2177263" y="6724012"/>
            <a:ext cx="5445586" cy="3091381"/>
          </a:xfrm>
          <a:custGeom>
            <a:avLst/>
            <a:gdLst/>
            <a:ahLst/>
            <a:cxnLst/>
            <a:rect r="r" b="b" t="t" l="l"/>
            <a:pathLst>
              <a:path h="3091381" w="5445586">
                <a:moveTo>
                  <a:pt x="0" y="0"/>
                </a:moveTo>
                <a:lnTo>
                  <a:pt x="5445585" y="0"/>
                </a:lnTo>
                <a:lnTo>
                  <a:pt x="5445585" y="3091381"/>
                </a:lnTo>
                <a:lnTo>
                  <a:pt x="0" y="3091381"/>
                </a:lnTo>
                <a:lnTo>
                  <a:pt x="0" y="0"/>
                </a:lnTo>
                <a:close/>
              </a:path>
            </a:pathLst>
          </a:custGeom>
          <a:blipFill>
            <a:blip r:embed="rId12"/>
            <a:stretch>
              <a:fillRect l="0" t="0" r="0" b="0"/>
            </a:stretch>
          </a:blipFill>
        </p:spPr>
      </p:sp>
      <p:sp>
        <p:nvSpPr>
          <p:cNvPr name="Freeform 40" id="40"/>
          <p:cNvSpPr/>
          <p:nvPr/>
        </p:nvSpPr>
        <p:spPr>
          <a:xfrm flipH="false" flipV="false" rot="0">
            <a:off x="9321164" y="5987904"/>
            <a:ext cx="4468098" cy="418729"/>
          </a:xfrm>
          <a:custGeom>
            <a:avLst/>
            <a:gdLst/>
            <a:ahLst/>
            <a:cxnLst/>
            <a:rect r="r" b="b" t="t" l="l"/>
            <a:pathLst>
              <a:path h="418729" w="4468098">
                <a:moveTo>
                  <a:pt x="0" y="0"/>
                </a:moveTo>
                <a:lnTo>
                  <a:pt x="4468098" y="0"/>
                </a:lnTo>
                <a:lnTo>
                  <a:pt x="4468098" y="418730"/>
                </a:lnTo>
                <a:lnTo>
                  <a:pt x="0" y="418730"/>
                </a:lnTo>
                <a:lnTo>
                  <a:pt x="0" y="0"/>
                </a:lnTo>
                <a:close/>
              </a:path>
            </a:pathLst>
          </a:custGeom>
          <a:blipFill>
            <a:blip r:embed="rId13"/>
            <a:stretch>
              <a:fillRect l="0" t="-55070" r="0" b="-501172"/>
            </a:stretch>
          </a:blipFill>
        </p:spPr>
      </p:sp>
      <p:sp>
        <p:nvSpPr>
          <p:cNvPr name="Freeform 41" id="41"/>
          <p:cNvSpPr/>
          <p:nvPr/>
        </p:nvSpPr>
        <p:spPr>
          <a:xfrm flipH="false" flipV="false" rot="0">
            <a:off x="13617527" y="7803919"/>
            <a:ext cx="3719286" cy="2064800"/>
          </a:xfrm>
          <a:custGeom>
            <a:avLst/>
            <a:gdLst/>
            <a:ahLst/>
            <a:cxnLst/>
            <a:rect r="r" b="b" t="t" l="l"/>
            <a:pathLst>
              <a:path h="2064800" w="3719286">
                <a:moveTo>
                  <a:pt x="0" y="0"/>
                </a:moveTo>
                <a:lnTo>
                  <a:pt x="3719286" y="0"/>
                </a:lnTo>
                <a:lnTo>
                  <a:pt x="3719286" y="2064799"/>
                </a:lnTo>
                <a:lnTo>
                  <a:pt x="0" y="2064799"/>
                </a:lnTo>
                <a:lnTo>
                  <a:pt x="0" y="0"/>
                </a:lnTo>
                <a:close/>
              </a:path>
            </a:pathLst>
          </a:custGeom>
          <a:blipFill>
            <a:blip r:embed="rId14"/>
            <a:stretch>
              <a:fillRect l="0" t="0" r="0" b="0"/>
            </a:stretch>
          </a:blipFill>
        </p:spPr>
      </p:sp>
      <p:sp>
        <p:nvSpPr>
          <p:cNvPr name="TextBox 42" id="42"/>
          <p:cNvSpPr txBox="true"/>
          <p:nvPr/>
        </p:nvSpPr>
        <p:spPr>
          <a:xfrm rot="0">
            <a:off x="9600335" y="5722355"/>
            <a:ext cx="7742711" cy="33375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Cross Product:</a:t>
            </a:r>
          </a:p>
        </p:txBody>
      </p:sp>
      <p:sp>
        <p:nvSpPr>
          <p:cNvPr name="TextBox 43" id="43"/>
          <p:cNvSpPr txBox="true"/>
          <p:nvPr/>
        </p:nvSpPr>
        <p:spPr>
          <a:xfrm rot="0">
            <a:off x="358910" y="1435319"/>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Vectors</a:t>
            </a:r>
          </a:p>
        </p:txBody>
      </p:sp>
      <p:sp>
        <p:nvSpPr>
          <p:cNvPr name="TextBox 44" id="44"/>
          <p:cNvSpPr txBox="true"/>
          <p:nvPr/>
        </p:nvSpPr>
        <p:spPr>
          <a:xfrm rot="0">
            <a:off x="889191" y="2486147"/>
            <a:ext cx="5947041" cy="269595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Definition:</a:t>
            </a:r>
          </a:p>
          <a:p>
            <a:pPr algn="l">
              <a:lnSpc>
                <a:spcPts val="2352"/>
              </a:lnSpc>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A vector is an ordered list of numbers, representing magnitude &amp; direction.</a:t>
            </a: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Example:</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In ℝ² → (x, y)</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In ℝ³ → (x, y, z)</a:t>
            </a:r>
          </a:p>
        </p:txBody>
      </p:sp>
      <p:sp>
        <p:nvSpPr>
          <p:cNvPr name="Freeform 45" id="45"/>
          <p:cNvSpPr/>
          <p:nvPr/>
        </p:nvSpPr>
        <p:spPr>
          <a:xfrm flipH="false" flipV="false" rot="0">
            <a:off x="9321164" y="6379961"/>
            <a:ext cx="4468098" cy="1109633"/>
          </a:xfrm>
          <a:custGeom>
            <a:avLst/>
            <a:gdLst/>
            <a:ahLst/>
            <a:cxnLst/>
            <a:rect r="r" b="b" t="t" l="l"/>
            <a:pathLst>
              <a:path h="1109633" w="4468098">
                <a:moveTo>
                  <a:pt x="0" y="0"/>
                </a:moveTo>
                <a:lnTo>
                  <a:pt x="4468098" y="0"/>
                </a:lnTo>
                <a:lnTo>
                  <a:pt x="4468098" y="1109633"/>
                </a:lnTo>
                <a:lnTo>
                  <a:pt x="0" y="1109633"/>
                </a:lnTo>
                <a:lnTo>
                  <a:pt x="0" y="0"/>
                </a:lnTo>
                <a:close/>
              </a:path>
            </a:pathLst>
          </a:custGeom>
          <a:blipFill>
            <a:blip r:embed="rId13"/>
            <a:stretch>
              <a:fillRect l="0" t="-82823" r="0" b="-64815"/>
            </a:stretch>
          </a:blipFill>
        </p:spPr>
      </p:sp>
      <p:sp>
        <p:nvSpPr>
          <p:cNvPr name="Freeform 46" id="46"/>
          <p:cNvSpPr/>
          <p:nvPr/>
        </p:nvSpPr>
        <p:spPr>
          <a:xfrm flipH="false" flipV="false" rot="0">
            <a:off x="9321164" y="7444859"/>
            <a:ext cx="4468098" cy="478609"/>
          </a:xfrm>
          <a:custGeom>
            <a:avLst/>
            <a:gdLst/>
            <a:ahLst/>
            <a:cxnLst/>
            <a:rect r="r" b="b" t="t" l="l"/>
            <a:pathLst>
              <a:path h="478609" w="4468098">
                <a:moveTo>
                  <a:pt x="0" y="0"/>
                </a:moveTo>
                <a:lnTo>
                  <a:pt x="4468098" y="0"/>
                </a:lnTo>
                <a:lnTo>
                  <a:pt x="4468098" y="478608"/>
                </a:lnTo>
                <a:lnTo>
                  <a:pt x="0" y="478608"/>
                </a:lnTo>
                <a:lnTo>
                  <a:pt x="0" y="0"/>
                </a:lnTo>
                <a:close/>
              </a:path>
            </a:pathLst>
          </a:custGeom>
          <a:blipFill>
            <a:blip r:embed="rId13"/>
            <a:stretch>
              <a:fillRect l="0" t="-474139"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BASICS OF LINEAR ALGEBRA</a:t>
              </a:r>
            </a:p>
          </p:txBody>
        </p:sp>
      </p:grpSp>
      <p:grpSp>
        <p:nvGrpSpPr>
          <p:cNvPr name="Group 16" id="16"/>
          <p:cNvGrpSpPr/>
          <p:nvPr/>
        </p:nvGrpSpPr>
        <p:grpSpPr>
          <a:xfrm rot="0">
            <a:off x="749529" y="2263020"/>
            <a:ext cx="6458209" cy="4572073"/>
            <a:chOff x="0" y="0"/>
            <a:chExt cx="661532" cy="468330"/>
          </a:xfrm>
        </p:grpSpPr>
        <p:sp>
          <p:nvSpPr>
            <p:cNvPr name="Freeform 17" id="17"/>
            <p:cNvSpPr/>
            <p:nvPr/>
          </p:nvSpPr>
          <p:spPr>
            <a:xfrm flipH="false" flipV="false" rot="0">
              <a:off x="0" y="0"/>
              <a:ext cx="661532" cy="468330"/>
            </a:xfrm>
            <a:custGeom>
              <a:avLst/>
              <a:gdLst/>
              <a:ahLst/>
              <a:cxnLst/>
              <a:rect r="r" b="b" t="t" l="l"/>
              <a:pathLst>
                <a:path h="468330" w="661532">
                  <a:moveTo>
                    <a:pt x="46752" y="0"/>
                  </a:moveTo>
                  <a:lnTo>
                    <a:pt x="614780" y="0"/>
                  </a:lnTo>
                  <a:cubicBezTo>
                    <a:pt x="640601" y="0"/>
                    <a:pt x="661532" y="20932"/>
                    <a:pt x="661532" y="46752"/>
                  </a:cubicBezTo>
                  <a:lnTo>
                    <a:pt x="661532" y="421578"/>
                  </a:lnTo>
                  <a:cubicBezTo>
                    <a:pt x="661532" y="447399"/>
                    <a:pt x="640601" y="468330"/>
                    <a:pt x="614780" y="468330"/>
                  </a:cubicBezTo>
                  <a:lnTo>
                    <a:pt x="46752" y="468330"/>
                  </a:lnTo>
                  <a:cubicBezTo>
                    <a:pt x="20932" y="468330"/>
                    <a:pt x="0" y="447399"/>
                    <a:pt x="0" y="421578"/>
                  </a:cubicBezTo>
                  <a:lnTo>
                    <a:pt x="0" y="46752"/>
                  </a:lnTo>
                  <a:cubicBezTo>
                    <a:pt x="0" y="20932"/>
                    <a:pt x="20932" y="0"/>
                    <a:pt x="46752" y="0"/>
                  </a:cubicBezTo>
                  <a:close/>
                </a:path>
              </a:pathLst>
            </a:custGeom>
            <a:solidFill>
              <a:srgbClr val="F8F3E6"/>
            </a:solidFill>
            <a:ln cap="rnd">
              <a:noFill/>
              <a:prstDash val="solid"/>
              <a:round/>
            </a:ln>
          </p:spPr>
        </p:sp>
        <p:sp>
          <p:nvSpPr>
            <p:cNvPr name="TextBox 18" id="18"/>
            <p:cNvSpPr txBox="true"/>
            <p:nvPr/>
          </p:nvSpPr>
          <p:spPr>
            <a:xfrm>
              <a:off x="0" y="-38100"/>
              <a:ext cx="661532" cy="50643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749529" y="7179223"/>
            <a:ext cx="6458209" cy="2799986"/>
            <a:chOff x="0" y="0"/>
            <a:chExt cx="661532" cy="286810"/>
          </a:xfrm>
        </p:grpSpPr>
        <p:sp>
          <p:nvSpPr>
            <p:cNvPr name="Freeform 20" id="20"/>
            <p:cNvSpPr/>
            <p:nvPr/>
          </p:nvSpPr>
          <p:spPr>
            <a:xfrm flipH="false" flipV="false" rot="0">
              <a:off x="0" y="0"/>
              <a:ext cx="661532" cy="286810"/>
            </a:xfrm>
            <a:custGeom>
              <a:avLst/>
              <a:gdLst/>
              <a:ahLst/>
              <a:cxnLst/>
              <a:rect r="r" b="b" t="t" l="l"/>
              <a:pathLst>
                <a:path h="286810" w="661532">
                  <a:moveTo>
                    <a:pt x="46752" y="0"/>
                  </a:moveTo>
                  <a:lnTo>
                    <a:pt x="614780" y="0"/>
                  </a:lnTo>
                  <a:cubicBezTo>
                    <a:pt x="640601" y="0"/>
                    <a:pt x="661532" y="20932"/>
                    <a:pt x="661532" y="46752"/>
                  </a:cubicBezTo>
                  <a:lnTo>
                    <a:pt x="661532" y="240058"/>
                  </a:lnTo>
                  <a:cubicBezTo>
                    <a:pt x="661532" y="265879"/>
                    <a:pt x="640601" y="286810"/>
                    <a:pt x="614780" y="286810"/>
                  </a:cubicBezTo>
                  <a:lnTo>
                    <a:pt x="46752" y="286810"/>
                  </a:lnTo>
                  <a:cubicBezTo>
                    <a:pt x="20932" y="286810"/>
                    <a:pt x="0" y="265879"/>
                    <a:pt x="0" y="240058"/>
                  </a:cubicBezTo>
                  <a:lnTo>
                    <a:pt x="0" y="46752"/>
                  </a:lnTo>
                  <a:cubicBezTo>
                    <a:pt x="0" y="20932"/>
                    <a:pt x="20932" y="0"/>
                    <a:pt x="46752" y="0"/>
                  </a:cubicBezTo>
                  <a:close/>
                </a:path>
              </a:pathLst>
            </a:custGeom>
            <a:solidFill>
              <a:srgbClr val="F8F3E6"/>
            </a:solidFill>
            <a:ln cap="rnd">
              <a:noFill/>
              <a:prstDash val="solid"/>
              <a:round/>
            </a:ln>
          </p:spPr>
        </p:sp>
        <p:sp>
          <p:nvSpPr>
            <p:cNvPr name="TextBox 21" id="21"/>
            <p:cNvSpPr txBox="true"/>
            <p:nvPr/>
          </p:nvSpPr>
          <p:spPr>
            <a:xfrm>
              <a:off x="0" y="-38100"/>
              <a:ext cx="661532" cy="324910"/>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2" id="22"/>
          <p:cNvGrpSpPr/>
          <p:nvPr/>
        </p:nvGrpSpPr>
        <p:grpSpPr>
          <a:xfrm rot="0">
            <a:off x="7445863" y="2263020"/>
            <a:ext cx="10359344" cy="4572073"/>
            <a:chOff x="0" y="0"/>
            <a:chExt cx="1061136" cy="468330"/>
          </a:xfrm>
        </p:grpSpPr>
        <p:sp>
          <p:nvSpPr>
            <p:cNvPr name="Freeform 23" id="23"/>
            <p:cNvSpPr/>
            <p:nvPr/>
          </p:nvSpPr>
          <p:spPr>
            <a:xfrm flipH="false" flipV="false" rot="0">
              <a:off x="0" y="0"/>
              <a:ext cx="1061136" cy="468330"/>
            </a:xfrm>
            <a:custGeom>
              <a:avLst/>
              <a:gdLst/>
              <a:ahLst/>
              <a:cxnLst/>
              <a:rect r="r" b="b" t="t" l="l"/>
              <a:pathLst>
                <a:path h="468330" w="1061136">
                  <a:moveTo>
                    <a:pt x="29146" y="0"/>
                  </a:moveTo>
                  <a:lnTo>
                    <a:pt x="1031990" y="0"/>
                  </a:lnTo>
                  <a:cubicBezTo>
                    <a:pt x="1048087" y="0"/>
                    <a:pt x="1061136" y="13049"/>
                    <a:pt x="1061136" y="29146"/>
                  </a:cubicBezTo>
                  <a:lnTo>
                    <a:pt x="1061136" y="439184"/>
                  </a:lnTo>
                  <a:cubicBezTo>
                    <a:pt x="1061136" y="455281"/>
                    <a:pt x="1048087" y="468330"/>
                    <a:pt x="1031990" y="468330"/>
                  </a:cubicBezTo>
                  <a:lnTo>
                    <a:pt x="29146" y="468330"/>
                  </a:lnTo>
                  <a:cubicBezTo>
                    <a:pt x="13049" y="468330"/>
                    <a:pt x="0" y="455281"/>
                    <a:pt x="0" y="439184"/>
                  </a:cubicBezTo>
                  <a:lnTo>
                    <a:pt x="0" y="29146"/>
                  </a:lnTo>
                  <a:cubicBezTo>
                    <a:pt x="0" y="13049"/>
                    <a:pt x="13049" y="0"/>
                    <a:pt x="29146" y="0"/>
                  </a:cubicBezTo>
                  <a:close/>
                </a:path>
              </a:pathLst>
            </a:custGeom>
            <a:solidFill>
              <a:srgbClr val="F8F3E6"/>
            </a:solidFill>
            <a:ln cap="rnd">
              <a:noFill/>
              <a:prstDash val="solid"/>
              <a:round/>
            </a:ln>
          </p:spPr>
        </p:sp>
        <p:sp>
          <p:nvSpPr>
            <p:cNvPr name="TextBox 24" id="24"/>
            <p:cNvSpPr txBox="true"/>
            <p:nvPr/>
          </p:nvSpPr>
          <p:spPr>
            <a:xfrm>
              <a:off x="0" y="-38100"/>
              <a:ext cx="1061136" cy="506430"/>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25" id="25"/>
          <p:cNvSpPr/>
          <p:nvPr/>
        </p:nvSpPr>
        <p:spPr>
          <a:xfrm flipH="false" flipV="false" rot="0">
            <a:off x="7797816" y="2518201"/>
            <a:ext cx="4373940" cy="3945431"/>
          </a:xfrm>
          <a:custGeom>
            <a:avLst/>
            <a:gdLst/>
            <a:ahLst/>
            <a:cxnLst/>
            <a:rect r="r" b="b" t="t" l="l"/>
            <a:pathLst>
              <a:path h="3945431" w="4373940">
                <a:moveTo>
                  <a:pt x="0" y="0"/>
                </a:moveTo>
                <a:lnTo>
                  <a:pt x="4373940" y="0"/>
                </a:lnTo>
                <a:lnTo>
                  <a:pt x="4373940" y="3945431"/>
                </a:lnTo>
                <a:lnTo>
                  <a:pt x="0" y="3945431"/>
                </a:lnTo>
                <a:lnTo>
                  <a:pt x="0" y="0"/>
                </a:lnTo>
                <a:close/>
              </a:path>
            </a:pathLst>
          </a:custGeom>
          <a:blipFill>
            <a:blip r:embed="rId7"/>
            <a:stretch>
              <a:fillRect l="0" t="0" r="0" b="-117263"/>
            </a:stretch>
          </a:blipFill>
        </p:spPr>
      </p:sp>
      <p:sp>
        <p:nvSpPr>
          <p:cNvPr name="Freeform 26" id="26"/>
          <p:cNvSpPr/>
          <p:nvPr/>
        </p:nvSpPr>
        <p:spPr>
          <a:xfrm flipH="false" flipV="false" rot="0">
            <a:off x="12362383" y="2518201"/>
            <a:ext cx="2597166" cy="3945431"/>
          </a:xfrm>
          <a:custGeom>
            <a:avLst/>
            <a:gdLst/>
            <a:ahLst/>
            <a:cxnLst/>
            <a:rect r="r" b="b" t="t" l="l"/>
            <a:pathLst>
              <a:path h="3945431" w="2597166">
                <a:moveTo>
                  <a:pt x="0" y="0"/>
                </a:moveTo>
                <a:lnTo>
                  <a:pt x="2597165" y="0"/>
                </a:lnTo>
                <a:lnTo>
                  <a:pt x="2597165" y="3945431"/>
                </a:lnTo>
                <a:lnTo>
                  <a:pt x="0" y="3945431"/>
                </a:lnTo>
                <a:lnTo>
                  <a:pt x="0" y="0"/>
                </a:lnTo>
                <a:close/>
              </a:path>
            </a:pathLst>
          </a:custGeom>
          <a:blipFill>
            <a:blip r:embed="rId7"/>
            <a:stretch>
              <a:fillRect l="0" t="-86531" r="-44590" b="0"/>
            </a:stretch>
          </a:blipFill>
        </p:spPr>
      </p:sp>
      <p:sp>
        <p:nvSpPr>
          <p:cNvPr name="Freeform 27" id="27"/>
          <p:cNvSpPr/>
          <p:nvPr/>
        </p:nvSpPr>
        <p:spPr>
          <a:xfrm flipH="false" flipV="false" rot="0">
            <a:off x="927181" y="7845566"/>
            <a:ext cx="4950727" cy="1008769"/>
          </a:xfrm>
          <a:custGeom>
            <a:avLst/>
            <a:gdLst/>
            <a:ahLst/>
            <a:cxnLst/>
            <a:rect r="r" b="b" t="t" l="l"/>
            <a:pathLst>
              <a:path h="1008769" w="4950727">
                <a:moveTo>
                  <a:pt x="0" y="0"/>
                </a:moveTo>
                <a:lnTo>
                  <a:pt x="4950727" y="0"/>
                </a:lnTo>
                <a:lnTo>
                  <a:pt x="4950727" y="1008768"/>
                </a:lnTo>
                <a:lnTo>
                  <a:pt x="0" y="1008768"/>
                </a:lnTo>
                <a:lnTo>
                  <a:pt x="0" y="0"/>
                </a:lnTo>
                <a:close/>
              </a:path>
            </a:pathLst>
          </a:custGeom>
          <a:blipFill>
            <a:blip r:embed="rId8"/>
            <a:stretch>
              <a:fillRect l="0" t="0" r="0" b="0"/>
            </a:stretch>
          </a:blipFill>
        </p:spPr>
      </p:sp>
      <p:sp>
        <p:nvSpPr>
          <p:cNvPr name="TextBox 28" id="28"/>
          <p:cNvSpPr txBox="true"/>
          <p:nvPr/>
        </p:nvSpPr>
        <p:spPr>
          <a:xfrm rot="0">
            <a:off x="1028700" y="7445135"/>
            <a:ext cx="2373845" cy="33375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Invers Matrix:</a:t>
            </a:r>
          </a:p>
        </p:txBody>
      </p:sp>
      <p:sp>
        <p:nvSpPr>
          <p:cNvPr name="TextBox 29" id="29"/>
          <p:cNvSpPr txBox="true"/>
          <p:nvPr/>
        </p:nvSpPr>
        <p:spPr>
          <a:xfrm rot="0">
            <a:off x="358910" y="1435319"/>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Matrices</a:t>
            </a:r>
          </a:p>
        </p:txBody>
      </p:sp>
      <p:sp>
        <p:nvSpPr>
          <p:cNvPr name="TextBox 30" id="30"/>
          <p:cNvSpPr txBox="true"/>
          <p:nvPr/>
        </p:nvSpPr>
        <p:spPr>
          <a:xfrm rot="0">
            <a:off x="889191" y="2486147"/>
            <a:ext cx="5783752" cy="269595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Determinan</a:t>
            </a:r>
            <a:r>
              <a:rPr lang="en-US" b="true" sz="2400" strike="noStrike" u="none">
                <a:solidFill>
                  <a:srgbClr val="042560"/>
                </a:solidFill>
                <a:latin typeface="Poppins Bold"/>
                <a:ea typeface="Poppins Bold"/>
                <a:cs typeface="Poppins Bold"/>
                <a:sym typeface="Poppins Bold"/>
              </a:rPr>
              <a:t>t (square matrices only):</a:t>
            </a:r>
          </a:p>
          <a:p>
            <a:pPr algn="l" marL="0" indent="0" lvl="0">
              <a:lnSpc>
                <a:spcPts val="2352"/>
              </a:lnSpc>
              <a:spcBef>
                <a:spcPct val="0"/>
              </a:spcBef>
            </a:pPr>
          </a:p>
          <a:p>
            <a:pPr algn="l" marL="0" indent="0" lvl="0">
              <a:lnSpc>
                <a:spcPts val="2352"/>
              </a:lnSpc>
              <a:spcBef>
                <a:spcPct val="0"/>
              </a:spcBef>
            </a:pPr>
            <a:r>
              <a:rPr lang="en-US" sz="2400" strike="noStrike" u="none">
                <a:solidFill>
                  <a:srgbClr val="042560"/>
                </a:solidFill>
                <a:latin typeface="Poppins"/>
                <a:ea typeface="Poppins"/>
                <a:cs typeface="Poppins"/>
                <a:sym typeface="Poppins"/>
              </a:rPr>
              <a:t>2×2: |M| = ad − bc</a:t>
            </a:r>
          </a:p>
          <a:p>
            <a:pPr algn="l" marL="0" indent="0" lvl="0">
              <a:lnSpc>
                <a:spcPts val="2352"/>
              </a:lnSpc>
              <a:spcBef>
                <a:spcPct val="0"/>
              </a:spcBef>
            </a:pPr>
          </a:p>
          <a:p>
            <a:pPr algn="l" marL="0" indent="0" lvl="0">
              <a:lnSpc>
                <a:spcPts val="2352"/>
              </a:lnSpc>
              <a:spcBef>
                <a:spcPct val="0"/>
              </a:spcBef>
            </a:pPr>
            <a:r>
              <a:rPr lang="en-US" sz="2400" strike="noStrike" u="none">
                <a:solidFill>
                  <a:srgbClr val="042560"/>
                </a:solidFill>
                <a:latin typeface="Poppins"/>
                <a:ea typeface="Poppins"/>
                <a:cs typeface="Poppins"/>
                <a:sym typeface="Poppins"/>
              </a:rPr>
              <a:t>3×3: </a:t>
            </a:r>
            <a:r>
              <a:rPr lang="en-US" sz="2400" strike="noStrike" u="none">
                <a:solidFill>
                  <a:srgbClr val="042560"/>
                </a:solidFill>
                <a:latin typeface="Poppins"/>
                <a:ea typeface="Poppins"/>
                <a:cs typeface="Poppins"/>
                <a:sym typeface="Poppins"/>
              </a:rPr>
              <a:t>aei + bfg + cdh − ceg − bdi − afh</a:t>
            </a:r>
          </a:p>
          <a:p>
            <a:pPr algn="l" marL="0" indent="0" lvl="0">
              <a:lnSpc>
                <a:spcPts val="2352"/>
              </a:lnSpc>
              <a:spcBef>
                <a:spcPct val="0"/>
              </a:spcBef>
            </a:pPr>
          </a:p>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Identity Matrix (I):</a:t>
            </a:r>
          </a:p>
          <a:p>
            <a:pPr algn="l" marL="0" indent="0" lvl="0">
              <a:lnSpc>
                <a:spcPts val="2352"/>
              </a:lnSpc>
              <a:spcBef>
                <a:spcPct val="0"/>
              </a:spcBef>
            </a:pPr>
          </a:p>
          <a:p>
            <a:pPr algn="l" marL="0" indent="0" lvl="0">
              <a:lnSpc>
                <a:spcPts val="2352"/>
              </a:lnSpc>
              <a:spcBef>
                <a:spcPct val="0"/>
              </a:spcBef>
            </a:pPr>
            <a:r>
              <a:rPr lang="en-US" sz="2400" strike="noStrike" u="none">
                <a:solidFill>
                  <a:srgbClr val="042560"/>
                </a:solidFill>
                <a:latin typeface="Poppins"/>
                <a:ea typeface="Poppins"/>
                <a:cs typeface="Poppins"/>
                <a:sym typeface="Poppins"/>
              </a:rPr>
              <a:t>Diagonal ones, zeros elsewhere</a:t>
            </a:r>
          </a:p>
        </p:txBody>
      </p:sp>
      <p:grpSp>
        <p:nvGrpSpPr>
          <p:cNvPr name="Group 31" id="31"/>
          <p:cNvGrpSpPr/>
          <p:nvPr/>
        </p:nvGrpSpPr>
        <p:grpSpPr>
          <a:xfrm rot="0">
            <a:off x="7445863" y="7179223"/>
            <a:ext cx="10359344" cy="2799986"/>
            <a:chOff x="0" y="0"/>
            <a:chExt cx="1061136" cy="286810"/>
          </a:xfrm>
        </p:grpSpPr>
        <p:sp>
          <p:nvSpPr>
            <p:cNvPr name="Freeform 32" id="32"/>
            <p:cNvSpPr/>
            <p:nvPr/>
          </p:nvSpPr>
          <p:spPr>
            <a:xfrm flipH="false" flipV="false" rot="0">
              <a:off x="0" y="0"/>
              <a:ext cx="1061136" cy="286810"/>
            </a:xfrm>
            <a:custGeom>
              <a:avLst/>
              <a:gdLst/>
              <a:ahLst/>
              <a:cxnLst/>
              <a:rect r="r" b="b" t="t" l="l"/>
              <a:pathLst>
                <a:path h="286810" w="1061136">
                  <a:moveTo>
                    <a:pt x="29146" y="0"/>
                  </a:moveTo>
                  <a:lnTo>
                    <a:pt x="1031990" y="0"/>
                  </a:lnTo>
                  <a:cubicBezTo>
                    <a:pt x="1048087" y="0"/>
                    <a:pt x="1061136" y="13049"/>
                    <a:pt x="1061136" y="29146"/>
                  </a:cubicBezTo>
                  <a:lnTo>
                    <a:pt x="1061136" y="257664"/>
                  </a:lnTo>
                  <a:cubicBezTo>
                    <a:pt x="1061136" y="273761"/>
                    <a:pt x="1048087" y="286810"/>
                    <a:pt x="1031990" y="286810"/>
                  </a:cubicBezTo>
                  <a:lnTo>
                    <a:pt x="29146" y="286810"/>
                  </a:lnTo>
                  <a:cubicBezTo>
                    <a:pt x="13049" y="286810"/>
                    <a:pt x="0" y="273761"/>
                    <a:pt x="0" y="257664"/>
                  </a:cubicBezTo>
                  <a:lnTo>
                    <a:pt x="0" y="29146"/>
                  </a:lnTo>
                  <a:cubicBezTo>
                    <a:pt x="0" y="13049"/>
                    <a:pt x="13049" y="0"/>
                    <a:pt x="29146" y="0"/>
                  </a:cubicBezTo>
                  <a:close/>
                </a:path>
              </a:pathLst>
            </a:custGeom>
            <a:solidFill>
              <a:srgbClr val="F8F3E6"/>
            </a:solidFill>
            <a:ln cap="rnd">
              <a:noFill/>
              <a:prstDash val="solid"/>
              <a:round/>
            </a:ln>
          </p:spPr>
        </p:sp>
        <p:sp>
          <p:nvSpPr>
            <p:cNvPr name="TextBox 33" id="33"/>
            <p:cNvSpPr txBox="true"/>
            <p:nvPr/>
          </p:nvSpPr>
          <p:spPr>
            <a:xfrm>
              <a:off x="0" y="-38100"/>
              <a:ext cx="1061136" cy="324910"/>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34" id="34"/>
          <p:cNvSpPr/>
          <p:nvPr/>
        </p:nvSpPr>
        <p:spPr>
          <a:xfrm flipH="false" flipV="false" rot="0">
            <a:off x="7797816" y="7597725"/>
            <a:ext cx="3165016" cy="2058651"/>
          </a:xfrm>
          <a:custGeom>
            <a:avLst/>
            <a:gdLst/>
            <a:ahLst/>
            <a:cxnLst/>
            <a:rect r="r" b="b" t="t" l="l"/>
            <a:pathLst>
              <a:path h="2058651" w="3165016">
                <a:moveTo>
                  <a:pt x="0" y="0"/>
                </a:moveTo>
                <a:lnTo>
                  <a:pt x="3165016" y="0"/>
                </a:lnTo>
                <a:lnTo>
                  <a:pt x="3165016" y="2058651"/>
                </a:lnTo>
                <a:lnTo>
                  <a:pt x="0" y="2058651"/>
                </a:lnTo>
                <a:lnTo>
                  <a:pt x="0" y="0"/>
                </a:lnTo>
                <a:close/>
              </a:path>
            </a:pathLst>
          </a:custGeom>
          <a:blipFill>
            <a:blip r:embed="rId9"/>
            <a:stretch>
              <a:fillRect l="0" t="0" r="-52213" b="-77514"/>
            </a:stretch>
          </a:blipFill>
        </p:spPr>
      </p:sp>
      <p:sp>
        <p:nvSpPr>
          <p:cNvPr name="Freeform 35" id="35"/>
          <p:cNvSpPr/>
          <p:nvPr/>
        </p:nvSpPr>
        <p:spPr>
          <a:xfrm flipH="false" flipV="false" rot="0">
            <a:off x="11160566" y="7597725"/>
            <a:ext cx="5990554" cy="2058651"/>
          </a:xfrm>
          <a:custGeom>
            <a:avLst/>
            <a:gdLst/>
            <a:ahLst/>
            <a:cxnLst/>
            <a:rect r="r" b="b" t="t" l="l"/>
            <a:pathLst>
              <a:path h="2058651" w="5990554">
                <a:moveTo>
                  <a:pt x="0" y="0"/>
                </a:moveTo>
                <a:lnTo>
                  <a:pt x="5990555" y="0"/>
                </a:lnTo>
                <a:lnTo>
                  <a:pt x="5990555" y="2058651"/>
                </a:lnTo>
                <a:lnTo>
                  <a:pt x="0" y="2058651"/>
                </a:lnTo>
                <a:lnTo>
                  <a:pt x="0" y="0"/>
                </a:lnTo>
                <a:close/>
              </a:path>
            </a:pathLst>
          </a:custGeom>
          <a:blipFill>
            <a:blip r:embed="rId9"/>
            <a:stretch>
              <a:fillRect l="0" t="-120735"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sp>
        <p:nvSpPr>
          <p:cNvPr name="TextBox 2" id="2"/>
          <p:cNvSpPr txBox="true"/>
          <p:nvPr/>
        </p:nvSpPr>
        <p:spPr>
          <a:xfrm rot="0">
            <a:off x="2094175" y="2156773"/>
            <a:ext cx="14099650" cy="987677"/>
          </a:xfrm>
          <a:prstGeom prst="rect">
            <a:avLst/>
          </a:prstGeom>
        </p:spPr>
        <p:txBody>
          <a:bodyPr anchor="t" rtlCol="false" tIns="0" lIns="0" bIns="0" rIns="0">
            <a:spAutoFit/>
          </a:bodyPr>
          <a:lstStyle/>
          <a:p>
            <a:pPr algn="ctr">
              <a:lnSpc>
                <a:spcPts val="7237"/>
              </a:lnSpc>
            </a:pPr>
            <a:r>
              <a:rPr lang="en-US" sz="7699">
                <a:solidFill>
                  <a:srgbClr val="FFFFFF"/>
                </a:solidFill>
                <a:latin typeface="Lovelo"/>
                <a:ea typeface="Lovelo"/>
                <a:cs typeface="Lovelo"/>
                <a:sym typeface="Lovelo"/>
              </a:rPr>
              <a:t>LINEAR TRANSFORMATIONS</a:t>
            </a:r>
          </a:p>
        </p:txBody>
      </p:sp>
      <p:grpSp>
        <p:nvGrpSpPr>
          <p:cNvPr name="Group 3" id="3"/>
          <p:cNvGrpSpPr/>
          <p:nvPr/>
        </p:nvGrpSpPr>
        <p:grpSpPr>
          <a:xfrm rot="0">
            <a:off x="11916713" y="292637"/>
            <a:ext cx="6128190" cy="1018857"/>
            <a:chOff x="0" y="0"/>
            <a:chExt cx="8170920" cy="1358476"/>
          </a:xfrm>
        </p:grpSpPr>
        <p:grpSp>
          <p:nvGrpSpPr>
            <p:cNvPr name="Group 4" id="4"/>
            <p:cNvGrpSpPr/>
            <p:nvPr/>
          </p:nvGrpSpPr>
          <p:grpSpPr>
            <a:xfrm rot="0">
              <a:off x="0" y="0"/>
              <a:ext cx="8170920" cy="1358476"/>
              <a:chOff x="0" y="0"/>
              <a:chExt cx="825661" cy="137272"/>
            </a:xfrm>
          </p:grpSpPr>
          <p:sp>
            <p:nvSpPr>
              <p:cNvPr name="Freeform 5" id="5"/>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6" id="6"/>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7" id="7"/>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8" id="8"/>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9" id="9"/>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10" id="10"/>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1" id="11"/>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sp>
        <p:nvSpPr>
          <p:cNvPr name="TextBox 12" id="12"/>
          <p:cNvSpPr txBox="true"/>
          <p:nvPr/>
        </p:nvSpPr>
        <p:spPr>
          <a:xfrm rot="0">
            <a:off x="1913200" y="4953176"/>
            <a:ext cx="5329133" cy="417195"/>
          </a:xfrm>
          <a:prstGeom prst="rect">
            <a:avLst/>
          </a:prstGeom>
        </p:spPr>
        <p:txBody>
          <a:bodyPr anchor="t" rtlCol="false" tIns="0" lIns="0" bIns="0" rIns="0">
            <a:spAutoFit/>
          </a:bodyPr>
          <a:lstStyle/>
          <a:p>
            <a:pPr algn="l">
              <a:lnSpc>
                <a:spcPts val="2940"/>
              </a:lnSpc>
            </a:pPr>
            <a:r>
              <a:rPr lang="en-US" b="true" sz="3000">
                <a:solidFill>
                  <a:srgbClr val="FF9C00"/>
                </a:solidFill>
                <a:latin typeface="Poppins Bold"/>
                <a:ea typeface="Poppins Bold"/>
                <a:cs typeface="Poppins Bold"/>
                <a:sym typeface="Poppins Bold"/>
              </a:rPr>
              <a:t>F(ax+by)=aF(x)+bF(y)</a:t>
            </a:r>
          </a:p>
        </p:txBody>
      </p:sp>
      <p:sp>
        <p:nvSpPr>
          <p:cNvPr name="TextBox 13" id="13"/>
          <p:cNvSpPr txBox="true"/>
          <p:nvPr/>
        </p:nvSpPr>
        <p:spPr>
          <a:xfrm rot="0">
            <a:off x="1028700" y="4394659"/>
            <a:ext cx="9583088" cy="417195"/>
          </a:xfrm>
          <a:prstGeom prst="rect">
            <a:avLst/>
          </a:prstGeom>
        </p:spPr>
        <p:txBody>
          <a:bodyPr anchor="t" rtlCol="false" tIns="0" lIns="0" bIns="0" rIns="0">
            <a:spAutoFit/>
          </a:bodyPr>
          <a:lstStyle/>
          <a:p>
            <a:pPr algn="l">
              <a:lnSpc>
                <a:spcPts val="2940"/>
              </a:lnSpc>
            </a:pPr>
            <a:r>
              <a:rPr lang="en-US" b="true" sz="3000">
                <a:solidFill>
                  <a:srgbClr val="FFFFFF"/>
                </a:solidFill>
                <a:latin typeface="Poppins Bold"/>
                <a:ea typeface="Poppins Bold"/>
                <a:cs typeface="Poppins Bold"/>
                <a:sym typeface="Poppins Bold"/>
              </a:rPr>
              <a:t>A</a:t>
            </a:r>
            <a:r>
              <a:rPr lang="en-US" b="true" sz="3000">
                <a:solidFill>
                  <a:srgbClr val="FFFFFF"/>
                </a:solidFill>
                <a:latin typeface="Poppins Bold"/>
                <a:ea typeface="Poppins Bold"/>
                <a:cs typeface="Poppins Bold"/>
                <a:sym typeface="Poppins Bold"/>
              </a:rPr>
              <a:t> linear transformation </a:t>
            </a:r>
            <a:r>
              <a:rPr lang="en-US" b="true" sz="3000">
                <a:solidFill>
                  <a:srgbClr val="FFFFFF"/>
                </a:solidFill>
                <a:latin typeface="Poppins Bold"/>
                <a:ea typeface="Poppins Bold"/>
                <a:cs typeface="Poppins Bold"/>
                <a:sym typeface="Poppins Bold"/>
              </a:rPr>
              <a:t>is a function F satisfying:</a:t>
            </a:r>
          </a:p>
        </p:txBody>
      </p:sp>
      <p:sp>
        <p:nvSpPr>
          <p:cNvPr name="TextBox 14" id="14"/>
          <p:cNvSpPr txBox="true"/>
          <p:nvPr/>
        </p:nvSpPr>
        <p:spPr>
          <a:xfrm rot="0">
            <a:off x="1028700" y="5513246"/>
            <a:ext cx="9583088" cy="417195"/>
          </a:xfrm>
          <a:prstGeom prst="rect">
            <a:avLst/>
          </a:prstGeom>
        </p:spPr>
        <p:txBody>
          <a:bodyPr anchor="t" rtlCol="false" tIns="0" lIns="0" bIns="0" rIns="0">
            <a:spAutoFit/>
          </a:bodyPr>
          <a:lstStyle/>
          <a:p>
            <a:pPr algn="l">
              <a:lnSpc>
                <a:spcPts val="2940"/>
              </a:lnSpc>
            </a:pPr>
            <a:r>
              <a:rPr lang="en-US" b="true" sz="3000">
                <a:solidFill>
                  <a:srgbClr val="FFFFFF"/>
                </a:solidFill>
                <a:latin typeface="Poppins Bold"/>
                <a:ea typeface="Poppins Bold"/>
                <a:cs typeface="Poppins Bold"/>
                <a:sym typeface="Poppins Bold"/>
              </a:rPr>
              <a:t>for</a:t>
            </a:r>
            <a:r>
              <a:rPr lang="en-US" b="true" sz="3000">
                <a:solidFill>
                  <a:srgbClr val="FFFFFF"/>
                </a:solidFill>
                <a:latin typeface="Poppins Bold"/>
                <a:ea typeface="Poppins Bold"/>
                <a:cs typeface="Poppins Bold"/>
                <a:sym typeface="Poppins Bold"/>
              </a:rPr>
              <a:t> all scalars a, b</a:t>
            </a:r>
            <a:r>
              <a:rPr lang="en-US" b="true" sz="3000">
                <a:solidFill>
                  <a:srgbClr val="FFFFFF"/>
                </a:solidFill>
                <a:latin typeface="Poppins Bold"/>
                <a:ea typeface="Poppins Bold"/>
                <a:cs typeface="Poppins Bold"/>
                <a:sym typeface="Poppins Bold"/>
              </a:rPr>
              <a:t> and vectors x, y.</a:t>
            </a:r>
          </a:p>
        </p:txBody>
      </p:sp>
      <p:grpSp>
        <p:nvGrpSpPr>
          <p:cNvPr name="Group 15" id="15"/>
          <p:cNvGrpSpPr/>
          <p:nvPr/>
        </p:nvGrpSpPr>
        <p:grpSpPr>
          <a:xfrm rot="0">
            <a:off x="11285283" y="3736378"/>
            <a:ext cx="6162456" cy="6140973"/>
            <a:chOff x="0" y="0"/>
            <a:chExt cx="8216608" cy="8187964"/>
          </a:xfrm>
        </p:grpSpPr>
        <p:sp>
          <p:nvSpPr>
            <p:cNvPr name="AutoShape 16" id="16"/>
            <p:cNvSpPr/>
            <p:nvPr/>
          </p:nvSpPr>
          <p:spPr>
            <a:xfrm>
              <a:off x="495259" y="4712752"/>
              <a:ext cx="7226089" cy="0"/>
            </a:xfrm>
            <a:prstGeom prst="line">
              <a:avLst/>
            </a:prstGeom>
            <a:ln cap="flat" w="21463">
              <a:solidFill>
                <a:srgbClr val="1B93B0"/>
              </a:solidFill>
              <a:prstDash val="solid"/>
              <a:headEnd type="none" len="sm" w="sm"/>
              <a:tailEnd type="none" len="sm" w="sm"/>
            </a:ln>
          </p:spPr>
        </p:sp>
        <p:sp>
          <p:nvSpPr>
            <p:cNvPr name="AutoShape 17" id="17"/>
            <p:cNvSpPr/>
            <p:nvPr/>
          </p:nvSpPr>
          <p:spPr>
            <a:xfrm>
              <a:off x="495259" y="5309394"/>
              <a:ext cx="7226089" cy="0"/>
            </a:xfrm>
            <a:prstGeom prst="line">
              <a:avLst/>
            </a:prstGeom>
            <a:ln cap="flat" w="21463">
              <a:solidFill>
                <a:srgbClr val="1B93B0"/>
              </a:solidFill>
              <a:prstDash val="solid"/>
              <a:headEnd type="none" len="sm" w="sm"/>
              <a:tailEnd type="none" len="sm" w="sm"/>
            </a:ln>
          </p:spPr>
        </p:sp>
        <p:sp>
          <p:nvSpPr>
            <p:cNvPr name="AutoShape 18" id="18"/>
            <p:cNvSpPr/>
            <p:nvPr/>
          </p:nvSpPr>
          <p:spPr>
            <a:xfrm>
              <a:off x="495259" y="5906036"/>
              <a:ext cx="7226089" cy="0"/>
            </a:xfrm>
            <a:prstGeom prst="line">
              <a:avLst/>
            </a:prstGeom>
            <a:ln cap="flat" w="21463">
              <a:solidFill>
                <a:srgbClr val="1B93B0"/>
              </a:solidFill>
              <a:prstDash val="solid"/>
              <a:headEnd type="none" len="sm" w="sm"/>
              <a:tailEnd type="none" len="sm" w="sm"/>
            </a:ln>
          </p:spPr>
        </p:sp>
        <p:sp>
          <p:nvSpPr>
            <p:cNvPr name="AutoShape 19" id="19"/>
            <p:cNvSpPr/>
            <p:nvPr/>
          </p:nvSpPr>
          <p:spPr>
            <a:xfrm>
              <a:off x="495259" y="1674222"/>
              <a:ext cx="7226089" cy="0"/>
            </a:xfrm>
            <a:prstGeom prst="line">
              <a:avLst/>
            </a:prstGeom>
            <a:ln cap="flat" w="21463">
              <a:solidFill>
                <a:srgbClr val="1B93B0"/>
              </a:solidFill>
              <a:prstDash val="solid"/>
              <a:headEnd type="none" len="sm" w="sm"/>
              <a:tailEnd type="none" len="sm" w="sm"/>
            </a:ln>
          </p:spPr>
        </p:sp>
        <p:sp>
          <p:nvSpPr>
            <p:cNvPr name="AutoShape 20" id="20"/>
            <p:cNvSpPr/>
            <p:nvPr/>
          </p:nvSpPr>
          <p:spPr>
            <a:xfrm>
              <a:off x="495259" y="2270864"/>
              <a:ext cx="7226089" cy="0"/>
            </a:xfrm>
            <a:prstGeom prst="line">
              <a:avLst/>
            </a:prstGeom>
            <a:ln cap="flat" w="21463">
              <a:solidFill>
                <a:srgbClr val="1B93B0"/>
              </a:solidFill>
              <a:prstDash val="solid"/>
              <a:headEnd type="none" len="sm" w="sm"/>
              <a:tailEnd type="none" len="sm" w="sm"/>
            </a:ln>
          </p:spPr>
        </p:sp>
        <p:sp>
          <p:nvSpPr>
            <p:cNvPr name="AutoShape 21" id="21"/>
            <p:cNvSpPr/>
            <p:nvPr/>
          </p:nvSpPr>
          <p:spPr>
            <a:xfrm>
              <a:off x="495259" y="2867506"/>
              <a:ext cx="7226089" cy="0"/>
            </a:xfrm>
            <a:prstGeom prst="line">
              <a:avLst/>
            </a:prstGeom>
            <a:ln cap="flat" w="21463">
              <a:solidFill>
                <a:srgbClr val="1B93B0"/>
              </a:solidFill>
              <a:prstDash val="solid"/>
              <a:headEnd type="none" len="sm" w="sm"/>
              <a:tailEnd type="none" len="sm" w="sm"/>
            </a:ln>
          </p:spPr>
        </p:sp>
        <p:sp>
          <p:nvSpPr>
            <p:cNvPr name="AutoShape 22" id="22"/>
            <p:cNvSpPr/>
            <p:nvPr/>
          </p:nvSpPr>
          <p:spPr>
            <a:xfrm>
              <a:off x="495259" y="3464148"/>
              <a:ext cx="7226089" cy="0"/>
            </a:xfrm>
            <a:prstGeom prst="line">
              <a:avLst/>
            </a:prstGeom>
            <a:ln cap="flat" w="21463">
              <a:solidFill>
                <a:srgbClr val="1B93B0"/>
              </a:solidFill>
              <a:prstDash val="solid"/>
              <a:headEnd type="none" len="sm" w="sm"/>
              <a:tailEnd type="none" len="sm" w="sm"/>
            </a:ln>
          </p:spPr>
        </p:sp>
        <p:sp>
          <p:nvSpPr>
            <p:cNvPr name="AutoShape 23" id="23"/>
            <p:cNvSpPr/>
            <p:nvPr/>
          </p:nvSpPr>
          <p:spPr>
            <a:xfrm>
              <a:off x="495259" y="6502678"/>
              <a:ext cx="7226089" cy="0"/>
            </a:xfrm>
            <a:prstGeom prst="line">
              <a:avLst/>
            </a:prstGeom>
            <a:ln cap="flat" w="21463">
              <a:solidFill>
                <a:srgbClr val="1B93B0"/>
              </a:solidFill>
              <a:prstDash val="solid"/>
              <a:headEnd type="none" len="sm" w="sm"/>
              <a:tailEnd type="none" len="sm" w="sm"/>
            </a:ln>
          </p:spPr>
        </p:sp>
        <p:grpSp>
          <p:nvGrpSpPr>
            <p:cNvPr name="Group 24" id="24"/>
            <p:cNvGrpSpPr/>
            <p:nvPr/>
          </p:nvGrpSpPr>
          <p:grpSpPr>
            <a:xfrm rot="0">
              <a:off x="495259" y="480937"/>
              <a:ext cx="7226089" cy="7226089"/>
              <a:chOff x="0" y="0"/>
              <a:chExt cx="1385212" cy="1385212"/>
            </a:xfrm>
          </p:grpSpPr>
          <p:sp>
            <p:nvSpPr>
              <p:cNvPr name="Freeform 25" id="25"/>
              <p:cNvSpPr/>
              <p:nvPr/>
            </p:nvSpPr>
            <p:spPr>
              <a:xfrm flipH="false" flipV="false" rot="0">
                <a:off x="0" y="0"/>
                <a:ext cx="1385212" cy="1385212"/>
              </a:xfrm>
              <a:custGeom>
                <a:avLst/>
                <a:gdLst/>
                <a:ahLst/>
                <a:cxnLst/>
                <a:rect r="r" b="b" t="t" l="l"/>
                <a:pathLst>
                  <a:path h="1385212" w="1385212">
                    <a:moveTo>
                      <a:pt x="61561" y="0"/>
                    </a:moveTo>
                    <a:lnTo>
                      <a:pt x="1323651" y="0"/>
                    </a:lnTo>
                    <a:cubicBezTo>
                      <a:pt x="1357650" y="0"/>
                      <a:pt x="1385212" y="27562"/>
                      <a:pt x="1385212" y="61561"/>
                    </a:cubicBezTo>
                    <a:lnTo>
                      <a:pt x="1385212" y="1323651"/>
                    </a:lnTo>
                    <a:cubicBezTo>
                      <a:pt x="1385212" y="1357650"/>
                      <a:pt x="1357650" y="1385212"/>
                      <a:pt x="1323651" y="1385212"/>
                    </a:cubicBezTo>
                    <a:lnTo>
                      <a:pt x="61561" y="1385212"/>
                    </a:lnTo>
                    <a:cubicBezTo>
                      <a:pt x="27562" y="1385212"/>
                      <a:pt x="0" y="1357650"/>
                      <a:pt x="0" y="1323651"/>
                    </a:cubicBezTo>
                    <a:lnTo>
                      <a:pt x="0" y="61561"/>
                    </a:lnTo>
                    <a:cubicBezTo>
                      <a:pt x="0" y="27562"/>
                      <a:pt x="27562" y="0"/>
                      <a:pt x="61561" y="0"/>
                    </a:cubicBezTo>
                    <a:close/>
                  </a:path>
                </a:pathLst>
              </a:custGeom>
              <a:solidFill>
                <a:srgbClr val="000000">
                  <a:alpha val="0"/>
                </a:srgbClr>
              </a:solidFill>
              <a:ln w="19050" cap="rnd">
                <a:solidFill>
                  <a:srgbClr val="1B93B0"/>
                </a:solidFill>
                <a:prstDash val="solid"/>
                <a:round/>
              </a:ln>
            </p:spPr>
          </p:sp>
          <p:sp>
            <p:nvSpPr>
              <p:cNvPr name="TextBox 26" id="26"/>
              <p:cNvSpPr txBox="true"/>
              <p:nvPr/>
            </p:nvSpPr>
            <p:spPr>
              <a:xfrm>
                <a:off x="0" y="-38100"/>
                <a:ext cx="1385212" cy="1423312"/>
              </a:xfrm>
              <a:prstGeom prst="rect">
                <a:avLst/>
              </a:prstGeom>
            </p:spPr>
            <p:txBody>
              <a:bodyPr anchor="ctr" rtlCol="false" tIns="54256" lIns="54256" bIns="54256" rIns="54256"/>
              <a:lstStyle/>
              <a:p>
                <a:pPr algn="ctr">
                  <a:lnSpc>
                    <a:spcPts val="2660"/>
                  </a:lnSpc>
                </a:pPr>
              </a:p>
            </p:txBody>
          </p:sp>
        </p:grpSp>
        <p:sp>
          <p:nvSpPr>
            <p:cNvPr name="AutoShape 27" id="27"/>
            <p:cNvSpPr/>
            <p:nvPr/>
          </p:nvSpPr>
          <p:spPr>
            <a:xfrm>
              <a:off x="495259" y="7099320"/>
              <a:ext cx="7226089" cy="0"/>
            </a:xfrm>
            <a:prstGeom prst="line">
              <a:avLst/>
            </a:prstGeom>
            <a:ln cap="flat" w="21463">
              <a:solidFill>
                <a:srgbClr val="1B93B0"/>
              </a:solidFill>
              <a:prstDash val="solid"/>
              <a:headEnd type="none" len="sm" w="sm"/>
              <a:tailEnd type="none" len="sm" w="sm"/>
            </a:ln>
          </p:spPr>
        </p:sp>
        <p:sp>
          <p:nvSpPr>
            <p:cNvPr name="AutoShape 28" id="28"/>
            <p:cNvSpPr/>
            <p:nvPr/>
          </p:nvSpPr>
          <p:spPr>
            <a:xfrm>
              <a:off x="495259" y="1077580"/>
              <a:ext cx="7226089" cy="0"/>
            </a:xfrm>
            <a:prstGeom prst="line">
              <a:avLst/>
            </a:prstGeom>
            <a:ln cap="flat" w="21463">
              <a:solidFill>
                <a:srgbClr val="1B93B0"/>
              </a:solidFill>
              <a:prstDash val="solid"/>
              <a:headEnd type="none" len="sm" w="sm"/>
              <a:tailEnd type="none" len="sm" w="sm"/>
            </a:ln>
          </p:spPr>
        </p:sp>
        <p:sp>
          <p:nvSpPr>
            <p:cNvPr name="AutoShape 29" id="29"/>
            <p:cNvSpPr/>
            <p:nvPr/>
          </p:nvSpPr>
          <p:spPr>
            <a:xfrm flipV="true">
              <a:off x="4731684" y="480937"/>
              <a:ext cx="0" cy="7226089"/>
            </a:xfrm>
            <a:prstGeom prst="line">
              <a:avLst/>
            </a:prstGeom>
            <a:ln cap="flat" w="21463">
              <a:solidFill>
                <a:srgbClr val="1B93B0"/>
              </a:solidFill>
              <a:prstDash val="solid"/>
              <a:headEnd type="none" len="sm" w="sm"/>
              <a:tailEnd type="none" len="sm" w="sm"/>
            </a:ln>
          </p:spPr>
        </p:sp>
        <p:sp>
          <p:nvSpPr>
            <p:cNvPr name="AutoShape 30" id="30"/>
            <p:cNvSpPr/>
            <p:nvPr/>
          </p:nvSpPr>
          <p:spPr>
            <a:xfrm flipV="true">
              <a:off x="5327404" y="480937"/>
              <a:ext cx="0" cy="7226089"/>
            </a:xfrm>
            <a:prstGeom prst="line">
              <a:avLst/>
            </a:prstGeom>
            <a:ln cap="flat" w="21463">
              <a:solidFill>
                <a:srgbClr val="1B93B0"/>
              </a:solidFill>
              <a:prstDash val="solid"/>
              <a:headEnd type="none" len="sm" w="sm"/>
              <a:tailEnd type="none" len="sm" w="sm"/>
            </a:ln>
          </p:spPr>
        </p:sp>
        <p:sp>
          <p:nvSpPr>
            <p:cNvPr name="AutoShape 31" id="31"/>
            <p:cNvSpPr/>
            <p:nvPr/>
          </p:nvSpPr>
          <p:spPr>
            <a:xfrm flipV="true">
              <a:off x="5923124" y="480937"/>
              <a:ext cx="0" cy="7226089"/>
            </a:xfrm>
            <a:prstGeom prst="line">
              <a:avLst/>
            </a:prstGeom>
            <a:ln cap="flat" w="21463">
              <a:solidFill>
                <a:srgbClr val="1B93B0"/>
              </a:solidFill>
              <a:prstDash val="solid"/>
              <a:headEnd type="none" len="sm" w="sm"/>
              <a:tailEnd type="none" len="sm" w="sm"/>
            </a:ln>
          </p:spPr>
        </p:sp>
        <p:sp>
          <p:nvSpPr>
            <p:cNvPr name="AutoShape 32" id="32"/>
            <p:cNvSpPr/>
            <p:nvPr/>
          </p:nvSpPr>
          <p:spPr>
            <a:xfrm flipV="true">
              <a:off x="1697763" y="480937"/>
              <a:ext cx="0" cy="7226089"/>
            </a:xfrm>
            <a:prstGeom prst="line">
              <a:avLst/>
            </a:prstGeom>
            <a:ln cap="flat" w="21463">
              <a:solidFill>
                <a:srgbClr val="1B93B0"/>
              </a:solidFill>
              <a:prstDash val="solid"/>
              <a:headEnd type="none" len="sm" w="sm"/>
              <a:tailEnd type="none" len="sm" w="sm"/>
            </a:ln>
          </p:spPr>
        </p:sp>
        <p:sp>
          <p:nvSpPr>
            <p:cNvPr name="AutoShape 33" id="33"/>
            <p:cNvSpPr/>
            <p:nvPr/>
          </p:nvSpPr>
          <p:spPr>
            <a:xfrm flipV="true">
              <a:off x="2293483" y="480937"/>
              <a:ext cx="0" cy="7226089"/>
            </a:xfrm>
            <a:prstGeom prst="line">
              <a:avLst/>
            </a:prstGeom>
            <a:ln cap="flat" w="21463">
              <a:solidFill>
                <a:srgbClr val="1B93B0"/>
              </a:solidFill>
              <a:prstDash val="solid"/>
              <a:headEnd type="none" len="sm" w="sm"/>
              <a:tailEnd type="none" len="sm" w="sm"/>
            </a:ln>
          </p:spPr>
        </p:sp>
        <p:sp>
          <p:nvSpPr>
            <p:cNvPr name="AutoShape 34" id="34"/>
            <p:cNvSpPr/>
            <p:nvPr/>
          </p:nvSpPr>
          <p:spPr>
            <a:xfrm flipV="true">
              <a:off x="2889204" y="480937"/>
              <a:ext cx="0" cy="7226089"/>
            </a:xfrm>
            <a:prstGeom prst="line">
              <a:avLst/>
            </a:prstGeom>
            <a:ln cap="flat" w="21463">
              <a:solidFill>
                <a:srgbClr val="1B93B0"/>
              </a:solidFill>
              <a:prstDash val="solid"/>
              <a:headEnd type="none" len="sm" w="sm"/>
              <a:tailEnd type="none" len="sm" w="sm"/>
            </a:ln>
          </p:spPr>
        </p:sp>
        <p:sp>
          <p:nvSpPr>
            <p:cNvPr name="AutoShape 35" id="35"/>
            <p:cNvSpPr/>
            <p:nvPr/>
          </p:nvSpPr>
          <p:spPr>
            <a:xfrm flipV="true">
              <a:off x="3484924" y="480937"/>
              <a:ext cx="0" cy="7226089"/>
            </a:xfrm>
            <a:prstGeom prst="line">
              <a:avLst/>
            </a:prstGeom>
            <a:ln cap="flat" w="21463">
              <a:solidFill>
                <a:srgbClr val="1B93B0"/>
              </a:solidFill>
              <a:prstDash val="solid"/>
              <a:headEnd type="none" len="sm" w="sm"/>
              <a:tailEnd type="none" len="sm" w="sm"/>
            </a:ln>
          </p:spPr>
        </p:sp>
        <p:sp>
          <p:nvSpPr>
            <p:cNvPr name="AutoShape 36" id="36"/>
            <p:cNvSpPr/>
            <p:nvPr/>
          </p:nvSpPr>
          <p:spPr>
            <a:xfrm flipV="true">
              <a:off x="6518844" y="480937"/>
              <a:ext cx="0" cy="7226089"/>
            </a:xfrm>
            <a:prstGeom prst="line">
              <a:avLst/>
            </a:prstGeom>
            <a:ln cap="flat" w="21463">
              <a:solidFill>
                <a:srgbClr val="1B93B0"/>
              </a:solidFill>
              <a:prstDash val="solid"/>
              <a:headEnd type="none" len="sm" w="sm"/>
              <a:tailEnd type="none" len="sm" w="sm"/>
            </a:ln>
          </p:spPr>
        </p:sp>
        <p:sp>
          <p:nvSpPr>
            <p:cNvPr name="AutoShape 37" id="37"/>
            <p:cNvSpPr/>
            <p:nvPr/>
          </p:nvSpPr>
          <p:spPr>
            <a:xfrm flipV="true">
              <a:off x="7114564" y="480937"/>
              <a:ext cx="0" cy="7226089"/>
            </a:xfrm>
            <a:prstGeom prst="line">
              <a:avLst/>
            </a:prstGeom>
            <a:ln cap="flat" w="21463">
              <a:solidFill>
                <a:srgbClr val="1B93B0"/>
              </a:solidFill>
              <a:prstDash val="solid"/>
              <a:headEnd type="none" len="sm" w="sm"/>
              <a:tailEnd type="none" len="sm" w="sm"/>
            </a:ln>
          </p:spPr>
        </p:sp>
        <p:sp>
          <p:nvSpPr>
            <p:cNvPr name="AutoShape 38" id="38"/>
            <p:cNvSpPr/>
            <p:nvPr/>
          </p:nvSpPr>
          <p:spPr>
            <a:xfrm flipV="true">
              <a:off x="1102043" y="480937"/>
              <a:ext cx="0" cy="7226089"/>
            </a:xfrm>
            <a:prstGeom prst="line">
              <a:avLst/>
            </a:prstGeom>
            <a:ln cap="flat" w="21463">
              <a:solidFill>
                <a:srgbClr val="1B93B0"/>
              </a:solidFill>
              <a:prstDash val="solid"/>
              <a:headEnd type="none" len="sm" w="sm"/>
              <a:tailEnd type="none" len="sm" w="sm"/>
            </a:ln>
          </p:spPr>
        </p:sp>
        <p:sp>
          <p:nvSpPr>
            <p:cNvPr name="AutoShape 39" id="39"/>
            <p:cNvSpPr/>
            <p:nvPr/>
          </p:nvSpPr>
          <p:spPr>
            <a:xfrm flipV="true">
              <a:off x="4108304" y="0"/>
              <a:ext cx="0" cy="8187964"/>
            </a:xfrm>
            <a:prstGeom prst="line">
              <a:avLst/>
            </a:prstGeom>
            <a:ln cap="flat" w="75119">
              <a:solidFill>
                <a:srgbClr val="A3DFFF"/>
              </a:solidFill>
              <a:prstDash val="solid"/>
              <a:headEnd type="arrow" len="sm" w="med"/>
              <a:tailEnd type="arrow" len="sm" w="med"/>
            </a:ln>
          </p:spPr>
        </p:sp>
        <p:sp>
          <p:nvSpPr>
            <p:cNvPr name="AutoShape 40" id="40"/>
            <p:cNvSpPr/>
            <p:nvPr/>
          </p:nvSpPr>
          <p:spPr>
            <a:xfrm flipH="true">
              <a:off x="0" y="4088450"/>
              <a:ext cx="8216608" cy="0"/>
            </a:xfrm>
            <a:prstGeom prst="line">
              <a:avLst/>
            </a:prstGeom>
            <a:ln cap="flat" w="64388">
              <a:solidFill>
                <a:srgbClr val="A3DFFF"/>
              </a:solidFill>
              <a:prstDash val="solid"/>
              <a:headEnd type="arrow" len="sm" w="med"/>
              <a:tailEnd type="arrow" len="sm" w="med"/>
            </a:ln>
          </p:spPr>
        </p:sp>
      </p:grpSp>
      <p:sp>
        <p:nvSpPr>
          <p:cNvPr name="AutoShape 41" id="41"/>
          <p:cNvSpPr/>
          <p:nvPr/>
        </p:nvSpPr>
        <p:spPr>
          <a:xfrm flipV="true">
            <a:off x="12662898" y="4924440"/>
            <a:ext cx="3370917" cy="2867444"/>
          </a:xfrm>
          <a:prstGeom prst="line">
            <a:avLst/>
          </a:prstGeom>
          <a:ln cap="flat" w="104775">
            <a:solidFill>
              <a:srgbClr val="FF9C00"/>
            </a:solidFill>
            <a:prstDash val="solid"/>
            <a:headEnd type="arrow" len="sm" w="med"/>
            <a:tailEnd type="arrow" len="sm" w="med"/>
          </a:ln>
        </p:spPr>
      </p:sp>
      <p:sp>
        <p:nvSpPr>
          <p:cNvPr name="AutoShape 42" id="42"/>
          <p:cNvSpPr/>
          <p:nvPr/>
        </p:nvSpPr>
        <p:spPr>
          <a:xfrm flipH="true" flipV="true">
            <a:off x="13033095" y="4998972"/>
            <a:ext cx="3216631" cy="3216631"/>
          </a:xfrm>
          <a:prstGeom prst="line">
            <a:avLst/>
          </a:prstGeom>
          <a:ln cap="flat" w="104775">
            <a:solidFill>
              <a:srgbClr val="FF9C00"/>
            </a:solidFill>
            <a:prstDash val="solid"/>
            <a:headEnd type="arrow" len="sm" w="med"/>
            <a:tailEnd type="arrow" len="sm" w="med"/>
          </a:ln>
        </p:spPr>
      </p:sp>
      <p:grpSp>
        <p:nvGrpSpPr>
          <p:cNvPr name="Group 43" id="43"/>
          <p:cNvGrpSpPr/>
          <p:nvPr/>
        </p:nvGrpSpPr>
        <p:grpSpPr>
          <a:xfrm rot="0">
            <a:off x="14220906" y="6166164"/>
            <a:ext cx="291210" cy="291210"/>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5" id="4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LINEAR TRANSFORMATIONS</a:t>
              </a:r>
            </a:p>
          </p:txBody>
        </p:sp>
      </p:grpSp>
      <p:grpSp>
        <p:nvGrpSpPr>
          <p:cNvPr name="Group 16" id="16"/>
          <p:cNvGrpSpPr/>
          <p:nvPr/>
        </p:nvGrpSpPr>
        <p:grpSpPr>
          <a:xfrm rot="0">
            <a:off x="749529" y="2203669"/>
            <a:ext cx="6458209" cy="3235048"/>
            <a:chOff x="0" y="0"/>
            <a:chExt cx="661532" cy="331375"/>
          </a:xfrm>
        </p:grpSpPr>
        <p:sp>
          <p:nvSpPr>
            <p:cNvPr name="Freeform 17" id="17"/>
            <p:cNvSpPr/>
            <p:nvPr/>
          </p:nvSpPr>
          <p:spPr>
            <a:xfrm flipH="false" flipV="false" rot="0">
              <a:off x="0" y="0"/>
              <a:ext cx="661532" cy="331375"/>
            </a:xfrm>
            <a:custGeom>
              <a:avLst/>
              <a:gdLst/>
              <a:ahLst/>
              <a:cxnLst/>
              <a:rect r="r" b="b" t="t" l="l"/>
              <a:pathLst>
                <a:path h="331375" w="661532">
                  <a:moveTo>
                    <a:pt x="46752" y="0"/>
                  </a:moveTo>
                  <a:lnTo>
                    <a:pt x="614780" y="0"/>
                  </a:lnTo>
                  <a:cubicBezTo>
                    <a:pt x="640601" y="0"/>
                    <a:pt x="661532" y="20932"/>
                    <a:pt x="661532" y="46752"/>
                  </a:cubicBezTo>
                  <a:lnTo>
                    <a:pt x="661532" y="284623"/>
                  </a:lnTo>
                  <a:cubicBezTo>
                    <a:pt x="661532" y="310443"/>
                    <a:pt x="640601" y="331375"/>
                    <a:pt x="614780" y="331375"/>
                  </a:cubicBezTo>
                  <a:lnTo>
                    <a:pt x="46752" y="331375"/>
                  </a:lnTo>
                  <a:cubicBezTo>
                    <a:pt x="20932" y="331375"/>
                    <a:pt x="0" y="310443"/>
                    <a:pt x="0" y="284623"/>
                  </a:cubicBezTo>
                  <a:lnTo>
                    <a:pt x="0" y="46752"/>
                  </a:lnTo>
                  <a:cubicBezTo>
                    <a:pt x="0" y="20932"/>
                    <a:pt x="20932" y="0"/>
                    <a:pt x="46752" y="0"/>
                  </a:cubicBezTo>
                  <a:close/>
                </a:path>
              </a:pathLst>
            </a:custGeom>
            <a:solidFill>
              <a:srgbClr val="F8F3E6"/>
            </a:solidFill>
            <a:ln cap="rnd">
              <a:noFill/>
              <a:prstDash val="solid"/>
              <a:round/>
            </a:ln>
          </p:spPr>
        </p:sp>
        <p:sp>
          <p:nvSpPr>
            <p:cNvPr name="TextBox 18" id="18"/>
            <p:cNvSpPr txBox="true"/>
            <p:nvPr/>
          </p:nvSpPr>
          <p:spPr>
            <a:xfrm>
              <a:off x="0" y="-38100"/>
              <a:ext cx="661532" cy="369475"/>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749529" y="6407091"/>
            <a:ext cx="9423554" cy="3571347"/>
            <a:chOff x="0" y="0"/>
            <a:chExt cx="965281" cy="365823"/>
          </a:xfrm>
        </p:grpSpPr>
        <p:sp>
          <p:nvSpPr>
            <p:cNvPr name="Freeform 20" id="20"/>
            <p:cNvSpPr/>
            <p:nvPr/>
          </p:nvSpPr>
          <p:spPr>
            <a:xfrm flipH="false" flipV="false" rot="0">
              <a:off x="0" y="0"/>
              <a:ext cx="965281" cy="365823"/>
            </a:xfrm>
            <a:custGeom>
              <a:avLst/>
              <a:gdLst/>
              <a:ahLst/>
              <a:cxnLst/>
              <a:rect r="r" b="b" t="t" l="l"/>
              <a:pathLst>
                <a:path h="365823" w="965281">
                  <a:moveTo>
                    <a:pt x="32040" y="0"/>
                  </a:moveTo>
                  <a:lnTo>
                    <a:pt x="933240" y="0"/>
                  </a:lnTo>
                  <a:cubicBezTo>
                    <a:pt x="941738" y="0"/>
                    <a:pt x="949888" y="3376"/>
                    <a:pt x="955896" y="9384"/>
                  </a:cubicBezTo>
                  <a:cubicBezTo>
                    <a:pt x="961905" y="15393"/>
                    <a:pt x="965281" y="23543"/>
                    <a:pt x="965281" y="32040"/>
                  </a:cubicBezTo>
                  <a:lnTo>
                    <a:pt x="965281" y="333783"/>
                  </a:lnTo>
                  <a:cubicBezTo>
                    <a:pt x="965281" y="351478"/>
                    <a:pt x="950936" y="365823"/>
                    <a:pt x="933240" y="365823"/>
                  </a:cubicBezTo>
                  <a:lnTo>
                    <a:pt x="32040" y="365823"/>
                  </a:lnTo>
                  <a:cubicBezTo>
                    <a:pt x="23543" y="365823"/>
                    <a:pt x="15393" y="362447"/>
                    <a:pt x="9384" y="356439"/>
                  </a:cubicBezTo>
                  <a:cubicBezTo>
                    <a:pt x="3376" y="350430"/>
                    <a:pt x="0" y="342280"/>
                    <a:pt x="0" y="333783"/>
                  </a:cubicBezTo>
                  <a:lnTo>
                    <a:pt x="0" y="32040"/>
                  </a:lnTo>
                  <a:cubicBezTo>
                    <a:pt x="0" y="14345"/>
                    <a:pt x="14345" y="0"/>
                    <a:pt x="32040" y="0"/>
                  </a:cubicBezTo>
                  <a:close/>
                </a:path>
              </a:pathLst>
            </a:custGeom>
            <a:solidFill>
              <a:srgbClr val="F8F3E6"/>
            </a:solidFill>
            <a:ln cap="rnd">
              <a:noFill/>
              <a:prstDash val="solid"/>
              <a:round/>
            </a:ln>
          </p:spPr>
        </p:sp>
        <p:sp>
          <p:nvSpPr>
            <p:cNvPr name="TextBox 21" id="21"/>
            <p:cNvSpPr txBox="true"/>
            <p:nvPr/>
          </p:nvSpPr>
          <p:spPr>
            <a:xfrm>
              <a:off x="0" y="-38100"/>
              <a:ext cx="965281" cy="403923"/>
            </a:xfrm>
            <a:prstGeom prst="rect">
              <a:avLst/>
            </a:prstGeom>
          </p:spPr>
          <p:txBody>
            <a:bodyPr anchor="ctr" rtlCol="false" tIns="50800" lIns="50800" bIns="50800" rIns="50800"/>
            <a:lstStyle/>
            <a:p>
              <a:pPr algn="ctr" marL="0" indent="0" lvl="0">
                <a:lnSpc>
                  <a:spcPts val="3359"/>
                </a:lnSpc>
                <a:spcBef>
                  <a:spcPct val="0"/>
                </a:spcBef>
              </a:pPr>
            </a:p>
          </p:txBody>
        </p:sp>
      </p:grpSp>
      <p:graphicFrame>
        <p:nvGraphicFramePr>
          <p:cNvPr name="Object 22" id="22"/>
          <p:cNvGraphicFramePr/>
          <p:nvPr/>
        </p:nvGraphicFramePr>
        <p:xfrm>
          <a:off x="1063948" y="6630087"/>
          <a:ext cx="5657850" cy="2514600"/>
        </p:xfrm>
        <a:graphic>
          <a:graphicData uri="http://schemas.openxmlformats.org/presentationml/2006/ole">
            <p:oleObj imgW="6781800" imgH="3644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grpSp>
        <p:nvGrpSpPr>
          <p:cNvPr name="Group 23" id="23"/>
          <p:cNvGrpSpPr/>
          <p:nvPr/>
        </p:nvGrpSpPr>
        <p:grpSpPr>
          <a:xfrm rot="0">
            <a:off x="10441091" y="6407091"/>
            <a:ext cx="7135184" cy="3571347"/>
            <a:chOff x="0" y="0"/>
            <a:chExt cx="730877" cy="365823"/>
          </a:xfrm>
        </p:grpSpPr>
        <p:sp>
          <p:nvSpPr>
            <p:cNvPr name="Freeform 24" id="24"/>
            <p:cNvSpPr/>
            <p:nvPr/>
          </p:nvSpPr>
          <p:spPr>
            <a:xfrm flipH="false" flipV="false" rot="0">
              <a:off x="0" y="0"/>
              <a:ext cx="730877" cy="365823"/>
            </a:xfrm>
            <a:custGeom>
              <a:avLst/>
              <a:gdLst/>
              <a:ahLst/>
              <a:cxnLst/>
              <a:rect r="r" b="b" t="t" l="l"/>
              <a:pathLst>
                <a:path h="365823" w="730877">
                  <a:moveTo>
                    <a:pt x="42316" y="0"/>
                  </a:moveTo>
                  <a:lnTo>
                    <a:pt x="688560" y="0"/>
                  </a:lnTo>
                  <a:cubicBezTo>
                    <a:pt x="699783" y="0"/>
                    <a:pt x="710547" y="4458"/>
                    <a:pt x="718483" y="12394"/>
                  </a:cubicBezTo>
                  <a:cubicBezTo>
                    <a:pt x="726418" y="20330"/>
                    <a:pt x="730877" y="31093"/>
                    <a:pt x="730877" y="42316"/>
                  </a:cubicBezTo>
                  <a:lnTo>
                    <a:pt x="730877" y="323507"/>
                  </a:lnTo>
                  <a:cubicBezTo>
                    <a:pt x="730877" y="346877"/>
                    <a:pt x="711931" y="365823"/>
                    <a:pt x="688560" y="365823"/>
                  </a:cubicBezTo>
                  <a:lnTo>
                    <a:pt x="42316" y="365823"/>
                  </a:lnTo>
                  <a:cubicBezTo>
                    <a:pt x="31093" y="365823"/>
                    <a:pt x="20330" y="361365"/>
                    <a:pt x="12394" y="353429"/>
                  </a:cubicBezTo>
                  <a:cubicBezTo>
                    <a:pt x="4458" y="345493"/>
                    <a:pt x="0" y="334730"/>
                    <a:pt x="0" y="323507"/>
                  </a:cubicBezTo>
                  <a:lnTo>
                    <a:pt x="0" y="42316"/>
                  </a:lnTo>
                  <a:cubicBezTo>
                    <a:pt x="0" y="31093"/>
                    <a:pt x="4458" y="20330"/>
                    <a:pt x="12394" y="12394"/>
                  </a:cubicBezTo>
                  <a:cubicBezTo>
                    <a:pt x="20330" y="4458"/>
                    <a:pt x="31093" y="0"/>
                    <a:pt x="42316" y="0"/>
                  </a:cubicBezTo>
                  <a:close/>
                </a:path>
              </a:pathLst>
            </a:custGeom>
            <a:solidFill>
              <a:srgbClr val="F8F3E6"/>
            </a:solidFill>
            <a:ln cap="rnd">
              <a:noFill/>
              <a:prstDash val="solid"/>
              <a:round/>
            </a:ln>
          </p:spPr>
        </p:sp>
        <p:sp>
          <p:nvSpPr>
            <p:cNvPr name="TextBox 25" id="25"/>
            <p:cNvSpPr txBox="true"/>
            <p:nvPr/>
          </p:nvSpPr>
          <p:spPr>
            <a:xfrm>
              <a:off x="0" y="-38100"/>
              <a:ext cx="730877" cy="4039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26" id="26"/>
          <p:cNvSpPr/>
          <p:nvPr/>
        </p:nvSpPr>
        <p:spPr>
          <a:xfrm flipH="false" flipV="false" rot="0">
            <a:off x="12503055" y="6630087"/>
            <a:ext cx="3011255" cy="1562678"/>
          </a:xfrm>
          <a:custGeom>
            <a:avLst/>
            <a:gdLst/>
            <a:ahLst/>
            <a:cxnLst/>
            <a:rect r="r" b="b" t="t" l="l"/>
            <a:pathLst>
              <a:path h="1562678" w="3011255">
                <a:moveTo>
                  <a:pt x="0" y="0"/>
                </a:moveTo>
                <a:lnTo>
                  <a:pt x="3011255" y="0"/>
                </a:lnTo>
                <a:lnTo>
                  <a:pt x="3011255" y="1562678"/>
                </a:lnTo>
                <a:lnTo>
                  <a:pt x="0" y="1562678"/>
                </a:lnTo>
                <a:lnTo>
                  <a:pt x="0" y="0"/>
                </a:lnTo>
                <a:close/>
              </a:path>
            </a:pathLst>
          </a:custGeom>
          <a:blipFill>
            <a:blip r:embed="rId9"/>
            <a:stretch>
              <a:fillRect l="0" t="0" r="0" b="0"/>
            </a:stretch>
          </a:blipFill>
        </p:spPr>
      </p:sp>
      <p:sp>
        <p:nvSpPr>
          <p:cNvPr name="TextBox 27" id="27"/>
          <p:cNvSpPr txBox="true"/>
          <p:nvPr/>
        </p:nvSpPr>
        <p:spPr>
          <a:xfrm rot="0">
            <a:off x="358910" y="1435319"/>
            <a:ext cx="8567319"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Matrix as Linear Function</a:t>
            </a:r>
          </a:p>
        </p:txBody>
      </p:sp>
      <p:sp>
        <p:nvSpPr>
          <p:cNvPr name="TextBox 28" id="28"/>
          <p:cNvSpPr txBox="true"/>
          <p:nvPr/>
        </p:nvSpPr>
        <p:spPr>
          <a:xfrm rot="0">
            <a:off x="889191" y="2426796"/>
            <a:ext cx="5783752" cy="629031"/>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Matrix multiplication i</a:t>
            </a:r>
            <a:r>
              <a:rPr lang="en-US" b="true" sz="2400" strike="noStrike" u="none">
                <a:solidFill>
                  <a:srgbClr val="042560"/>
                </a:solidFill>
                <a:latin typeface="Poppins Bold"/>
                <a:ea typeface="Poppins Bold"/>
                <a:cs typeface="Poppins Bold"/>
                <a:sym typeface="Poppins Bold"/>
              </a:rPr>
              <a:t>tself is a linear transformation:</a:t>
            </a:r>
          </a:p>
        </p:txBody>
      </p:sp>
      <p:sp>
        <p:nvSpPr>
          <p:cNvPr name="TextBox 29" id="29"/>
          <p:cNvSpPr txBox="true"/>
          <p:nvPr/>
        </p:nvSpPr>
        <p:spPr>
          <a:xfrm rot="0">
            <a:off x="2991241" y="3160602"/>
            <a:ext cx="1746093" cy="417195"/>
          </a:xfrm>
          <a:prstGeom prst="rect">
            <a:avLst/>
          </a:prstGeom>
        </p:spPr>
        <p:txBody>
          <a:bodyPr anchor="t" rtlCol="false" tIns="0" lIns="0" bIns="0" rIns="0">
            <a:spAutoFit/>
          </a:bodyPr>
          <a:lstStyle/>
          <a:p>
            <a:pPr algn="l">
              <a:lnSpc>
                <a:spcPts val="2940"/>
              </a:lnSpc>
            </a:pPr>
            <a:r>
              <a:rPr lang="en-US" b="true" sz="3000">
                <a:solidFill>
                  <a:srgbClr val="042560"/>
                </a:solidFill>
                <a:latin typeface="Poppins Bold"/>
                <a:ea typeface="Poppins Bold"/>
                <a:cs typeface="Poppins Bold"/>
                <a:sym typeface="Poppins Bold"/>
              </a:rPr>
              <a:t>F(x)=A⋅x</a:t>
            </a:r>
          </a:p>
        </p:txBody>
      </p:sp>
      <p:sp>
        <p:nvSpPr>
          <p:cNvPr name="TextBox 30" id="30"/>
          <p:cNvSpPr txBox="true"/>
          <p:nvPr/>
        </p:nvSpPr>
        <p:spPr>
          <a:xfrm rot="0">
            <a:off x="927181" y="3746565"/>
            <a:ext cx="5783752" cy="151485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A: m×n matrix</a:t>
            </a:r>
          </a:p>
          <a:p>
            <a:pPr algn="l">
              <a:lnSpc>
                <a:spcPts val="2352"/>
              </a:lnSpc>
            </a:pPr>
          </a:p>
          <a:p>
            <a:pPr algn="l">
              <a:lnSpc>
                <a:spcPts val="2352"/>
              </a:lnSpc>
            </a:pPr>
            <a:r>
              <a:rPr lang="en-US" sz="2400" b="true">
                <a:solidFill>
                  <a:srgbClr val="042560"/>
                </a:solidFill>
                <a:latin typeface="Poppins Bold"/>
                <a:ea typeface="Poppins Bold"/>
                <a:cs typeface="Poppins Bold"/>
                <a:sym typeface="Poppins Bold"/>
              </a:rPr>
              <a:t>x: n×1 vector</a:t>
            </a:r>
          </a:p>
          <a:p>
            <a:pPr algn="l">
              <a:lnSpc>
                <a:spcPts val="2352"/>
              </a:lnSpc>
            </a:pPr>
          </a:p>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Re</a:t>
            </a:r>
            <a:r>
              <a:rPr lang="en-US" b="true" sz="2400" strike="noStrike" u="none">
                <a:solidFill>
                  <a:srgbClr val="042560"/>
                </a:solidFill>
                <a:latin typeface="Poppins Bold"/>
                <a:ea typeface="Poppins Bold"/>
                <a:cs typeface="Poppins Bold"/>
                <a:sym typeface="Poppins Bold"/>
              </a:rPr>
              <a:t>sult F(x): m×1 vector</a:t>
            </a:r>
          </a:p>
        </p:txBody>
      </p:sp>
      <p:sp>
        <p:nvSpPr>
          <p:cNvPr name="TextBox 31" id="31"/>
          <p:cNvSpPr txBox="true"/>
          <p:nvPr/>
        </p:nvSpPr>
        <p:spPr>
          <a:xfrm rot="0">
            <a:off x="358910" y="5638741"/>
            <a:ext cx="10404709"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Domain, Range, and Null Space</a:t>
            </a:r>
          </a:p>
        </p:txBody>
      </p:sp>
      <p:sp>
        <p:nvSpPr>
          <p:cNvPr name="TextBox 32" id="32"/>
          <p:cNvSpPr txBox="true"/>
          <p:nvPr/>
        </p:nvSpPr>
        <p:spPr>
          <a:xfrm rot="0">
            <a:off x="10763619" y="6658662"/>
            <a:ext cx="5783752" cy="33375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L</a:t>
            </a:r>
            <a:r>
              <a:rPr lang="en-US" b="true" sz="2400" strike="noStrike" u="none">
                <a:solidFill>
                  <a:srgbClr val="042560"/>
                </a:solidFill>
                <a:latin typeface="Poppins Bold"/>
                <a:ea typeface="Poppins Bold"/>
                <a:cs typeface="Poppins Bold"/>
                <a:sym typeface="Poppins Bold"/>
              </a:rPr>
              <a:t>et</a:t>
            </a:r>
          </a:p>
        </p:txBody>
      </p:sp>
      <p:sp>
        <p:nvSpPr>
          <p:cNvPr name="TextBox 33" id="33"/>
          <p:cNvSpPr txBox="true"/>
          <p:nvPr/>
        </p:nvSpPr>
        <p:spPr>
          <a:xfrm rot="0">
            <a:off x="10763619" y="8221340"/>
            <a:ext cx="5783752" cy="1514856"/>
          </a:xfrm>
          <a:prstGeom prst="rect">
            <a:avLst/>
          </a:prstGeom>
        </p:spPr>
        <p:txBody>
          <a:bodyPr anchor="t" rtlCol="false" tIns="0" lIns="0" bIns="0" rIns="0">
            <a:spAutoFit/>
          </a:bodyPr>
          <a:lstStyle/>
          <a:p>
            <a:pPr algn="l">
              <a:lnSpc>
                <a:spcPts val="2352"/>
              </a:lnSpc>
            </a:pPr>
            <a:r>
              <a:rPr lang="en-US" sz="2400" b="true">
                <a:solidFill>
                  <a:srgbClr val="042560"/>
                </a:solidFill>
                <a:latin typeface="Poppins Bold"/>
                <a:ea typeface="Poppins Bold"/>
                <a:cs typeface="Poppins Bold"/>
                <a:sym typeface="Poppins Bold"/>
              </a:rPr>
              <a:t>Domain: ℝ³</a:t>
            </a:r>
          </a:p>
          <a:p>
            <a:pPr algn="l">
              <a:lnSpc>
                <a:spcPts val="2352"/>
              </a:lnSpc>
            </a:pPr>
          </a:p>
          <a:p>
            <a:pPr algn="l">
              <a:lnSpc>
                <a:spcPts val="2352"/>
              </a:lnSpc>
            </a:pPr>
            <a:r>
              <a:rPr lang="en-US" sz="2400" b="true">
                <a:solidFill>
                  <a:srgbClr val="042560"/>
                </a:solidFill>
                <a:latin typeface="Poppins Bold"/>
                <a:ea typeface="Poppins Bold"/>
                <a:cs typeface="Poppins Bold"/>
                <a:sym typeface="Poppins Bold"/>
              </a:rPr>
              <a:t>Range: x–y plane (z=0)</a:t>
            </a:r>
          </a:p>
          <a:p>
            <a:pPr algn="l">
              <a:lnSpc>
                <a:spcPts val="2352"/>
              </a:lnSpc>
            </a:pPr>
          </a:p>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Null spac</a:t>
            </a:r>
            <a:r>
              <a:rPr lang="en-US" b="true" sz="2400" strike="noStrike" u="none">
                <a:solidFill>
                  <a:srgbClr val="042560"/>
                </a:solidFill>
                <a:latin typeface="Poppins Bold"/>
                <a:ea typeface="Poppins Bold"/>
                <a:cs typeface="Poppins Bold"/>
                <a:sym typeface="Poppins Bold"/>
              </a:rPr>
              <a:t>e: z-axis (all [0,0,z])</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11730047" y="3788739"/>
            <a:ext cx="6162456" cy="6140973"/>
            <a:chOff x="0" y="0"/>
            <a:chExt cx="8216608" cy="8187964"/>
          </a:xfrm>
        </p:grpSpPr>
        <p:sp>
          <p:nvSpPr>
            <p:cNvPr name="AutoShape 12" id="12"/>
            <p:cNvSpPr/>
            <p:nvPr/>
          </p:nvSpPr>
          <p:spPr>
            <a:xfrm>
              <a:off x="495259" y="4712752"/>
              <a:ext cx="7226089" cy="0"/>
            </a:xfrm>
            <a:prstGeom prst="line">
              <a:avLst/>
            </a:prstGeom>
            <a:ln cap="flat" w="21463">
              <a:solidFill>
                <a:srgbClr val="1B93B0"/>
              </a:solidFill>
              <a:prstDash val="solid"/>
              <a:headEnd type="none" len="sm" w="sm"/>
              <a:tailEnd type="none" len="sm" w="sm"/>
            </a:ln>
          </p:spPr>
        </p:sp>
        <p:sp>
          <p:nvSpPr>
            <p:cNvPr name="AutoShape 13" id="13"/>
            <p:cNvSpPr/>
            <p:nvPr/>
          </p:nvSpPr>
          <p:spPr>
            <a:xfrm>
              <a:off x="495259" y="5309394"/>
              <a:ext cx="7226089" cy="0"/>
            </a:xfrm>
            <a:prstGeom prst="line">
              <a:avLst/>
            </a:prstGeom>
            <a:ln cap="flat" w="21463">
              <a:solidFill>
                <a:srgbClr val="1B93B0"/>
              </a:solidFill>
              <a:prstDash val="solid"/>
              <a:headEnd type="none" len="sm" w="sm"/>
              <a:tailEnd type="none" len="sm" w="sm"/>
            </a:ln>
          </p:spPr>
        </p:sp>
        <p:sp>
          <p:nvSpPr>
            <p:cNvPr name="AutoShape 14" id="14"/>
            <p:cNvSpPr/>
            <p:nvPr/>
          </p:nvSpPr>
          <p:spPr>
            <a:xfrm>
              <a:off x="495259" y="5906036"/>
              <a:ext cx="7226089" cy="0"/>
            </a:xfrm>
            <a:prstGeom prst="line">
              <a:avLst/>
            </a:prstGeom>
            <a:ln cap="flat" w="21463">
              <a:solidFill>
                <a:srgbClr val="1B93B0"/>
              </a:solidFill>
              <a:prstDash val="solid"/>
              <a:headEnd type="none" len="sm" w="sm"/>
              <a:tailEnd type="none" len="sm" w="sm"/>
            </a:ln>
          </p:spPr>
        </p:sp>
        <p:sp>
          <p:nvSpPr>
            <p:cNvPr name="AutoShape 15" id="15"/>
            <p:cNvSpPr/>
            <p:nvPr/>
          </p:nvSpPr>
          <p:spPr>
            <a:xfrm>
              <a:off x="495259" y="1674222"/>
              <a:ext cx="7226089" cy="0"/>
            </a:xfrm>
            <a:prstGeom prst="line">
              <a:avLst/>
            </a:prstGeom>
            <a:ln cap="flat" w="21463">
              <a:solidFill>
                <a:srgbClr val="1B93B0"/>
              </a:solidFill>
              <a:prstDash val="solid"/>
              <a:headEnd type="none" len="sm" w="sm"/>
              <a:tailEnd type="none" len="sm" w="sm"/>
            </a:ln>
          </p:spPr>
        </p:sp>
        <p:sp>
          <p:nvSpPr>
            <p:cNvPr name="AutoShape 16" id="16"/>
            <p:cNvSpPr/>
            <p:nvPr/>
          </p:nvSpPr>
          <p:spPr>
            <a:xfrm>
              <a:off x="495259" y="2270864"/>
              <a:ext cx="7226089" cy="0"/>
            </a:xfrm>
            <a:prstGeom prst="line">
              <a:avLst/>
            </a:prstGeom>
            <a:ln cap="flat" w="21463">
              <a:solidFill>
                <a:srgbClr val="1B93B0"/>
              </a:solidFill>
              <a:prstDash val="solid"/>
              <a:headEnd type="none" len="sm" w="sm"/>
              <a:tailEnd type="none" len="sm" w="sm"/>
            </a:ln>
          </p:spPr>
        </p:sp>
        <p:sp>
          <p:nvSpPr>
            <p:cNvPr name="AutoShape 17" id="17"/>
            <p:cNvSpPr/>
            <p:nvPr/>
          </p:nvSpPr>
          <p:spPr>
            <a:xfrm>
              <a:off x="495259" y="2867506"/>
              <a:ext cx="7226089" cy="0"/>
            </a:xfrm>
            <a:prstGeom prst="line">
              <a:avLst/>
            </a:prstGeom>
            <a:ln cap="flat" w="21463">
              <a:solidFill>
                <a:srgbClr val="1B93B0"/>
              </a:solidFill>
              <a:prstDash val="solid"/>
              <a:headEnd type="none" len="sm" w="sm"/>
              <a:tailEnd type="none" len="sm" w="sm"/>
            </a:ln>
          </p:spPr>
        </p:sp>
        <p:sp>
          <p:nvSpPr>
            <p:cNvPr name="AutoShape 18" id="18"/>
            <p:cNvSpPr/>
            <p:nvPr/>
          </p:nvSpPr>
          <p:spPr>
            <a:xfrm>
              <a:off x="495259" y="3464148"/>
              <a:ext cx="7226089" cy="0"/>
            </a:xfrm>
            <a:prstGeom prst="line">
              <a:avLst/>
            </a:prstGeom>
            <a:ln cap="flat" w="21463">
              <a:solidFill>
                <a:srgbClr val="1B93B0"/>
              </a:solidFill>
              <a:prstDash val="solid"/>
              <a:headEnd type="none" len="sm" w="sm"/>
              <a:tailEnd type="none" len="sm" w="sm"/>
            </a:ln>
          </p:spPr>
        </p:sp>
        <p:sp>
          <p:nvSpPr>
            <p:cNvPr name="AutoShape 19" id="19"/>
            <p:cNvSpPr/>
            <p:nvPr/>
          </p:nvSpPr>
          <p:spPr>
            <a:xfrm>
              <a:off x="495259" y="6502678"/>
              <a:ext cx="7226089" cy="0"/>
            </a:xfrm>
            <a:prstGeom prst="line">
              <a:avLst/>
            </a:prstGeom>
            <a:ln cap="flat" w="21463">
              <a:solidFill>
                <a:srgbClr val="1B93B0"/>
              </a:solidFill>
              <a:prstDash val="solid"/>
              <a:headEnd type="none" len="sm" w="sm"/>
              <a:tailEnd type="none" len="sm" w="sm"/>
            </a:ln>
          </p:spPr>
        </p:sp>
        <p:grpSp>
          <p:nvGrpSpPr>
            <p:cNvPr name="Group 20" id="20"/>
            <p:cNvGrpSpPr/>
            <p:nvPr/>
          </p:nvGrpSpPr>
          <p:grpSpPr>
            <a:xfrm rot="0">
              <a:off x="495259" y="480937"/>
              <a:ext cx="7226089" cy="7226089"/>
              <a:chOff x="0" y="0"/>
              <a:chExt cx="1385212" cy="1385212"/>
            </a:xfrm>
          </p:grpSpPr>
          <p:sp>
            <p:nvSpPr>
              <p:cNvPr name="Freeform 21" id="21"/>
              <p:cNvSpPr/>
              <p:nvPr/>
            </p:nvSpPr>
            <p:spPr>
              <a:xfrm flipH="false" flipV="false" rot="0">
                <a:off x="0" y="0"/>
                <a:ext cx="1385212" cy="1385212"/>
              </a:xfrm>
              <a:custGeom>
                <a:avLst/>
                <a:gdLst/>
                <a:ahLst/>
                <a:cxnLst/>
                <a:rect r="r" b="b" t="t" l="l"/>
                <a:pathLst>
                  <a:path h="1385212" w="1385212">
                    <a:moveTo>
                      <a:pt x="61561" y="0"/>
                    </a:moveTo>
                    <a:lnTo>
                      <a:pt x="1323651" y="0"/>
                    </a:lnTo>
                    <a:cubicBezTo>
                      <a:pt x="1357650" y="0"/>
                      <a:pt x="1385212" y="27562"/>
                      <a:pt x="1385212" y="61561"/>
                    </a:cubicBezTo>
                    <a:lnTo>
                      <a:pt x="1385212" y="1323651"/>
                    </a:lnTo>
                    <a:cubicBezTo>
                      <a:pt x="1385212" y="1357650"/>
                      <a:pt x="1357650" y="1385212"/>
                      <a:pt x="1323651" y="1385212"/>
                    </a:cubicBezTo>
                    <a:lnTo>
                      <a:pt x="61561" y="1385212"/>
                    </a:lnTo>
                    <a:cubicBezTo>
                      <a:pt x="27562" y="1385212"/>
                      <a:pt x="0" y="1357650"/>
                      <a:pt x="0" y="1323651"/>
                    </a:cubicBezTo>
                    <a:lnTo>
                      <a:pt x="0" y="61561"/>
                    </a:lnTo>
                    <a:cubicBezTo>
                      <a:pt x="0" y="27562"/>
                      <a:pt x="27562" y="0"/>
                      <a:pt x="61561" y="0"/>
                    </a:cubicBezTo>
                    <a:close/>
                  </a:path>
                </a:pathLst>
              </a:custGeom>
              <a:solidFill>
                <a:srgbClr val="000000">
                  <a:alpha val="0"/>
                </a:srgbClr>
              </a:solidFill>
              <a:ln w="19050" cap="rnd">
                <a:solidFill>
                  <a:srgbClr val="1B93B0"/>
                </a:solidFill>
                <a:prstDash val="solid"/>
                <a:round/>
              </a:ln>
            </p:spPr>
          </p:sp>
          <p:sp>
            <p:nvSpPr>
              <p:cNvPr name="TextBox 22" id="22"/>
              <p:cNvSpPr txBox="true"/>
              <p:nvPr/>
            </p:nvSpPr>
            <p:spPr>
              <a:xfrm>
                <a:off x="0" y="-38100"/>
                <a:ext cx="1385212" cy="1423312"/>
              </a:xfrm>
              <a:prstGeom prst="rect">
                <a:avLst/>
              </a:prstGeom>
            </p:spPr>
            <p:txBody>
              <a:bodyPr anchor="ctr" rtlCol="false" tIns="54256" lIns="54256" bIns="54256" rIns="54256"/>
              <a:lstStyle/>
              <a:p>
                <a:pPr algn="ctr">
                  <a:lnSpc>
                    <a:spcPts val="2660"/>
                  </a:lnSpc>
                </a:pPr>
              </a:p>
            </p:txBody>
          </p:sp>
        </p:grpSp>
        <p:sp>
          <p:nvSpPr>
            <p:cNvPr name="AutoShape 23" id="23"/>
            <p:cNvSpPr/>
            <p:nvPr/>
          </p:nvSpPr>
          <p:spPr>
            <a:xfrm>
              <a:off x="495259" y="7099320"/>
              <a:ext cx="7226089" cy="0"/>
            </a:xfrm>
            <a:prstGeom prst="line">
              <a:avLst/>
            </a:prstGeom>
            <a:ln cap="flat" w="21463">
              <a:solidFill>
                <a:srgbClr val="1B93B0"/>
              </a:solidFill>
              <a:prstDash val="solid"/>
              <a:headEnd type="none" len="sm" w="sm"/>
              <a:tailEnd type="none" len="sm" w="sm"/>
            </a:ln>
          </p:spPr>
        </p:sp>
        <p:sp>
          <p:nvSpPr>
            <p:cNvPr name="AutoShape 24" id="24"/>
            <p:cNvSpPr/>
            <p:nvPr/>
          </p:nvSpPr>
          <p:spPr>
            <a:xfrm>
              <a:off x="495259" y="1077580"/>
              <a:ext cx="7226089" cy="0"/>
            </a:xfrm>
            <a:prstGeom prst="line">
              <a:avLst/>
            </a:prstGeom>
            <a:ln cap="flat" w="21463">
              <a:solidFill>
                <a:srgbClr val="1B93B0"/>
              </a:solidFill>
              <a:prstDash val="solid"/>
              <a:headEnd type="none" len="sm" w="sm"/>
              <a:tailEnd type="none" len="sm" w="sm"/>
            </a:ln>
          </p:spPr>
        </p:sp>
        <p:sp>
          <p:nvSpPr>
            <p:cNvPr name="AutoShape 25" id="25"/>
            <p:cNvSpPr/>
            <p:nvPr/>
          </p:nvSpPr>
          <p:spPr>
            <a:xfrm flipV="true">
              <a:off x="4731684" y="480937"/>
              <a:ext cx="0" cy="7226089"/>
            </a:xfrm>
            <a:prstGeom prst="line">
              <a:avLst/>
            </a:prstGeom>
            <a:ln cap="flat" w="21463">
              <a:solidFill>
                <a:srgbClr val="1B93B0"/>
              </a:solidFill>
              <a:prstDash val="solid"/>
              <a:headEnd type="none" len="sm" w="sm"/>
              <a:tailEnd type="none" len="sm" w="sm"/>
            </a:ln>
          </p:spPr>
        </p:sp>
        <p:sp>
          <p:nvSpPr>
            <p:cNvPr name="AutoShape 26" id="26"/>
            <p:cNvSpPr/>
            <p:nvPr/>
          </p:nvSpPr>
          <p:spPr>
            <a:xfrm flipV="true">
              <a:off x="5327404" y="480937"/>
              <a:ext cx="0" cy="7226089"/>
            </a:xfrm>
            <a:prstGeom prst="line">
              <a:avLst/>
            </a:prstGeom>
            <a:ln cap="flat" w="21463">
              <a:solidFill>
                <a:srgbClr val="1B93B0"/>
              </a:solidFill>
              <a:prstDash val="solid"/>
              <a:headEnd type="none" len="sm" w="sm"/>
              <a:tailEnd type="none" len="sm" w="sm"/>
            </a:ln>
          </p:spPr>
        </p:sp>
        <p:sp>
          <p:nvSpPr>
            <p:cNvPr name="AutoShape 27" id="27"/>
            <p:cNvSpPr/>
            <p:nvPr/>
          </p:nvSpPr>
          <p:spPr>
            <a:xfrm flipV="true">
              <a:off x="5923124" y="480937"/>
              <a:ext cx="0" cy="7226089"/>
            </a:xfrm>
            <a:prstGeom prst="line">
              <a:avLst/>
            </a:prstGeom>
            <a:ln cap="flat" w="21463">
              <a:solidFill>
                <a:srgbClr val="1B93B0"/>
              </a:solidFill>
              <a:prstDash val="solid"/>
              <a:headEnd type="none" len="sm" w="sm"/>
              <a:tailEnd type="none" len="sm" w="sm"/>
            </a:ln>
          </p:spPr>
        </p:sp>
        <p:sp>
          <p:nvSpPr>
            <p:cNvPr name="AutoShape 28" id="28"/>
            <p:cNvSpPr/>
            <p:nvPr/>
          </p:nvSpPr>
          <p:spPr>
            <a:xfrm flipV="true">
              <a:off x="1697763" y="480937"/>
              <a:ext cx="0" cy="7226089"/>
            </a:xfrm>
            <a:prstGeom prst="line">
              <a:avLst/>
            </a:prstGeom>
            <a:ln cap="flat" w="21463">
              <a:solidFill>
                <a:srgbClr val="1B93B0"/>
              </a:solidFill>
              <a:prstDash val="solid"/>
              <a:headEnd type="none" len="sm" w="sm"/>
              <a:tailEnd type="none" len="sm" w="sm"/>
            </a:ln>
          </p:spPr>
        </p:sp>
        <p:sp>
          <p:nvSpPr>
            <p:cNvPr name="AutoShape 29" id="29"/>
            <p:cNvSpPr/>
            <p:nvPr/>
          </p:nvSpPr>
          <p:spPr>
            <a:xfrm flipV="true">
              <a:off x="2293483" y="480937"/>
              <a:ext cx="0" cy="7226089"/>
            </a:xfrm>
            <a:prstGeom prst="line">
              <a:avLst/>
            </a:prstGeom>
            <a:ln cap="flat" w="21463">
              <a:solidFill>
                <a:srgbClr val="1B93B0"/>
              </a:solidFill>
              <a:prstDash val="solid"/>
              <a:headEnd type="none" len="sm" w="sm"/>
              <a:tailEnd type="none" len="sm" w="sm"/>
            </a:ln>
          </p:spPr>
        </p:sp>
        <p:sp>
          <p:nvSpPr>
            <p:cNvPr name="AutoShape 30" id="30"/>
            <p:cNvSpPr/>
            <p:nvPr/>
          </p:nvSpPr>
          <p:spPr>
            <a:xfrm flipV="true">
              <a:off x="2889204" y="480937"/>
              <a:ext cx="0" cy="7226089"/>
            </a:xfrm>
            <a:prstGeom prst="line">
              <a:avLst/>
            </a:prstGeom>
            <a:ln cap="flat" w="21463">
              <a:solidFill>
                <a:srgbClr val="1B93B0"/>
              </a:solidFill>
              <a:prstDash val="solid"/>
              <a:headEnd type="none" len="sm" w="sm"/>
              <a:tailEnd type="none" len="sm" w="sm"/>
            </a:ln>
          </p:spPr>
        </p:sp>
        <p:sp>
          <p:nvSpPr>
            <p:cNvPr name="AutoShape 31" id="31"/>
            <p:cNvSpPr/>
            <p:nvPr/>
          </p:nvSpPr>
          <p:spPr>
            <a:xfrm flipV="true">
              <a:off x="3484924" y="480937"/>
              <a:ext cx="0" cy="7226089"/>
            </a:xfrm>
            <a:prstGeom prst="line">
              <a:avLst/>
            </a:prstGeom>
            <a:ln cap="flat" w="21463">
              <a:solidFill>
                <a:srgbClr val="1B93B0"/>
              </a:solidFill>
              <a:prstDash val="solid"/>
              <a:headEnd type="none" len="sm" w="sm"/>
              <a:tailEnd type="none" len="sm" w="sm"/>
            </a:ln>
          </p:spPr>
        </p:sp>
        <p:sp>
          <p:nvSpPr>
            <p:cNvPr name="AutoShape 32" id="32"/>
            <p:cNvSpPr/>
            <p:nvPr/>
          </p:nvSpPr>
          <p:spPr>
            <a:xfrm flipV="true">
              <a:off x="6518844" y="480937"/>
              <a:ext cx="0" cy="7226089"/>
            </a:xfrm>
            <a:prstGeom prst="line">
              <a:avLst/>
            </a:prstGeom>
            <a:ln cap="flat" w="21463">
              <a:solidFill>
                <a:srgbClr val="1B93B0"/>
              </a:solidFill>
              <a:prstDash val="solid"/>
              <a:headEnd type="none" len="sm" w="sm"/>
              <a:tailEnd type="none" len="sm" w="sm"/>
            </a:ln>
          </p:spPr>
        </p:sp>
        <p:sp>
          <p:nvSpPr>
            <p:cNvPr name="AutoShape 33" id="33"/>
            <p:cNvSpPr/>
            <p:nvPr/>
          </p:nvSpPr>
          <p:spPr>
            <a:xfrm flipV="true">
              <a:off x="7114564" y="480937"/>
              <a:ext cx="0" cy="7226089"/>
            </a:xfrm>
            <a:prstGeom prst="line">
              <a:avLst/>
            </a:prstGeom>
            <a:ln cap="flat" w="21463">
              <a:solidFill>
                <a:srgbClr val="1B93B0"/>
              </a:solidFill>
              <a:prstDash val="solid"/>
              <a:headEnd type="none" len="sm" w="sm"/>
              <a:tailEnd type="none" len="sm" w="sm"/>
            </a:ln>
          </p:spPr>
        </p:sp>
        <p:sp>
          <p:nvSpPr>
            <p:cNvPr name="AutoShape 34" id="34"/>
            <p:cNvSpPr/>
            <p:nvPr/>
          </p:nvSpPr>
          <p:spPr>
            <a:xfrm flipV="true">
              <a:off x="1102043" y="480937"/>
              <a:ext cx="0" cy="7226089"/>
            </a:xfrm>
            <a:prstGeom prst="line">
              <a:avLst/>
            </a:prstGeom>
            <a:ln cap="flat" w="21463">
              <a:solidFill>
                <a:srgbClr val="1B93B0"/>
              </a:solidFill>
              <a:prstDash val="solid"/>
              <a:headEnd type="none" len="sm" w="sm"/>
              <a:tailEnd type="none" len="sm" w="sm"/>
            </a:ln>
          </p:spPr>
        </p:sp>
        <p:sp>
          <p:nvSpPr>
            <p:cNvPr name="AutoShape 35" id="35"/>
            <p:cNvSpPr/>
            <p:nvPr/>
          </p:nvSpPr>
          <p:spPr>
            <a:xfrm flipV="true">
              <a:off x="4108304" y="0"/>
              <a:ext cx="0" cy="8187964"/>
            </a:xfrm>
            <a:prstGeom prst="line">
              <a:avLst/>
            </a:prstGeom>
            <a:ln cap="flat" w="75119">
              <a:solidFill>
                <a:srgbClr val="A3DFFF"/>
              </a:solidFill>
              <a:prstDash val="solid"/>
              <a:headEnd type="arrow" len="sm" w="med"/>
              <a:tailEnd type="arrow" len="sm" w="med"/>
            </a:ln>
          </p:spPr>
        </p:sp>
        <p:sp>
          <p:nvSpPr>
            <p:cNvPr name="AutoShape 36" id="36"/>
            <p:cNvSpPr/>
            <p:nvPr/>
          </p:nvSpPr>
          <p:spPr>
            <a:xfrm flipH="true">
              <a:off x="0" y="4088450"/>
              <a:ext cx="8216608" cy="0"/>
            </a:xfrm>
            <a:prstGeom prst="line">
              <a:avLst/>
            </a:prstGeom>
            <a:ln cap="flat" w="64388">
              <a:solidFill>
                <a:srgbClr val="A3DFFF"/>
              </a:solidFill>
              <a:prstDash val="solid"/>
              <a:headEnd type="arrow" len="sm" w="med"/>
              <a:tailEnd type="arrow" len="sm" w="med"/>
            </a:ln>
          </p:spPr>
        </p:sp>
      </p:grpSp>
      <p:sp>
        <p:nvSpPr>
          <p:cNvPr name="AutoShape 37" id="37"/>
          <p:cNvSpPr/>
          <p:nvPr/>
        </p:nvSpPr>
        <p:spPr>
          <a:xfrm flipV="true">
            <a:off x="13107661" y="4976800"/>
            <a:ext cx="3370917" cy="2867444"/>
          </a:xfrm>
          <a:prstGeom prst="line">
            <a:avLst/>
          </a:prstGeom>
          <a:ln cap="flat" w="104775">
            <a:solidFill>
              <a:srgbClr val="FF9C00"/>
            </a:solidFill>
            <a:prstDash val="solid"/>
            <a:headEnd type="arrow" len="sm" w="med"/>
            <a:tailEnd type="arrow" len="sm" w="med"/>
          </a:ln>
        </p:spPr>
      </p:sp>
      <p:sp>
        <p:nvSpPr>
          <p:cNvPr name="AutoShape 38" id="38"/>
          <p:cNvSpPr/>
          <p:nvPr/>
        </p:nvSpPr>
        <p:spPr>
          <a:xfrm flipH="true" flipV="true">
            <a:off x="13477859" y="5051332"/>
            <a:ext cx="3216631" cy="3216631"/>
          </a:xfrm>
          <a:prstGeom prst="line">
            <a:avLst/>
          </a:prstGeom>
          <a:ln cap="flat" w="104775">
            <a:solidFill>
              <a:srgbClr val="FF9C00"/>
            </a:solidFill>
            <a:prstDash val="solid"/>
            <a:headEnd type="arrow" len="sm" w="med"/>
            <a:tailEnd type="arrow" len="sm" w="med"/>
          </a:ln>
        </p:spPr>
      </p:sp>
      <p:grpSp>
        <p:nvGrpSpPr>
          <p:cNvPr name="Group 39" id="39"/>
          <p:cNvGrpSpPr/>
          <p:nvPr/>
        </p:nvGrpSpPr>
        <p:grpSpPr>
          <a:xfrm rot="0">
            <a:off x="14665670" y="6218524"/>
            <a:ext cx="291210" cy="291210"/>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1" id="4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42" id="42"/>
          <p:cNvSpPr/>
          <p:nvPr/>
        </p:nvSpPr>
        <p:spPr>
          <a:xfrm flipH="false" flipV="false" rot="0">
            <a:off x="1639266" y="4472634"/>
            <a:ext cx="7504734" cy="778616"/>
          </a:xfrm>
          <a:custGeom>
            <a:avLst/>
            <a:gdLst/>
            <a:ahLst/>
            <a:cxnLst/>
            <a:rect r="r" b="b" t="t" l="l"/>
            <a:pathLst>
              <a:path h="778616" w="7504734">
                <a:moveTo>
                  <a:pt x="0" y="0"/>
                </a:moveTo>
                <a:lnTo>
                  <a:pt x="7504734" y="0"/>
                </a:lnTo>
                <a:lnTo>
                  <a:pt x="7504734" y="778616"/>
                </a:lnTo>
                <a:lnTo>
                  <a:pt x="0" y="778616"/>
                </a:lnTo>
                <a:lnTo>
                  <a:pt x="0" y="0"/>
                </a:lnTo>
                <a:close/>
              </a:path>
            </a:pathLst>
          </a:custGeom>
          <a:blipFill>
            <a:blip r:embed="rId7"/>
            <a:stretch>
              <a:fillRect l="0" t="0" r="0" b="0"/>
            </a:stretch>
          </a:blipFill>
        </p:spPr>
      </p:sp>
      <p:sp>
        <p:nvSpPr>
          <p:cNvPr name="TextBox 43" id="43"/>
          <p:cNvSpPr txBox="true"/>
          <p:nvPr/>
        </p:nvSpPr>
        <p:spPr>
          <a:xfrm rot="0">
            <a:off x="2094175" y="1810461"/>
            <a:ext cx="14099650" cy="1902077"/>
          </a:xfrm>
          <a:prstGeom prst="rect">
            <a:avLst/>
          </a:prstGeom>
        </p:spPr>
        <p:txBody>
          <a:bodyPr anchor="t" rtlCol="false" tIns="0" lIns="0" bIns="0" rIns="0">
            <a:spAutoFit/>
          </a:bodyPr>
          <a:lstStyle/>
          <a:p>
            <a:pPr algn="ctr">
              <a:lnSpc>
                <a:spcPts val="7237"/>
              </a:lnSpc>
            </a:pPr>
            <a:r>
              <a:rPr lang="en-US" sz="7699">
                <a:solidFill>
                  <a:srgbClr val="FFFFFF"/>
                </a:solidFill>
                <a:latin typeface="Lovelo"/>
                <a:ea typeface="Lovelo"/>
                <a:cs typeface="Lovelo"/>
                <a:sym typeface="Lovelo"/>
              </a:rPr>
              <a:t>SYSTEMS OF LINEAR EQUATIONS</a:t>
            </a:r>
          </a:p>
        </p:txBody>
      </p:sp>
      <p:sp>
        <p:nvSpPr>
          <p:cNvPr name="TextBox 44" id="44"/>
          <p:cNvSpPr txBox="true"/>
          <p:nvPr/>
        </p:nvSpPr>
        <p:spPr>
          <a:xfrm rot="0">
            <a:off x="1028700" y="3903039"/>
            <a:ext cx="9583088" cy="417195"/>
          </a:xfrm>
          <a:prstGeom prst="rect">
            <a:avLst/>
          </a:prstGeom>
        </p:spPr>
        <p:txBody>
          <a:bodyPr anchor="t" rtlCol="false" tIns="0" lIns="0" bIns="0" rIns="0">
            <a:spAutoFit/>
          </a:bodyPr>
          <a:lstStyle/>
          <a:p>
            <a:pPr algn="l">
              <a:lnSpc>
                <a:spcPts val="2940"/>
              </a:lnSpc>
            </a:pPr>
            <a:r>
              <a:rPr lang="en-US" b="true" sz="3000">
                <a:solidFill>
                  <a:srgbClr val="FF9C00"/>
                </a:solidFill>
                <a:latin typeface="Poppins Bold"/>
                <a:ea typeface="Poppins Bold"/>
                <a:cs typeface="Poppins Bold"/>
                <a:sym typeface="Poppins Bold"/>
              </a:rPr>
              <a:t>A linear equation </a:t>
            </a:r>
            <a:r>
              <a:rPr lang="en-US" b="true" sz="3000">
                <a:solidFill>
                  <a:srgbClr val="FF9C00"/>
                </a:solidFill>
                <a:latin typeface="Poppins Bold"/>
                <a:ea typeface="Poppins Bold"/>
                <a:cs typeface="Poppins Bold"/>
                <a:sym typeface="Poppins Bold"/>
              </a:rPr>
              <a:t>is of the form:</a:t>
            </a:r>
          </a:p>
        </p:txBody>
      </p:sp>
      <p:sp>
        <p:nvSpPr>
          <p:cNvPr name="TextBox 45" id="45"/>
          <p:cNvSpPr txBox="true"/>
          <p:nvPr/>
        </p:nvSpPr>
        <p:spPr>
          <a:xfrm rot="0">
            <a:off x="1028700" y="5498434"/>
            <a:ext cx="9583088" cy="3017520"/>
          </a:xfrm>
          <a:prstGeom prst="rect">
            <a:avLst/>
          </a:prstGeom>
        </p:spPr>
        <p:txBody>
          <a:bodyPr anchor="t" rtlCol="false" tIns="0" lIns="0" bIns="0" rIns="0">
            <a:spAutoFit/>
          </a:bodyPr>
          <a:lstStyle/>
          <a:p>
            <a:pPr algn="l">
              <a:lnSpc>
                <a:spcPts val="2940"/>
              </a:lnSpc>
            </a:pPr>
            <a:r>
              <a:rPr lang="en-US" sz="3000" b="true">
                <a:solidFill>
                  <a:srgbClr val="FFFFFF"/>
                </a:solidFill>
                <a:latin typeface="Poppins Bold"/>
                <a:ea typeface="Poppins Bold"/>
                <a:cs typeface="Poppins Bold"/>
                <a:sym typeface="Poppins Bold"/>
              </a:rPr>
              <a:t>aᵢ → coefficients</a:t>
            </a:r>
          </a:p>
          <a:p>
            <a:pPr algn="l">
              <a:lnSpc>
                <a:spcPts val="2940"/>
              </a:lnSpc>
            </a:pPr>
          </a:p>
          <a:p>
            <a:pPr algn="l">
              <a:lnSpc>
                <a:spcPts val="2940"/>
              </a:lnSpc>
            </a:pPr>
            <a:r>
              <a:rPr lang="en-US" sz="3000" b="true">
                <a:solidFill>
                  <a:srgbClr val="FFFFFF"/>
                </a:solidFill>
                <a:latin typeface="Poppins Bold"/>
                <a:ea typeface="Poppins Bold"/>
                <a:cs typeface="Poppins Bold"/>
                <a:sym typeface="Poppins Bold"/>
              </a:rPr>
              <a:t>xᵢ → unknowns</a:t>
            </a:r>
          </a:p>
          <a:p>
            <a:pPr algn="l">
              <a:lnSpc>
                <a:spcPts val="2940"/>
              </a:lnSpc>
            </a:pPr>
          </a:p>
          <a:p>
            <a:pPr algn="l">
              <a:lnSpc>
                <a:spcPts val="2940"/>
              </a:lnSpc>
            </a:pPr>
            <a:r>
              <a:rPr lang="en-US" sz="3000" b="true">
                <a:solidFill>
                  <a:srgbClr val="FFFFFF"/>
                </a:solidFill>
                <a:latin typeface="Poppins Bold"/>
                <a:ea typeface="Poppins Bold"/>
                <a:cs typeface="Poppins Bold"/>
                <a:sym typeface="Poppins Bold"/>
              </a:rPr>
              <a:t>y →</a:t>
            </a:r>
            <a:r>
              <a:rPr lang="en-US" sz="3000" b="true">
                <a:solidFill>
                  <a:srgbClr val="FFFFFF"/>
                </a:solidFill>
                <a:latin typeface="Poppins Bold"/>
                <a:ea typeface="Poppins Bold"/>
                <a:cs typeface="Poppins Bold"/>
                <a:sym typeface="Poppins Bold"/>
              </a:rPr>
              <a:t> constant (scalar)</a:t>
            </a:r>
          </a:p>
          <a:p>
            <a:pPr algn="l">
              <a:lnSpc>
                <a:spcPts val="2940"/>
              </a:lnSpc>
            </a:pPr>
          </a:p>
          <a:p>
            <a:pPr algn="l">
              <a:lnSpc>
                <a:spcPts val="2940"/>
              </a:lnSpc>
            </a:pPr>
          </a:p>
          <a:p>
            <a:pPr algn="l">
              <a:lnSpc>
                <a:spcPts val="2940"/>
              </a:lnSpc>
            </a:pPr>
            <a:r>
              <a:rPr lang="en-US" b="true" sz="3000">
                <a:solidFill>
                  <a:srgbClr val="FFFFFF"/>
                </a:solidFill>
                <a:latin typeface="Poppins Bold"/>
                <a:ea typeface="Poppins Bold"/>
                <a:cs typeface="Poppins Bold"/>
                <a:sym typeface="Poppins Bold"/>
              </a:rPr>
              <a:t>Example: 3x + 4y − 3z = −5 →</a:t>
            </a:r>
            <a:r>
              <a:rPr lang="en-US" b="true" sz="3000">
                <a:solidFill>
                  <a:srgbClr val="FFFFFF"/>
                </a:solidFill>
                <a:latin typeface="Poppins Bold"/>
                <a:ea typeface="Poppins Bold"/>
                <a:cs typeface="Poppins Bold"/>
                <a:sym typeface="Poppins Bold"/>
              </a:rPr>
              <a:t> linear.</a:t>
            </a:r>
          </a:p>
        </p:txBody>
      </p:sp>
      <p:sp>
        <p:nvSpPr>
          <p:cNvPr name="TextBox 46" id="46"/>
          <p:cNvSpPr txBox="true"/>
          <p:nvPr/>
        </p:nvSpPr>
        <p:spPr>
          <a:xfrm rot="0">
            <a:off x="15320796" y="6059203"/>
            <a:ext cx="1543259" cy="667004"/>
          </a:xfrm>
          <a:prstGeom prst="rect">
            <a:avLst/>
          </a:prstGeom>
        </p:spPr>
        <p:txBody>
          <a:bodyPr anchor="t" rtlCol="false" tIns="0" lIns="0" bIns="0" rIns="0">
            <a:spAutoFit/>
          </a:bodyPr>
          <a:lstStyle/>
          <a:p>
            <a:pPr algn="ctr">
              <a:lnSpc>
                <a:spcPts val="4686"/>
              </a:lnSpc>
            </a:pPr>
            <a:r>
              <a:rPr lang="en-US" sz="4781">
                <a:solidFill>
                  <a:srgbClr val="FFFFFF"/>
                </a:solidFill>
                <a:latin typeface="Poppins"/>
                <a:ea typeface="Poppins"/>
                <a:cs typeface="Poppins"/>
                <a:sym typeface="Poppins"/>
              </a:rPr>
              <a:t>(x,y)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LINEAR TRANSFORMATIONS</a:t>
              </a:r>
            </a:p>
          </p:txBody>
        </p:sp>
      </p:grpSp>
      <p:grpSp>
        <p:nvGrpSpPr>
          <p:cNvPr name="Group 16" id="16"/>
          <p:cNvGrpSpPr/>
          <p:nvPr/>
        </p:nvGrpSpPr>
        <p:grpSpPr>
          <a:xfrm rot="0">
            <a:off x="749529" y="2203669"/>
            <a:ext cx="7403191" cy="3301723"/>
            <a:chOff x="0" y="0"/>
            <a:chExt cx="758329" cy="338205"/>
          </a:xfrm>
        </p:grpSpPr>
        <p:sp>
          <p:nvSpPr>
            <p:cNvPr name="Freeform 17" id="17"/>
            <p:cNvSpPr/>
            <p:nvPr/>
          </p:nvSpPr>
          <p:spPr>
            <a:xfrm flipH="false" flipV="false" rot="0">
              <a:off x="0" y="0"/>
              <a:ext cx="758329" cy="338205"/>
            </a:xfrm>
            <a:custGeom>
              <a:avLst/>
              <a:gdLst/>
              <a:ahLst/>
              <a:cxnLst/>
              <a:rect r="r" b="b" t="t" l="l"/>
              <a:pathLst>
                <a:path h="338205" w="758329">
                  <a:moveTo>
                    <a:pt x="40784" y="0"/>
                  </a:moveTo>
                  <a:lnTo>
                    <a:pt x="717545" y="0"/>
                  </a:lnTo>
                  <a:cubicBezTo>
                    <a:pt x="728362" y="0"/>
                    <a:pt x="738735" y="4297"/>
                    <a:pt x="746384" y="11945"/>
                  </a:cubicBezTo>
                  <a:cubicBezTo>
                    <a:pt x="754033" y="19594"/>
                    <a:pt x="758329" y="29968"/>
                    <a:pt x="758329" y="40784"/>
                  </a:cubicBezTo>
                  <a:lnTo>
                    <a:pt x="758329" y="297420"/>
                  </a:lnTo>
                  <a:cubicBezTo>
                    <a:pt x="758329" y="308237"/>
                    <a:pt x="754033" y="318611"/>
                    <a:pt x="746384" y="326259"/>
                  </a:cubicBezTo>
                  <a:cubicBezTo>
                    <a:pt x="738735" y="333908"/>
                    <a:pt x="728362" y="338205"/>
                    <a:pt x="717545" y="338205"/>
                  </a:cubicBezTo>
                  <a:lnTo>
                    <a:pt x="40784" y="338205"/>
                  </a:lnTo>
                  <a:cubicBezTo>
                    <a:pt x="29968" y="338205"/>
                    <a:pt x="19594" y="333908"/>
                    <a:pt x="11945" y="326259"/>
                  </a:cubicBezTo>
                  <a:cubicBezTo>
                    <a:pt x="4297" y="318611"/>
                    <a:pt x="0" y="308237"/>
                    <a:pt x="0" y="297420"/>
                  </a:cubicBezTo>
                  <a:lnTo>
                    <a:pt x="0" y="40784"/>
                  </a:lnTo>
                  <a:cubicBezTo>
                    <a:pt x="0" y="29968"/>
                    <a:pt x="4297" y="19594"/>
                    <a:pt x="11945" y="11945"/>
                  </a:cubicBezTo>
                  <a:cubicBezTo>
                    <a:pt x="19594" y="4297"/>
                    <a:pt x="29968" y="0"/>
                    <a:pt x="40784" y="0"/>
                  </a:cubicBezTo>
                  <a:close/>
                </a:path>
              </a:pathLst>
            </a:custGeom>
            <a:solidFill>
              <a:srgbClr val="F8F3E6"/>
            </a:solidFill>
            <a:ln cap="rnd">
              <a:noFill/>
              <a:prstDash val="solid"/>
              <a:round/>
            </a:ln>
          </p:spPr>
        </p:sp>
        <p:sp>
          <p:nvSpPr>
            <p:cNvPr name="TextBox 18" id="18"/>
            <p:cNvSpPr txBox="true"/>
            <p:nvPr/>
          </p:nvSpPr>
          <p:spPr>
            <a:xfrm>
              <a:off x="0" y="-38100"/>
              <a:ext cx="758329" cy="376305"/>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749529" y="6513827"/>
            <a:ext cx="8086529" cy="3571347"/>
            <a:chOff x="0" y="0"/>
            <a:chExt cx="828326" cy="365823"/>
          </a:xfrm>
        </p:grpSpPr>
        <p:sp>
          <p:nvSpPr>
            <p:cNvPr name="Freeform 20" id="20"/>
            <p:cNvSpPr/>
            <p:nvPr/>
          </p:nvSpPr>
          <p:spPr>
            <a:xfrm flipH="false" flipV="false" rot="0">
              <a:off x="0" y="0"/>
              <a:ext cx="828326" cy="365823"/>
            </a:xfrm>
            <a:custGeom>
              <a:avLst/>
              <a:gdLst/>
              <a:ahLst/>
              <a:cxnLst/>
              <a:rect r="r" b="b" t="t" l="l"/>
              <a:pathLst>
                <a:path h="365823" w="828326">
                  <a:moveTo>
                    <a:pt x="37338" y="0"/>
                  </a:moveTo>
                  <a:lnTo>
                    <a:pt x="790988" y="0"/>
                  </a:lnTo>
                  <a:cubicBezTo>
                    <a:pt x="811609" y="0"/>
                    <a:pt x="828326" y="16717"/>
                    <a:pt x="828326" y="37338"/>
                  </a:cubicBezTo>
                  <a:lnTo>
                    <a:pt x="828326" y="328485"/>
                  </a:lnTo>
                  <a:cubicBezTo>
                    <a:pt x="828326" y="338388"/>
                    <a:pt x="824392" y="347885"/>
                    <a:pt x="817390" y="354887"/>
                  </a:cubicBezTo>
                  <a:cubicBezTo>
                    <a:pt x="810387" y="361889"/>
                    <a:pt x="800890" y="365823"/>
                    <a:pt x="790988" y="365823"/>
                  </a:cubicBezTo>
                  <a:lnTo>
                    <a:pt x="37338" y="365823"/>
                  </a:lnTo>
                  <a:cubicBezTo>
                    <a:pt x="27435" y="365823"/>
                    <a:pt x="17938" y="361889"/>
                    <a:pt x="10936" y="354887"/>
                  </a:cubicBezTo>
                  <a:cubicBezTo>
                    <a:pt x="3934" y="347885"/>
                    <a:pt x="0" y="338388"/>
                    <a:pt x="0" y="328485"/>
                  </a:cubicBezTo>
                  <a:lnTo>
                    <a:pt x="0" y="37338"/>
                  </a:lnTo>
                  <a:cubicBezTo>
                    <a:pt x="0" y="27435"/>
                    <a:pt x="3934" y="17938"/>
                    <a:pt x="10936" y="10936"/>
                  </a:cubicBezTo>
                  <a:cubicBezTo>
                    <a:pt x="17938" y="3934"/>
                    <a:pt x="27435" y="0"/>
                    <a:pt x="37338" y="0"/>
                  </a:cubicBezTo>
                  <a:close/>
                </a:path>
              </a:pathLst>
            </a:custGeom>
            <a:solidFill>
              <a:srgbClr val="F8F3E6"/>
            </a:solidFill>
            <a:ln cap="rnd">
              <a:noFill/>
              <a:prstDash val="solid"/>
              <a:round/>
            </a:ln>
          </p:spPr>
        </p:sp>
        <p:sp>
          <p:nvSpPr>
            <p:cNvPr name="TextBox 21" id="21"/>
            <p:cNvSpPr txBox="true"/>
            <p:nvPr/>
          </p:nvSpPr>
          <p:spPr>
            <a:xfrm>
              <a:off x="0" y="-38100"/>
              <a:ext cx="828326" cy="40392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2" id="22"/>
          <p:cNvGrpSpPr/>
          <p:nvPr/>
        </p:nvGrpSpPr>
        <p:grpSpPr>
          <a:xfrm rot="0">
            <a:off x="9226677" y="2279869"/>
            <a:ext cx="8032623" cy="3225523"/>
            <a:chOff x="0" y="0"/>
            <a:chExt cx="822804" cy="330399"/>
          </a:xfrm>
        </p:grpSpPr>
        <p:sp>
          <p:nvSpPr>
            <p:cNvPr name="Freeform 23" id="23"/>
            <p:cNvSpPr/>
            <p:nvPr/>
          </p:nvSpPr>
          <p:spPr>
            <a:xfrm flipH="false" flipV="false" rot="0">
              <a:off x="0" y="0"/>
              <a:ext cx="822804" cy="330399"/>
            </a:xfrm>
            <a:custGeom>
              <a:avLst/>
              <a:gdLst/>
              <a:ahLst/>
              <a:cxnLst/>
              <a:rect r="r" b="b" t="t" l="l"/>
              <a:pathLst>
                <a:path h="330399" w="822804">
                  <a:moveTo>
                    <a:pt x="37589" y="0"/>
                  </a:moveTo>
                  <a:lnTo>
                    <a:pt x="785215" y="0"/>
                  </a:lnTo>
                  <a:cubicBezTo>
                    <a:pt x="805975" y="0"/>
                    <a:pt x="822804" y="16829"/>
                    <a:pt x="822804" y="37589"/>
                  </a:cubicBezTo>
                  <a:lnTo>
                    <a:pt x="822804" y="292811"/>
                  </a:lnTo>
                  <a:cubicBezTo>
                    <a:pt x="822804" y="313570"/>
                    <a:pt x="805975" y="330399"/>
                    <a:pt x="785215" y="330399"/>
                  </a:cubicBezTo>
                  <a:lnTo>
                    <a:pt x="37589" y="330399"/>
                  </a:lnTo>
                  <a:cubicBezTo>
                    <a:pt x="16829" y="330399"/>
                    <a:pt x="0" y="313570"/>
                    <a:pt x="0" y="292811"/>
                  </a:cubicBezTo>
                  <a:lnTo>
                    <a:pt x="0" y="37589"/>
                  </a:lnTo>
                  <a:cubicBezTo>
                    <a:pt x="0" y="16829"/>
                    <a:pt x="16829" y="0"/>
                    <a:pt x="37589" y="0"/>
                  </a:cubicBezTo>
                  <a:close/>
                </a:path>
              </a:pathLst>
            </a:custGeom>
            <a:solidFill>
              <a:srgbClr val="F8F3E6"/>
            </a:solidFill>
            <a:ln cap="rnd">
              <a:noFill/>
              <a:prstDash val="solid"/>
              <a:round/>
            </a:ln>
          </p:spPr>
        </p:sp>
        <p:sp>
          <p:nvSpPr>
            <p:cNvPr name="TextBox 24" id="24"/>
            <p:cNvSpPr txBox="true"/>
            <p:nvPr/>
          </p:nvSpPr>
          <p:spPr>
            <a:xfrm>
              <a:off x="0" y="-38100"/>
              <a:ext cx="822804" cy="368499"/>
            </a:xfrm>
            <a:prstGeom prst="rect">
              <a:avLst/>
            </a:prstGeom>
          </p:spPr>
          <p:txBody>
            <a:bodyPr anchor="ctr" rtlCol="false" tIns="50800" lIns="50800" bIns="50800" rIns="50800"/>
            <a:lstStyle/>
            <a:p>
              <a:pPr algn="ctr" marL="0" indent="0" lvl="0">
                <a:lnSpc>
                  <a:spcPts val="3359"/>
                </a:lnSpc>
                <a:spcBef>
                  <a:spcPct val="0"/>
                </a:spcBef>
              </a:pPr>
            </a:p>
          </p:txBody>
        </p:sp>
      </p:grpSp>
      <p:graphicFrame>
        <p:nvGraphicFramePr>
          <p:cNvPr name="Object 25" id="25"/>
          <p:cNvGraphicFramePr/>
          <p:nvPr/>
        </p:nvGraphicFramePr>
        <p:xfrm>
          <a:off x="1033557" y="2452851"/>
          <a:ext cx="5657850" cy="2514600"/>
        </p:xfrm>
        <a:graphic>
          <a:graphicData uri="http://schemas.openxmlformats.org/presentationml/2006/ole">
            <p:oleObj imgW="6781800" imgH="3644900" r:id="rId8" progId="Excel.Sheet.12" name="Worksheet">
              <p:embed/>
              <p:pic>
                <p:nvPicPr>
                  <p:cNvPr name="" id="0"/>
                  <p:cNvPicPr/>
                  <p:nvPr/>
                </p:nvPicPr>
                <p:blipFill>
                  <a:blip r:embed="rId7"/>
                  <a:stretch>
                    <a:fillRect/>
                  </a:stretch>
                </p:blipFill>
                <p:spPr>
                  <a:xfrm>
                    <a:off x="1270000" y="1270000"/>
                    <a:ext cx="1270000" cy="1270000"/>
                  </a:xfrm>
                  <a:prstGeom prst="rect"/>
                </p:spPr>
              </p:pic>
            </p:oleObj>
          </a:graphicData>
        </a:graphic>
      </p:graphicFrame>
      <p:sp>
        <p:nvSpPr>
          <p:cNvPr name="Freeform 26" id="26"/>
          <p:cNvSpPr/>
          <p:nvPr/>
        </p:nvSpPr>
        <p:spPr>
          <a:xfrm flipH="false" flipV="false" rot="0">
            <a:off x="12708603" y="2490951"/>
            <a:ext cx="3960255" cy="2803357"/>
          </a:xfrm>
          <a:custGeom>
            <a:avLst/>
            <a:gdLst/>
            <a:ahLst/>
            <a:cxnLst/>
            <a:rect r="r" b="b" t="t" l="l"/>
            <a:pathLst>
              <a:path h="2803357" w="3960255">
                <a:moveTo>
                  <a:pt x="0" y="0"/>
                </a:moveTo>
                <a:lnTo>
                  <a:pt x="3960255" y="0"/>
                </a:lnTo>
                <a:lnTo>
                  <a:pt x="3960255" y="2803357"/>
                </a:lnTo>
                <a:lnTo>
                  <a:pt x="0" y="2803357"/>
                </a:lnTo>
                <a:lnTo>
                  <a:pt x="0" y="0"/>
                </a:lnTo>
                <a:close/>
              </a:path>
            </a:pathLst>
          </a:custGeom>
          <a:blipFill>
            <a:blip r:embed="rId9"/>
            <a:stretch>
              <a:fillRect l="0" t="-9962" r="0" b="-6118"/>
            </a:stretch>
          </a:blipFill>
        </p:spPr>
      </p:sp>
      <p:sp>
        <p:nvSpPr>
          <p:cNvPr name="Freeform 27" id="27"/>
          <p:cNvSpPr/>
          <p:nvPr/>
        </p:nvSpPr>
        <p:spPr>
          <a:xfrm flipH="false" flipV="false" rot="0">
            <a:off x="3102854" y="6947158"/>
            <a:ext cx="5342587" cy="2704685"/>
          </a:xfrm>
          <a:custGeom>
            <a:avLst/>
            <a:gdLst/>
            <a:ahLst/>
            <a:cxnLst/>
            <a:rect r="r" b="b" t="t" l="l"/>
            <a:pathLst>
              <a:path h="2704685" w="5342587">
                <a:moveTo>
                  <a:pt x="0" y="0"/>
                </a:moveTo>
                <a:lnTo>
                  <a:pt x="5342588" y="0"/>
                </a:lnTo>
                <a:lnTo>
                  <a:pt x="5342588" y="2704685"/>
                </a:lnTo>
                <a:lnTo>
                  <a:pt x="0" y="2704685"/>
                </a:lnTo>
                <a:lnTo>
                  <a:pt x="0" y="0"/>
                </a:lnTo>
                <a:close/>
              </a:path>
            </a:pathLst>
          </a:custGeom>
          <a:blipFill>
            <a:blip r:embed="rId10"/>
            <a:stretch>
              <a:fillRect l="0" t="0" r="0" b="0"/>
            </a:stretch>
          </a:blipFill>
        </p:spPr>
      </p:sp>
      <p:grpSp>
        <p:nvGrpSpPr>
          <p:cNvPr name="Group 28" id="28"/>
          <p:cNvGrpSpPr/>
          <p:nvPr/>
        </p:nvGrpSpPr>
        <p:grpSpPr>
          <a:xfrm rot="0">
            <a:off x="9226677" y="6513827"/>
            <a:ext cx="8086529" cy="3571347"/>
            <a:chOff x="0" y="0"/>
            <a:chExt cx="828326" cy="365823"/>
          </a:xfrm>
        </p:grpSpPr>
        <p:sp>
          <p:nvSpPr>
            <p:cNvPr name="Freeform 29" id="29"/>
            <p:cNvSpPr/>
            <p:nvPr/>
          </p:nvSpPr>
          <p:spPr>
            <a:xfrm flipH="false" flipV="false" rot="0">
              <a:off x="0" y="0"/>
              <a:ext cx="828326" cy="365823"/>
            </a:xfrm>
            <a:custGeom>
              <a:avLst/>
              <a:gdLst/>
              <a:ahLst/>
              <a:cxnLst/>
              <a:rect r="r" b="b" t="t" l="l"/>
              <a:pathLst>
                <a:path h="365823" w="828326">
                  <a:moveTo>
                    <a:pt x="37338" y="0"/>
                  </a:moveTo>
                  <a:lnTo>
                    <a:pt x="790988" y="0"/>
                  </a:lnTo>
                  <a:cubicBezTo>
                    <a:pt x="811609" y="0"/>
                    <a:pt x="828326" y="16717"/>
                    <a:pt x="828326" y="37338"/>
                  </a:cubicBezTo>
                  <a:lnTo>
                    <a:pt x="828326" y="328485"/>
                  </a:lnTo>
                  <a:cubicBezTo>
                    <a:pt x="828326" y="338388"/>
                    <a:pt x="824392" y="347885"/>
                    <a:pt x="817390" y="354887"/>
                  </a:cubicBezTo>
                  <a:cubicBezTo>
                    <a:pt x="810387" y="361889"/>
                    <a:pt x="800890" y="365823"/>
                    <a:pt x="790988" y="365823"/>
                  </a:cubicBezTo>
                  <a:lnTo>
                    <a:pt x="37338" y="365823"/>
                  </a:lnTo>
                  <a:cubicBezTo>
                    <a:pt x="27435" y="365823"/>
                    <a:pt x="17938" y="361889"/>
                    <a:pt x="10936" y="354887"/>
                  </a:cubicBezTo>
                  <a:cubicBezTo>
                    <a:pt x="3934" y="347885"/>
                    <a:pt x="0" y="338388"/>
                    <a:pt x="0" y="328485"/>
                  </a:cubicBezTo>
                  <a:lnTo>
                    <a:pt x="0" y="37338"/>
                  </a:lnTo>
                  <a:cubicBezTo>
                    <a:pt x="0" y="27435"/>
                    <a:pt x="3934" y="17938"/>
                    <a:pt x="10936" y="10936"/>
                  </a:cubicBezTo>
                  <a:cubicBezTo>
                    <a:pt x="17938" y="3934"/>
                    <a:pt x="27435" y="0"/>
                    <a:pt x="37338" y="0"/>
                  </a:cubicBezTo>
                  <a:close/>
                </a:path>
              </a:pathLst>
            </a:custGeom>
            <a:solidFill>
              <a:srgbClr val="F8F3E6"/>
            </a:solidFill>
            <a:ln cap="rnd">
              <a:noFill/>
              <a:prstDash val="solid"/>
              <a:round/>
            </a:ln>
          </p:spPr>
        </p:sp>
        <p:sp>
          <p:nvSpPr>
            <p:cNvPr name="TextBox 30" id="30"/>
            <p:cNvSpPr txBox="true"/>
            <p:nvPr/>
          </p:nvSpPr>
          <p:spPr>
            <a:xfrm>
              <a:off x="0" y="-38100"/>
              <a:ext cx="828326" cy="403923"/>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31" id="31"/>
          <p:cNvSpPr/>
          <p:nvPr/>
        </p:nvSpPr>
        <p:spPr>
          <a:xfrm flipH="false" flipV="false" rot="0">
            <a:off x="9496740" y="6784183"/>
            <a:ext cx="7546403" cy="3030635"/>
          </a:xfrm>
          <a:custGeom>
            <a:avLst/>
            <a:gdLst/>
            <a:ahLst/>
            <a:cxnLst/>
            <a:rect r="r" b="b" t="t" l="l"/>
            <a:pathLst>
              <a:path h="3030635" w="7546403">
                <a:moveTo>
                  <a:pt x="0" y="0"/>
                </a:moveTo>
                <a:lnTo>
                  <a:pt x="7546402" y="0"/>
                </a:lnTo>
                <a:lnTo>
                  <a:pt x="7546402" y="3030635"/>
                </a:lnTo>
                <a:lnTo>
                  <a:pt x="0" y="3030635"/>
                </a:lnTo>
                <a:lnTo>
                  <a:pt x="0" y="0"/>
                </a:lnTo>
                <a:close/>
              </a:path>
            </a:pathLst>
          </a:custGeom>
          <a:blipFill>
            <a:blip r:embed="rId11"/>
            <a:stretch>
              <a:fillRect l="0" t="0" r="0" b="0"/>
            </a:stretch>
          </a:blipFill>
        </p:spPr>
      </p:sp>
      <p:sp>
        <p:nvSpPr>
          <p:cNvPr name="TextBox 32" id="32"/>
          <p:cNvSpPr txBox="true"/>
          <p:nvPr/>
        </p:nvSpPr>
        <p:spPr>
          <a:xfrm rot="0">
            <a:off x="358910" y="1435319"/>
            <a:ext cx="6660244"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Linear vs Nonlinear</a:t>
            </a:r>
          </a:p>
        </p:txBody>
      </p:sp>
      <p:sp>
        <p:nvSpPr>
          <p:cNvPr name="TextBox 33" id="33"/>
          <p:cNvSpPr txBox="true"/>
          <p:nvPr/>
        </p:nvSpPr>
        <p:spPr>
          <a:xfrm rot="0">
            <a:off x="8836058" y="1435319"/>
            <a:ext cx="7205489"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Systems of Equations</a:t>
            </a:r>
          </a:p>
        </p:txBody>
      </p:sp>
      <p:sp>
        <p:nvSpPr>
          <p:cNvPr name="TextBox 34" id="34"/>
          <p:cNvSpPr txBox="true"/>
          <p:nvPr/>
        </p:nvSpPr>
        <p:spPr>
          <a:xfrm rot="0">
            <a:off x="9549205" y="2531440"/>
            <a:ext cx="3159398" cy="1219581"/>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A syst</a:t>
            </a:r>
            <a:r>
              <a:rPr lang="en-US" b="true" sz="2400" strike="noStrike" u="none">
                <a:solidFill>
                  <a:srgbClr val="042560"/>
                </a:solidFill>
                <a:latin typeface="Poppins Bold"/>
                <a:ea typeface="Poppins Bold"/>
                <a:cs typeface="Poppins Bold"/>
                <a:sym typeface="Poppins Bold"/>
              </a:rPr>
              <a:t>em = multiple linear equations with same variables.</a:t>
            </a:r>
          </a:p>
        </p:txBody>
      </p:sp>
      <p:sp>
        <p:nvSpPr>
          <p:cNvPr name="TextBox 35" id="35"/>
          <p:cNvSpPr txBox="true"/>
          <p:nvPr/>
        </p:nvSpPr>
        <p:spPr>
          <a:xfrm rot="0">
            <a:off x="395155" y="5745477"/>
            <a:ext cx="7473538"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Matrix Representation</a:t>
            </a:r>
          </a:p>
        </p:txBody>
      </p:sp>
      <p:sp>
        <p:nvSpPr>
          <p:cNvPr name="TextBox 36" id="36"/>
          <p:cNvSpPr txBox="true"/>
          <p:nvPr/>
        </p:nvSpPr>
        <p:spPr>
          <a:xfrm rot="0">
            <a:off x="998347" y="6765398"/>
            <a:ext cx="2094982" cy="92430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Syst</a:t>
            </a:r>
            <a:r>
              <a:rPr lang="en-US" b="true" sz="2400" strike="noStrike" u="none">
                <a:solidFill>
                  <a:srgbClr val="042560"/>
                </a:solidFill>
                <a:latin typeface="Poppins Bold"/>
                <a:ea typeface="Poppins Bold"/>
                <a:cs typeface="Poppins Bold"/>
                <a:sym typeface="Poppins Bold"/>
              </a:rPr>
              <a:t>em → matrix form: A·x = 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sp>
        <p:nvSpPr>
          <p:cNvPr name="AutoShape 2" id="2"/>
          <p:cNvSpPr/>
          <p:nvPr/>
        </p:nvSpPr>
        <p:spPr>
          <a:xfrm>
            <a:off x="9511092" y="6765208"/>
            <a:ext cx="6937768" cy="0"/>
          </a:xfrm>
          <a:prstGeom prst="line">
            <a:avLst/>
          </a:prstGeom>
          <a:ln cap="flat" w="19050">
            <a:solidFill>
              <a:srgbClr val="1B93B0"/>
            </a:solidFill>
            <a:prstDash val="solid"/>
            <a:headEnd type="none" len="sm" w="sm"/>
            <a:tailEnd type="none" len="sm" w="sm"/>
          </a:ln>
        </p:spPr>
      </p:sp>
      <p:sp>
        <p:nvSpPr>
          <p:cNvPr name="AutoShape 3" id="3"/>
          <p:cNvSpPr/>
          <p:nvPr/>
        </p:nvSpPr>
        <p:spPr>
          <a:xfrm>
            <a:off x="9511092" y="7338044"/>
            <a:ext cx="6937768" cy="0"/>
          </a:xfrm>
          <a:prstGeom prst="line">
            <a:avLst/>
          </a:prstGeom>
          <a:ln cap="flat" w="19050">
            <a:solidFill>
              <a:srgbClr val="1B93B0"/>
            </a:solidFill>
            <a:prstDash val="solid"/>
            <a:headEnd type="none" len="sm" w="sm"/>
            <a:tailEnd type="none" len="sm" w="sm"/>
          </a:ln>
        </p:spPr>
      </p:sp>
      <p:sp>
        <p:nvSpPr>
          <p:cNvPr name="AutoShape 4" id="4"/>
          <p:cNvSpPr/>
          <p:nvPr/>
        </p:nvSpPr>
        <p:spPr>
          <a:xfrm>
            <a:off x="9511092" y="7910880"/>
            <a:ext cx="6937768" cy="0"/>
          </a:xfrm>
          <a:prstGeom prst="line">
            <a:avLst/>
          </a:prstGeom>
          <a:ln cap="flat" w="19050">
            <a:solidFill>
              <a:srgbClr val="1B93B0"/>
            </a:solidFill>
            <a:prstDash val="solid"/>
            <a:headEnd type="none" len="sm" w="sm"/>
            <a:tailEnd type="none" len="sm" w="sm"/>
          </a:ln>
        </p:spPr>
      </p:sp>
      <p:sp>
        <p:nvSpPr>
          <p:cNvPr name="AutoShape 5" id="5"/>
          <p:cNvSpPr/>
          <p:nvPr/>
        </p:nvSpPr>
        <p:spPr>
          <a:xfrm>
            <a:off x="9511092" y="3847914"/>
            <a:ext cx="6937768" cy="0"/>
          </a:xfrm>
          <a:prstGeom prst="line">
            <a:avLst/>
          </a:prstGeom>
          <a:ln cap="flat" w="19050">
            <a:solidFill>
              <a:srgbClr val="1B93B0"/>
            </a:solidFill>
            <a:prstDash val="solid"/>
            <a:headEnd type="none" len="sm" w="sm"/>
            <a:tailEnd type="none" len="sm" w="sm"/>
          </a:ln>
        </p:spPr>
      </p:sp>
      <p:sp>
        <p:nvSpPr>
          <p:cNvPr name="AutoShape 6" id="6"/>
          <p:cNvSpPr/>
          <p:nvPr/>
        </p:nvSpPr>
        <p:spPr>
          <a:xfrm>
            <a:off x="9511092" y="4420750"/>
            <a:ext cx="6937768" cy="0"/>
          </a:xfrm>
          <a:prstGeom prst="line">
            <a:avLst/>
          </a:prstGeom>
          <a:ln cap="flat" w="19050">
            <a:solidFill>
              <a:srgbClr val="1B93B0"/>
            </a:solidFill>
            <a:prstDash val="solid"/>
            <a:headEnd type="none" len="sm" w="sm"/>
            <a:tailEnd type="none" len="sm" w="sm"/>
          </a:ln>
        </p:spPr>
      </p:sp>
      <p:sp>
        <p:nvSpPr>
          <p:cNvPr name="AutoShape 7" id="7"/>
          <p:cNvSpPr/>
          <p:nvPr/>
        </p:nvSpPr>
        <p:spPr>
          <a:xfrm>
            <a:off x="9511092" y="4993586"/>
            <a:ext cx="6937768" cy="0"/>
          </a:xfrm>
          <a:prstGeom prst="line">
            <a:avLst/>
          </a:prstGeom>
          <a:ln cap="flat" w="19050">
            <a:solidFill>
              <a:srgbClr val="1B93B0"/>
            </a:solidFill>
            <a:prstDash val="solid"/>
            <a:headEnd type="none" len="sm" w="sm"/>
            <a:tailEnd type="none" len="sm" w="sm"/>
          </a:ln>
        </p:spPr>
      </p:sp>
      <p:sp>
        <p:nvSpPr>
          <p:cNvPr name="AutoShape 8" id="8"/>
          <p:cNvSpPr/>
          <p:nvPr/>
        </p:nvSpPr>
        <p:spPr>
          <a:xfrm>
            <a:off x="9511092" y="5566422"/>
            <a:ext cx="6937768" cy="0"/>
          </a:xfrm>
          <a:prstGeom prst="line">
            <a:avLst/>
          </a:prstGeom>
          <a:ln cap="flat" w="19050">
            <a:solidFill>
              <a:srgbClr val="1B93B0"/>
            </a:solidFill>
            <a:prstDash val="solid"/>
            <a:headEnd type="none" len="sm" w="sm"/>
            <a:tailEnd type="none" len="sm" w="sm"/>
          </a:ln>
        </p:spPr>
      </p:sp>
      <p:sp>
        <p:nvSpPr>
          <p:cNvPr name="AutoShape 9" id="9"/>
          <p:cNvSpPr/>
          <p:nvPr/>
        </p:nvSpPr>
        <p:spPr>
          <a:xfrm>
            <a:off x="9511092" y="8483716"/>
            <a:ext cx="6937768" cy="0"/>
          </a:xfrm>
          <a:prstGeom prst="line">
            <a:avLst/>
          </a:prstGeom>
          <a:ln cap="flat" w="19050">
            <a:solidFill>
              <a:srgbClr val="1B93B0"/>
            </a:solidFill>
            <a:prstDash val="solid"/>
            <a:headEnd type="none" len="sm" w="sm"/>
            <a:tailEnd type="none" len="sm" w="sm"/>
          </a:ln>
        </p:spPr>
      </p:sp>
      <p:grpSp>
        <p:nvGrpSpPr>
          <p:cNvPr name="Group 10" id="10"/>
          <p:cNvGrpSpPr/>
          <p:nvPr/>
        </p:nvGrpSpPr>
        <p:grpSpPr>
          <a:xfrm rot="0">
            <a:off x="9511092" y="2702242"/>
            <a:ext cx="6937768" cy="6937768"/>
            <a:chOff x="0" y="0"/>
            <a:chExt cx="1385212" cy="1385212"/>
          </a:xfrm>
        </p:grpSpPr>
        <p:sp>
          <p:nvSpPr>
            <p:cNvPr name="Freeform 11" id="11"/>
            <p:cNvSpPr/>
            <p:nvPr/>
          </p:nvSpPr>
          <p:spPr>
            <a:xfrm flipH="false" flipV="false" rot="0">
              <a:off x="0" y="0"/>
              <a:ext cx="1385212" cy="1385212"/>
            </a:xfrm>
            <a:custGeom>
              <a:avLst/>
              <a:gdLst/>
              <a:ahLst/>
              <a:cxnLst/>
              <a:rect r="r" b="b" t="t" l="l"/>
              <a:pathLst>
                <a:path h="1385212" w="1385212">
                  <a:moveTo>
                    <a:pt x="56911" y="0"/>
                  </a:moveTo>
                  <a:lnTo>
                    <a:pt x="1328301" y="0"/>
                  </a:lnTo>
                  <a:cubicBezTo>
                    <a:pt x="1343394" y="0"/>
                    <a:pt x="1357870" y="5996"/>
                    <a:pt x="1368543" y="16669"/>
                  </a:cubicBezTo>
                  <a:cubicBezTo>
                    <a:pt x="1379216" y="27342"/>
                    <a:pt x="1385212" y="41818"/>
                    <a:pt x="1385212" y="56911"/>
                  </a:cubicBezTo>
                  <a:lnTo>
                    <a:pt x="1385212" y="1328301"/>
                  </a:lnTo>
                  <a:cubicBezTo>
                    <a:pt x="1385212" y="1343394"/>
                    <a:pt x="1379216" y="1357870"/>
                    <a:pt x="1368543" y="1368543"/>
                  </a:cubicBezTo>
                  <a:cubicBezTo>
                    <a:pt x="1357870" y="1379216"/>
                    <a:pt x="1343394" y="1385212"/>
                    <a:pt x="1328301" y="1385212"/>
                  </a:cubicBezTo>
                  <a:lnTo>
                    <a:pt x="56911" y="1385212"/>
                  </a:lnTo>
                  <a:cubicBezTo>
                    <a:pt x="41818" y="1385212"/>
                    <a:pt x="27342" y="1379216"/>
                    <a:pt x="16669" y="1368543"/>
                  </a:cubicBezTo>
                  <a:cubicBezTo>
                    <a:pt x="5996" y="1357870"/>
                    <a:pt x="0" y="1343394"/>
                    <a:pt x="0" y="1328301"/>
                  </a:cubicBezTo>
                  <a:lnTo>
                    <a:pt x="0" y="56911"/>
                  </a:lnTo>
                  <a:cubicBezTo>
                    <a:pt x="0" y="41818"/>
                    <a:pt x="5996" y="27342"/>
                    <a:pt x="16669" y="16669"/>
                  </a:cubicBezTo>
                  <a:cubicBezTo>
                    <a:pt x="27342" y="5996"/>
                    <a:pt x="41818" y="0"/>
                    <a:pt x="56911" y="0"/>
                  </a:cubicBezTo>
                  <a:close/>
                </a:path>
              </a:pathLst>
            </a:custGeom>
            <a:solidFill>
              <a:srgbClr val="000000">
                <a:alpha val="0"/>
              </a:srgbClr>
            </a:solidFill>
            <a:ln w="19050" cap="rnd">
              <a:solidFill>
                <a:srgbClr val="1B93B0"/>
              </a:solidFill>
              <a:prstDash val="solid"/>
              <a:round/>
            </a:ln>
          </p:spPr>
        </p:sp>
        <p:sp>
          <p:nvSpPr>
            <p:cNvPr name="TextBox 12" id="12"/>
            <p:cNvSpPr txBox="true"/>
            <p:nvPr/>
          </p:nvSpPr>
          <p:spPr>
            <a:xfrm>
              <a:off x="0" y="-38100"/>
              <a:ext cx="1385212" cy="1423312"/>
            </a:xfrm>
            <a:prstGeom prst="rect">
              <a:avLst/>
            </a:prstGeom>
          </p:spPr>
          <p:txBody>
            <a:bodyPr anchor="ctr" rtlCol="false" tIns="58688" lIns="58688" bIns="58688" rIns="58688"/>
            <a:lstStyle/>
            <a:p>
              <a:pPr algn="ctr">
                <a:lnSpc>
                  <a:spcPts val="2660"/>
                </a:lnSpc>
              </a:pPr>
            </a:p>
          </p:txBody>
        </p:sp>
      </p:grpSp>
      <p:sp>
        <p:nvSpPr>
          <p:cNvPr name="AutoShape 13" id="13"/>
          <p:cNvSpPr/>
          <p:nvPr/>
        </p:nvSpPr>
        <p:spPr>
          <a:xfrm>
            <a:off x="9511092" y="9056552"/>
            <a:ext cx="6937768" cy="0"/>
          </a:xfrm>
          <a:prstGeom prst="line">
            <a:avLst/>
          </a:prstGeom>
          <a:ln cap="flat" w="19050">
            <a:solidFill>
              <a:srgbClr val="1B93B0"/>
            </a:solidFill>
            <a:prstDash val="solid"/>
            <a:headEnd type="none" len="sm" w="sm"/>
            <a:tailEnd type="none" len="sm" w="sm"/>
          </a:ln>
        </p:spPr>
      </p:sp>
      <p:sp>
        <p:nvSpPr>
          <p:cNvPr name="AutoShape 14" id="14"/>
          <p:cNvSpPr/>
          <p:nvPr/>
        </p:nvSpPr>
        <p:spPr>
          <a:xfrm>
            <a:off x="9511092" y="3275078"/>
            <a:ext cx="6937768" cy="0"/>
          </a:xfrm>
          <a:prstGeom prst="line">
            <a:avLst/>
          </a:prstGeom>
          <a:ln cap="flat" w="19050">
            <a:solidFill>
              <a:srgbClr val="1B93B0"/>
            </a:solidFill>
            <a:prstDash val="solid"/>
            <a:headEnd type="none" len="sm" w="sm"/>
            <a:tailEnd type="none" len="sm" w="sm"/>
          </a:ln>
        </p:spPr>
      </p:sp>
      <p:sp>
        <p:nvSpPr>
          <p:cNvPr name="AutoShape 15" id="15"/>
          <p:cNvSpPr/>
          <p:nvPr/>
        </p:nvSpPr>
        <p:spPr>
          <a:xfrm flipV="true">
            <a:off x="13578483" y="2702242"/>
            <a:ext cx="0" cy="6937768"/>
          </a:xfrm>
          <a:prstGeom prst="line">
            <a:avLst/>
          </a:prstGeom>
          <a:ln cap="flat" w="19050">
            <a:solidFill>
              <a:srgbClr val="1B93B0"/>
            </a:solidFill>
            <a:prstDash val="solid"/>
            <a:headEnd type="none" len="sm" w="sm"/>
            <a:tailEnd type="none" len="sm" w="sm"/>
          </a:ln>
        </p:spPr>
      </p:sp>
      <p:sp>
        <p:nvSpPr>
          <p:cNvPr name="AutoShape 16" id="16"/>
          <p:cNvSpPr/>
          <p:nvPr/>
        </p:nvSpPr>
        <p:spPr>
          <a:xfrm flipV="true">
            <a:off x="14150434" y="2702242"/>
            <a:ext cx="0" cy="6937768"/>
          </a:xfrm>
          <a:prstGeom prst="line">
            <a:avLst/>
          </a:prstGeom>
          <a:ln cap="flat" w="19050">
            <a:solidFill>
              <a:srgbClr val="1B93B0"/>
            </a:solidFill>
            <a:prstDash val="solid"/>
            <a:headEnd type="none" len="sm" w="sm"/>
            <a:tailEnd type="none" len="sm" w="sm"/>
          </a:ln>
        </p:spPr>
      </p:sp>
      <p:sp>
        <p:nvSpPr>
          <p:cNvPr name="AutoShape 17" id="17"/>
          <p:cNvSpPr/>
          <p:nvPr/>
        </p:nvSpPr>
        <p:spPr>
          <a:xfrm flipV="true">
            <a:off x="14722385" y="2702242"/>
            <a:ext cx="0" cy="6937768"/>
          </a:xfrm>
          <a:prstGeom prst="line">
            <a:avLst/>
          </a:prstGeom>
          <a:ln cap="flat" w="19050">
            <a:solidFill>
              <a:srgbClr val="1B93B0"/>
            </a:solidFill>
            <a:prstDash val="solid"/>
            <a:headEnd type="none" len="sm" w="sm"/>
            <a:tailEnd type="none" len="sm" w="sm"/>
          </a:ln>
        </p:spPr>
      </p:sp>
      <p:sp>
        <p:nvSpPr>
          <p:cNvPr name="AutoShape 18" id="18"/>
          <p:cNvSpPr/>
          <p:nvPr/>
        </p:nvSpPr>
        <p:spPr>
          <a:xfrm flipV="true">
            <a:off x="10665616" y="2702242"/>
            <a:ext cx="0" cy="6937768"/>
          </a:xfrm>
          <a:prstGeom prst="line">
            <a:avLst/>
          </a:prstGeom>
          <a:ln cap="flat" w="19050">
            <a:solidFill>
              <a:srgbClr val="1B93B0"/>
            </a:solidFill>
            <a:prstDash val="solid"/>
            <a:headEnd type="none" len="sm" w="sm"/>
            <a:tailEnd type="none" len="sm" w="sm"/>
          </a:ln>
        </p:spPr>
      </p:sp>
      <p:sp>
        <p:nvSpPr>
          <p:cNvPr name="AutoShape 19" id="19"/>
          <p:cNvSpPr/>
          <p:nvPr/>
        </p:nvSpPr>
        <p:spPr>
          <a:xfrm flipV="true">
            <a:off x="11237567" y="2702242"/>
            <a:ext cx="0" cy="6937768"/>
          </a:xfrm>
          <a:prstGeom prst="line">
            <a:avLst/>
          </a:prstGeom>
          <a:ln cap="flat" w="19050">
            <a:solidFill>
              <a:srgbClr val="1B93B0"/>
            </a:solidFill>
            <a:prstDash val="solid"/>
            <a:headEnd type="none" len="sm" w="sm"/>
            <a:tailEnd type="none" len="sm" w="sm"/>
          </a:ln>
        </p:spPr>
      </p:sp>
      <p:sp>
        <p:nvSpPr>
          <p:cNvPr name="AutoShape 20" id="20"/>
          <p:cNvSpPr/>
          <p:nvPr/>
        </p:nvSpPr>
        <p:spPr>
          <a:xfrm flipV="true">
            <a:off x="11809518" y="2702242"/>
            <a:ext cx="0" cy="6937768"/>
          </a:xfrm>
          <a:prstGeom prst="line">
            <a:avLst/>
          </a:prstGeom>
          <a:ln cap="flat" w="19050">
            <a:solidFill>
              <a:srgbClr val="1B93B0"/>
            </a:solidFill>
            <a:prstDash val="solid"/>
            <a:headEnd type="none" len="sm" w="sm"/>
            <a:tailEnd type="none" len="sm" w="sm"/>
          </a:ln>
        </p:spPr>
      </p:sp>
      <p:sp>
        <p:nvSpPr>
          <p:cNvPr name="AutoShape 21" id="21"/>
          <p:cNvSpPr/>
          <p:nvPr/>
        </p:nvSpPr>
        <p:spPr>
          <a:xfrm flipV="true">
            <a:off x="12381468" y="2702242"/>
            <a:ext cx="0" cy="6937768"/>
          </a:xfrm>
          <a:prstGeom prst="line">
            <a:avLst/>
          </a:prstGeom>
          <a:ln cap="flat" w="19050">
            <a:solidFill>
              <a:srgbClr val="1B93B0"/>
            </a:solidFill>
            <a:prstDash val="solid"/>
            <a:headEnd type="none" len="sm" w="sm"/>
            <a:tailEnd type="none" len="sm" w="sm"/>
          </a:ln>
        </p:spPr>
      </p:sp>
      <p:sp>
        <p:nvSpPr>
          <p:cNvPr name="AutoShape 22" id="22"/>
          <p:cNvSpPr/>
          <p:nvPr/>
        </p:nvSpPr>
        <p:spPr>
          <a:xfrm flipV="true">
            <a:off x="15294336" y="2702242"/>
            <a:ext cx="0" cy="6937768"/>
          </a:xfrm>
          <a:prstGeom prst="line">
            <a:avLst/>
          </a:prstGeom>
          <a:ln cap="flat" w="19050">
            <a:solidFill>
              <a:srgbClr val="1B93B0"/>
            </a:solidFill>
            <a:prstDash val="solid"/>
            <a:headEnd type="none" len="sm" w="sm"/>
            <a:tailEnd type="none" len="sm" w="sm"/>
          </a:ln>
        </p:spPr>
      </p:sp>
      <p:sp>
        <p:nvSpPr>
          <p:cNvPr name="AutoShape 23" id="23"/>
          <p:cNvSpPr/>
          <p:nvPr/>
        </p:nvSpPr>
        <p:spPr>
          <a:xfrm flipV="true">
            <a:off x="15866287" y="2702242"/>
            <a:ext cx="0" cy="6937768"/>
          </a:xfrm>
          <a:prstGeom prst="line">
            <a:avLst/>
          </a:prstGeom>
          <a:ln cap="flat" w="19050">
            <a:solidFill>
              <a:srgbClr val="1B93B0"/>
            </a:solidFill>
            <a:prstDash val="solid"/>
            <a:headEnd type="none" len="sm" w="sm"/>
            <a:tailEnd type="none" len="sm" w="sm"/>
          </a:ln>
        </p:spPr>
      </p:sp>
      <p:sp>
        <p:nvSpPr>
          <p:cNvPr name="AutoShape 24" id="24"/>
          <p:cNvSpPr/>
          <p:nvPr/>
        </p:nvSpPr>
        <p:spPr>
          <a:xfrm flipV="true">
            <a:off x="10093665" y="2702242"/>
            <a:ext cx="0" cy="6937768"/>
          </a:xfrm>
          <a:prstGeom prst="line">
            <a:avLst/>
          </a:prstGeom>
          <a:ln cap="flat" w="19050">
            <a:solidFill>
              <a:srgbClr val="1B93B0"/>
            </a:solidFill>
            <a:prstDash val="solid"/>
            <a:headEnd type="none" len="sm" w="sm"/>
            <a:tailEnd type="none" len="sm" w="sm"/>
          </a:ln>
        </p:spPr>
      </p:sp>
      <p:sp>
        <p:nvSpPr>
          <p:cNvPr name="AutoShape 25" id="25"/>
          <p:cNvSpPr/>
          <p:nvPr/>
        </p:nvSpPr>
        <p:spPr>
          <a:xfrm flipV="true">
            <a:off x="12979976" y="2240494"/>
            <a:ext cx="0" cy="7861265"/>
          </a:xfrm>
          <a:prstGeom prst="line">
            <a:avLst/>
          </a:prstGeom>
          <a:ln cap="flat" w="76200">
            <a:solidFill>
              <a:srgbClr val="A3DFFF"/>
            </a:solidFill>
            <a:prstDash val="solid"/>
            <a:headEnd type="arrow" len="sm" w="med"/>
            <a:tailEnd type="arrow" len="sm" w="med"/>
          </a:ln>
        </p:spPr>
      </p:sp>
      <p:sp>
        <p:nvSpPr>
          <p:cNvPr name="AutoShape 26" id="26"/>
          <p:cNvSpPr/>
          <p:nvPr/>
        </p:nvSpPr>
        <p:spPr>
          <a:xfrm flipH="true">
            <a:off x="9035593" y="6165815"/>
            <a:ext cx="7888765" cy="0"/>
          </a:xfrm>
          <a:prstGeom prst="line">
            <a:avLst/>
          </a:prstGeom>
          <a:ln cap="flat" w="57150">
            <a:solidFill>
              <a:srgbClr val="A3DFFF"/>
            </a:solidFill>
            <a:prstDash val="solid"/>
            <a:headEnd type="arrow" len="sm" w="med"/>
            <a:tailEnd type="arrow" len="sm" w="med"/>
          </a:ln>
        </p:spPr>
      </p:sp>
      <p:sp>
        <p:nvSpPr>
          <p:cNvPr name="AutoShape 27" id="27"/>
          <p:cNvSpPr/>
          <p:nvPr/>
        </p:nvSpPr>
        <p:spPr>
          <a:xfrm>
            <a:off x="12487887" y="2824201"/>
            <a:ext cx="2295071" cy="4569463"/>
          </a:xfrm>
          <a:prstGeom prst="line">
            <a:avLst/>
          </a:prstGeom>
          <a:ln cap="flat" w="133350">
            <a:solidFill>
              <a:srgbClr val="FF9C00"/>
            </a:solidFill>
            <a:prstDash val="solid"/>
            <a:headEnd type="arrow" len="sm" w="med"/>
            <a:tailEnd type="arrow" len="sm" w="med"/>
          </a:ln>
        </p:spPr>
      </p:sp>
      <p:sp>
        <p:nvSpPr>
          <p:cNvPr name="TextBox 28" id="28"/>
          <p:cNvSpPr txBox="true"/>
          <p:nvPr/>
        </p:nvSpPr>
        <p:spPr>
          <a:xfrm rot="0">
            <a:off x="1363641" y="1674148"/>
            <a:ext cx="6803602" cy="858164"/>
          </a:xfrm>
          <a:prstGeom prst="rect">
            <a:avLst/>
          </a:prstGeom>
        </p:spPr>
        <p:txBody>
          <a:bodyPr anchor="t" rtlCol="false" tIns="0" lIns="0" bIns="0" rIns="0">
            <a:spAutoFit/>
          </a:bodyPr>
          <a:lstStyle/>
          <a:p>
            <a:pPr algn="ctr">
              <a:lnSpc>
                <a:spcPts val="6262"/>
              </a:lnSpc>
            </a:pPr>
            <a:r>
              <a:rPr lang="en-US" sz="6662">
                <a:solidFill>
                  <a:srgbClr val="FFFFFF"/>
                </a:solidFill>
                <a:latin typeface="Lovelo"/>
                <a:ea typeface="Lovelo"/>
                <a:cs typeface="Lovelo"/>
                <a:sym typeface="Lovelo"/>
              </a:rPr>
              <a:t>RECALL</a:t>
            </a:r>
          </a:p>
        </p:txBody>
      </p:sp>
      <p:sp>
        <p:nvSpPr>
          <p:cNvPr name="TextBox 29" id="29"/>
          <p:cNvSpPr txBox="true"/>
          <p:nvPr/>
        </p:nvSpPr>
        <p:spPr>
          <a:xfrm rot="0">
            <a:off x="1363641" y="2506064"/>
            <a:ext cx="7096595" cy="819734"/>
          </a:xfrm>
          <a:prstGeom prst="rect">
            <a:avLst/>
          </a:prstGeom>
        </p:spPr>
        <p:txBody>
          <a:bodyPr anchor="t" rtlCol="false" tIns="0" lIns="0" bIns="0" rIns="0">
            <a:spAutoFit/>
          </a:bodyPr>
          <a:lstStyle/>
          <a:p>
            <a:pPr algn="ctr">
              <a:lnSpc>
                <a:spcPts val="5700"/>
              </a:lnSpc>
            </a:pPr>
            <a:r>
              <a:rPr lang="en-US" b="true" sz="5816">
                <a:solidFill>
                  <a:srgbClr val="FFFFFF"/>
                </a:solidFill>
                <a:latin typeface="Poppins Bold"/>
                <a:ea typeface="Poppins Bold"/>
                <a:cs typeface="Poppins Bold"/>
                <a:sym typeface="Poppins Bold"/>
              </a:rPr>
              <a:t>Graph y= -2x + 4.</a:t>
            </a:r>
          </a:p>
        </p:txBody>
      </p:sp>
      <p:grpSp>
        <p:nvGrpSpPr>
          <p:cNvPr name="Group 30" id="30"/>
          <p:cNvGrpSpPr/>
          <p:nvPr/>
        </p:nvGrpSpPr>
        <p:grpSpPr>
          <a:xfrm rot="0">
            <a:off x="1891854" y="3611498"/>
            <a:ext cx="6410767" cy="834803"/>
            <a:chOff x="0" y="0"/>
            <a:chExt cx="1495164" cy="194699"/>
          </a:xfrm>
        </p:grpSpPr>
        <p:sp>
          <p:nvSpPr>
            <p:cNvPr name="Freeform 31" id="31"/>
            <p:cNvSpPr/>
            <p:nvPr/>
          </p:nvSpPr>
          <p:spPr>
            <a:xfrm flipH="false" flipV="false" rot="0">
              <a:off x="0" y="0"/>
              <a:ext cx="1495164" cy="194699"/>
            </a:xfrm>
            <a:custGeom>
              <a:avLst/>
              <a:gdLst/>
              <a:ahLst/>
              <a:cxnLst/>
              <a:rect r="r" b="b" t="t" l="l"/>
              <a:pathLst>
                <a:path h="194699" w="1495164">
                  <a:moveTo>
                    <a:pt x="47098" y="0"/>
                  </a:moveTo>
                  <a:lnTo>
                    <a:pt x="1448066" y="0"/>
                  </a:lnTo>
                  <a:cubicBezTo>
                    <a:pt x="1460557" y="0"/>
                    <a:pt x="1472536" y="4962"/>
                    <a:pt x="1481369" y="13795"/>
                  </a:cubicBezTo>
                  <a:cubicBezTo>
                    <a:pt x="1490202" y="22627"/>
                    <a:pt x="1495164" y="34607"/>
                    <a:pt x="1495164" y="47098"/>
                  </a:cubicBezTo>
                  <a:lnTo>
                    <a:pt x="1495164" y="147601"/>
                  </a:lnTo>
                  <a:cubicBezTo>
                    <a:pt x="1495164" y="160092"/>
                    <a:pt x="1490202" y="172071"/>
                    <a:pt x="1481369" y="180904"/>
                  </a:cubicBezTo>
                  <a:cubicBezTo>
                    <a:pt x="1472536" y="189737"/>
                    <a:pt x="1460557" y="194699"/>
                    <a:pt x="1448066" y="194699"/>
                  </a:cubicBezTo>
                  <a:lnTo>
                    <a:pt x="47098" y="194699"/>
                  </a:lnTo>
                  <a:cubicBezTo>
                    <a:pt x="34607" y="194699"/>
                    <a:pt x="22627" y="189737"/>
                    <a:pt x="13795" y="180904"/>
                  </a:cubicBezTo>
                  <a:cubicBezTo>
                    <a:pt x="4962" y="172071"/>
                    <a:pt x="0" y="160092"/>
                    <a:pt x="0" y="147601"/>
                  </a:cubicBezTo>
                  <a:lnTo>
                    <a:pt x="0" y="47098"/>
                  </a:lnTo>
                  <a:cubicBezTo>
                    <a:pt x="0" y="34607"/>
                    <a:pt x="4962" y="22627"/>
                    <a:pt x="13795" y="13795"/>
                  </a:cubicBezTo>
                  <a:cubicBezTo>
                    <a:pt x="22627" y="4962"/>
                    <a:pt x="34607" y="0"/>
                    <a:pt x="47098" y="0"/>
                  </a:cubicBezTo>
                  <a:close/>
                </a:path>
              </a:pathLst>
            </a:custGeom>
            <a:solidFill>
              <a:srgbClr val="F8F3E6"/>
            </a:solidFill>
            <a:ln cap="rnd">
              <a:noFill/>
              <a:prstDash val="solid"/>
              <a:round/>
            </a:ln>
          </p:spPr>
        </p:sp>
        <p:sp>
          <p:nvSpPr>
            <p:cNvPr name="TextBox 32" id="32"/>
            <p:cNvSpPr txBox="true"/>
            <p:nvPr/>
          </p:nvSpPr>
          <p:spPr>
            <a:xfrm>
              <a:off x="0" y="-28575"/>
              <a:ext cx="1495164" cy="223274"/>
            </a:xfrm>
            <a:prstGeom prst="rect">
              <a:avLst/>
            </a:prstGeom>
          </p:spPr>
          <p:txBody>
            <a:bodyPr anchor="ctr" rtlCol="false" tIns="45126" lIns="45126" bIns="45126" rIns="45126"/>
            <a:lstStyle/>
            <a:p>
              <a:pPr algn="ctr" marL="0" indent="0" lvl="0">
                <a:lnSpc>
                  <a:spcPts val="2230"/>
                </a:lnSpc>
                <a:spcBef>
                  <a:spcPct val="0"/>
                </a:spcBef>
              </a:pPr>
            </a:p>
          </p:txBody>
        </p:sp>
      </p:grpSp>
      <p:grpSp>
        <p:nvGrpSpPr>
          <p:cNvPr name="Group 33" id="33"/>
          <p:cNvGrpSpPr/>
          <p:nvPr/>
        </p:nvGrpSpPr>
        <p:grpSpPr>
          <a:xfrm rot="0">
            <a:off x="1440474" y="3532816"/>
            <a:ext cx="977588" cy="977588"/>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35" id="35"/>
            <p:cNvSpPr txBox="true"/>
            <p:nvPr/>
          </p:nvSpPr>
          <p:spPr>
            <a:xfrm>
              <a:off x="76200" y="38100"/>
              <a:ext cx="660400" cy="698500"/>
            </a:xfrm>
            <a:prstGeom prst="rect">
              <a:avLst/>
            </a:prstGeom>
          </p:spPr>
          <p:txBody>
            <a:bodyPr anchor="ctr" rtlCol="false" tIns="35804" lIns="35804" bIns="35804" rIns="35804"/>
            <a:lstStyle/>
            <a:p>
              <a:pPr algn="ctr">
                <a:lnSpc>
                  <a:spcPts val="2659"/>
                </a:lnSpc>
                <a:spcBef>
                  <a:spcPct val="0"/>
                </a:spcBef>
              </a:pPr>
            </a:p>
          </p:txBody>
        </p:sp>
      </p:grpSp>
      <p:grpSp>
        <p:nvGrpSpPr>
          <p:cNvPr name="Group 36" id="36"/>
          <p:cNvGrpSpPr/>
          <p:nvPr/>
        </p:nvGrpSpPr>
        <p:grpSpPr>
          <a:xfrm rot="0">
            <a:off x="1365647" y="3530474"/>
            <a:ext cx="977588" cy="977588"/>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38" id="38"/>
            <p:cNvSpPr txBox="true"/>
            <p:nvPr/>
          </p:nvSpPr>
          <p:spPr>
            <a:xfrm>
              <a:off x="76200" y="38100"/>
              <a:ext cx="660400" cy="698500"/>
            </a:xfrm>
            <a:prstGeom prst="rect">
              <a:avLst/>
            </a:prstGeom>
          </p:spPr>
          <p:txBody>
            <a:bodyPr anchor="ctr" rtlCol="false" tIns="35804" lIns="35804" bIns="35804" rIns="35804"/>
            <a:lstStyle/>
            <a:p>
              <a:pPr algn="ctr">
                <a:lnSpc>
                  <a:spcPts val="2659"/>
                </a:lnSpc>
                <a:spcBef>
                  <a:spcPct val="0"/>
                </a:spcBef>
              </a:pPr>
            </a:p>
          </p:txBody>
        </p:sp>
      </p:grpSp>
      <p:sp>
        <p:nvSpPr>
          <p:cNvPr name="TextBox 39" id="39"/>
          <p:cNvSpPr txBox="true"/>
          <p:nvPr/>
        </p:nvSpPr>
        <p:spPr>
          <a:xfrm rot="0">
            <a:off x="1440474" y="3546495"/>
            <a:ext cx="832895" cy="1004678"/>
          </a:xfrm>
          <a:prstGeom prst="rect">
            <a:avLst/>
          </a:prstGeom>
        </p:spPr>
        <p:txBody>
          <a:bodyPr anchor="t" rtlCol="false" tIns="0" lIns="0" bIns="0" rIns="0">
            <a:spAutoFit/>
          </a:bodyPr>
          <a:lstStyle/>
          <a:p>
            <a:pPr algn="ctr">
              <a:lnSpc>
                <a:spcPts val="8122"/>
              </a:lnSpc>
            </a:pPr>
            <a:r>
              <a:rPr lang="en-US" sz="5801">
                <a:solidFill>
                  <a:srgbClr val="0B2F70"/>
                </a:solidFill>
                <a:latin typeface="Lovelo"/>
                <a:ea typeface="Lovelo"/>
                <a:cs typeface="Lovelo"/>
                <a:sym typeface="Lovelo"/>
              </a:rPr>
              <a:t>1</a:t>
            </a:r>
          </a:p>
        </p:txBody>
      </p:sp>
      <p:sp>
        <p:nvSpPr>
          <p:cNvPr name="TextBox 40" id="40"/>
          <p:cNvSpPr txBox="true"/>
          <p:nvPr/>
        </p:nvSpPr>
        <p:spPr>
          <a:xfrm rot="0">
            <a:off x="2954976" y="3818821"/>
            <a:ext cx="4806992" cy="491631"/>
          </a:xfrm>
          <a:prstGeom prst="rect">
            <a:avLst/>
          </a:prstGeom>
        </p:spPr>
        <p:txBody>
          <a:bodyPr anchor="t" rtlCol="false" tIns="0" lIns="0" bIns="0" rIns="0">
            <a:spAutoFit/>
          </a:bodyPr>
          <a:lstStyle/>
          <a:p>
            <a:pPr algn="ctr" marL="0" indent="0" lvl="0">
              <a:lnSpc>
                <a:spcPts val="3482"/>
              </a:lnSpc>
              <a:spcBef>
                <a:spcPct val="0"/>
              </a:spcBef>
            </a:pPr>
            <a:r>
              <a:rPr lang="en-US" b="true" sz="3553" strike="noStrike" u="none">
                <a:solidFill>
                  <a:srgbClr val="042560"/>
                </a:solidFill>
                <a:latin typeface="Poppins Bold"/>
                <a:ea typeface="Poppins Bold"/>
                <a:cs typeface="Poppins Bold"/>
                <a:sym typeface="Poppins Bold"/>
              </a:rPr>
              <a:t>Plot the y-intercept.</a:t>
            </a:r>
          </a:p>
        </p:txBody>
      </p:sp>
      <p:grpSp>
        <p:nvGrpSpPr>
          <p:cNvPr name="Group 41" id="41"/>
          <p:cNvGrpSpPr/>
          <p:nvPr/>
        </p:nvGrpSpPr>
        <p:grpSpPr>
          <a:xfrm rot="0">
            <a:off x="1891854" y="5696766"/>
            <a:ext cx="6410767" cy="1312086"/>
            <a:chOff x="0" y="0"/>
            <a:chExt cx="1495164" cy="306014"/>
          </a:xfrm>
        </p:grpSpPr>
        <p:sp>
          <p:nvSpPr>
            <p:cNvPr name="Freeform 42" id="42"/>
            <p:cNvSpPr/>
            <p:nvPr/>
          </p:nvSpPr>
          <p:spPr>
            <a:xfrm flipH="false" flipV="false" rot="0">
              <a:off x="0" y="0"/>
              <a:ext cx="1495164" cy="306014"/>
            </a:xfrm>
            <a:custGeom>
              <a:avLst/>
              <a:gdLst/>
              <a:ahLst/>
              <a:cxnLst/>
              <a:rect r="r" b="b" t="t" l="l"/>
              <a:pathLst>
                <a:path h="306014" w="1495164">
                  <a:moveTo>
                    <a:pt x="47098" y="0"/>
                  </a:moveTo>
                  <a:lnTo>
                    <a:pt x="1448066" y="0"/>
                  </a:lnTo>
                  <a:cubicBezTo>
                    <a:pt x="1460557" y="0"/>
                    <a:pt x="1472536" y="4962"/>
                    <a:pt x="1481369" y="13795"/>
                  </a:cubicBezTo>
                  <a:cubicBezTo>
                    <a:pt x="1490202" y="22627"/>
                    <a:pt x="1495164" y="34607"/>
                    <a:pt x="1495164" y="47098"/>
                  </a:cubicBezTo>
                  <a:lnTo>
                    <a:pt x="1495164" y="258916"/>
                  </a:lnTo>
                  <a:cubicBezTo>
                    <a:pt x="1495164" y="271407"/>
                    <a:pt x="1490202" y="283387"/>
                    <a:pt x="1481369" y="292219"/>
                  </a:cubicBezTo>
                  <a:cubicBezTo>
                    <a:pt x="1472536" y="301052"/>
                    <a:pt x="1460557" y="306014"/>
                    <a:pt x="1448066" y="306014"/>
                  </a:cubicBezTo>
                  <a:lnTo>
                    <a:pt x="47098" y="306014"/>
                  </a:lnTo>
                  <a:cubicBezTo>
                    <a:pt x="34607" y="306014"/>
                    <a:pt x="22627" y="301052"/>
                    <a:pt x="13795" y="292219"/>
                  </a:cubicBezTo>
                  <a:cubicBezTo>
                    <a:pt x="4962" y="283387"/>
                    <a:pt x="0" y="271407"/>
                    <a:pt x="0" y="258916"/>
                  </a:cubicBezTo>
                  <a:lnTo>
                    <a:pt x="0" y="47098"/>
                  </a:lnTo>
                  <a:cubicBezTo>
                    <a:pt x="0" y="34607"/>
                    <a:pt x="4962" y="22627"/>
                    <a:pt x="13795" y="13795"/>
                  </a:cubicBezTo>
                  <a:cubicBezTo>
                    <a:pt x="22627" y="4962"/>
                    <a:pt x="34607" y="0"/>
                    <a:pt x="47098" y="0"/>
                  </a:cubicBezTo>
                  <a:close/>
                </a:path>
              </a:pathLst>
            </a:custGeom>
            <a:solidFill>
              <a:srgbClr val="F8F3E6"/>
            </a:solidFill>
            <a:ln cap="rnd">
              <a:noFill/>
              <a:prstDash val="solid"/>
              <a:round/>
            </a:ln>
          </p:spPr>
        </p:sp>
        <p:sp>
          <p:nvSpPr>
            <p:cNvPr name="TextBox 43" id="43"/>
            <p:cNvSpPr txBox="true"/>
            <p:nvPr/>
          </p:nvSpPr>
          <p:spPr>
            <a:xfrm>
              <a:off x="0" y="-28575"/>
              <a:ext cx="1495164" cy="334589"/>
            </a:xfrm>
            <a:prstGeom prst="rect">
              <a:avLst/>
            </a:prstGeom>
          </p:spPr>
          <p:txBody>
            <a:bodyPr anchor="ctr" rtlCol="false" tIns="50800" lIns="50800" bIns="50800" rIns="50800"/>
            <a:lstStyle/>
            <a:p>
              <a:pPr algn="ctr" marL="0" indent="0" lvl="0">
                <a:lnSpc>
                  <a:spcPts val="2230"/>
                </a:lnSpc>
                <a:spcBef>
                  <a:spcPct val="0"/>
                </a:spcBef>
              </a:pPr>
            </a:p>
          </p:txBody>
        </p:sp>
      </p:grpSp>
      <p:grpSp>
        <p:nvGrpSpPr>
          <p:cNvPr name="Group 44" id="44"/>
          <p:cNvGrpSpPr/>
          <p:nvPr/>
        </p:nvGrpSpPr>
        <p:grpSpPr>
          <a:xfrm rot="0">
            <a:off x="1440474" y="5863334"/>
            <a:ext cx="977588" cy="977588"/>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46" id="46"/>
            <p:cNvSpPr txBox="true"/>
            <p:nvPr/>
          </p:nvSpPr>
          <p:spPr>
            <a:xfrm>
              <a:off x="76200" y="38100"/>
              <a:ext cx="660400" cy="698500"/>
            </a:xfrm>
            <a:prstGeom prst="rect">
              <a:avLst/>
            </a:prstGeom>
          </p:spPr>
          <p:txBody>
            <a:bodyPr anchor="ctr" rtlCol="false" tIns="40306" lIns="40306" bIns="40306" rIns="40306"/>
            <a:lstStyle/>
            <a:p>
              <a:pPr algn="ctr">
                <a:lnSpc>
                  <a:spcPts val="2660"/>
                </a:lnSpc>
                <a:spcBef>
                  <a:spcPct val="0"/>
                </a:spcBef>
              </a:pPr>
            </a:p>
          </p:txBody>
        </p:sp>
      </p:grpSp>
      <p:grpSp>
        <p:nvGrpSpPr>
          <p:cNvPr name="Group 47" id="47"/>
          <p:cNvGrpSpPr/>
          <p:nvPr/>
        </p:nvGrpSpPr>
        <p:grpSpPr>
          <a:xfrm rot="0">
            <a:off x="1365647" y="5860992"/>
            <a:ext cx="977588" cy="977588"/>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49" id="49"/>
            <p:cNvSpPr txBox="true"/>
            <p:nvPr/>
          </p:nvSpPr>
          <p:spPr>
            <a:xfrm>
              <a:off x="76200" y="38100"/>
              <a:ext cx="660400" cy="698500"/>
            </a:xfrm>
            <a:prstGeom prst="rect">
              <a:avLst/>
            </a:prstGeom>
          </p:spPr>
          <p:txBody>
            <a:bodyPr anchor="ctr" rtlCol="false" tIns="40306" lIns="40306" bIns="40306" rIns="40306"/>
            <a:lstStyle/>
            <a:p>
              <a:pPr algn="ctr">
                <a:lnSpc>
                  <a:spcPts val="2660"/>
                </a:lnSpc>
                <a:spcBef>
                  <a:spcPct val="0"/>
                </a:spcBef>
              </a:pPr>
            </a:p>
          </p:txBody>
        </p:sp>
      </p:grpSp>
      <p:sp>
        <p:nvSpPr>
          <p:cNvPr name="TextBox 50" id="50"/>
          <p:cNvSpPr txBox="true"/>
          <p:nvPr/>
        </p:nvSpPr>
        <p:spPr>
          <a:xfrm rot="0">
            <a:off x="1440474" y="5877013"/>
            <a:ext cx="832895" cy="1005163"/>
          </a:xfrm>
          <a:prstGeom prst="rect">
            <a:avLst/>
          </a:prstGeom>
        </p:spPr>
        <p:txBody>
          <a:bodyPr anchor="t" rtlCol="false" tIns="0" lIns="0" bIns="0" rIns="0">
            <a:spAutoFit/>
          </a:bodyPr>
          <a:lstStyle/>
          <a:p>
            <a:pPr algn="ctr">
              <a:lnSpc>
                <a:spcPts val="8122"/>
              </a:lnSpc>
            </a:pPr>
            <a:r>
              <a:rPr lang="en-US" sz="5801">
                <a:solidFill>
                  <a:srgbClr val="0B2F70"/>
                </a:solidFill>
                <a:latin typeface="Lovelo"/>
                <a:ea typeface="Lovelo"/>
                <a:cs typeface="Lovelo"/>
                <a:sym typeface="Lovelo"/>
              </a:rPr>
              <a:t>2</a:t>
            </a:r>
          </a:p>
        </p:txBody>
      </p:sp>
      <p:sp>
        <p:nvSpPr>
          <p:cNvPr name="TextBox 51" id="51"/>
          <p:cNvSpPr txBox="true"/>
          <p:nvPr/>
        </p:nvSpPr>
        <p:spPr>
          <a:xfrm rot="0">
            <a:off x="2625886" y="5908617"/>
            <a:ext cx="5465173" cy="927952"/>
          </a:xfrm>
          <a:prstGeom prst="rect">
            <a:avLst/>
          </a:prstGeom>
        </p:spPr>
        <p:txBody>
          <a:bodyPr anchor="t" rtlCol="false" tIns="0" lIns="0" bIns="0" rIns="0">
            <a:spAutoFit/>
          </a:bodyPr>
          <a:lstStyle/>
          <a:p>
            <a:pPr algn="ctr" marL="0" indent="0" lvl="0">
              <a:lnSpc>
                <a:spcPts val="3482"/>
              </a:lnSpc>
              <a:spcBef>
                <a:spcPct val="0"/>
              </a:spcBef>
            </a:pPr>
            <a:r>
              <a:rPr lang="en-US" b="true" sz="3553" strike="noStrike" u="none">
                <a:solidFill>
                  <a:srgbClr val="042560"/>
                </a:solidFill>
                <a:latin typeface="Poppins Bold"/>
                <a:ea typeface="Poppins Bold"/>
                <a:cs typeface="Poppins Bold"/>
                <a:sym typeface="Poppins Bold"/>
              </a:rPr>
              <a:t>Use the slope to find at least two other points.</a:t>
            </a:r>
          </a:p>
        </p:txBody>
      </p:sp>
      <p:grpSp>
        <p:nvGrpSpPr>
          <p:cNvPr name="Group 52" id="52"/>
          <p:cNvGrpSpPr/>
          <p:nvPr/>
        </p:nvGrpSpPr>
        <p:grpSpPr>
          <a:xfrm rot="0">
            <a:off x="1756476" y="8637372"/>
            <a:ext cx="6410767" cy="1312086"/>
            <a:chOff x="0" y="0"/>
            <a:chExt cx="1495164" cy="306014"/>
          </a:xfrm>
        </p:grpSpPr>
        <p:sp>
          <p:nvSpPr>
            <p:cNvPr name="Freeform 53" id="53"/>
            <p:cNvSpPr/>
            <p:nvPr/>
          </p:nvSpPr>
          <p:spPr>
            <a:xfrm flipH="false" flipV="false" rot="0">
              <a:off x="0" y="0"/>
              <a:ext cx="1495164" cy="306014"/>
            </a:xfrm>
            <a:custGeom>
              <a:avLst/>
              <a:gdLst/>
              <a:ahLst/>
              <a:cxnLst/>
              <a:rect r="r" b="b" t="t" l="l"/>
              <a:pathLst>
                <a:path h="306014" w="1495164">
                  <a:moveTo>
                    <a:pt x="47098" y="0"/>
                  </a:moveTo>
                  <a:lnTo>
                    <a:pt x="1448066" y="0"/>
                  </a:lnTo>
                  <a:cubicBezTo>
                    <a:pt x="1460557" y="0"/>
                    <a:pt x="1472536" y="4962"/>
                    <a:pt x="1481369" y="13795"/>
                  </a:cubicBezTo>
                  <a:cubicBezTo>
                    <a:pt x="1490202" y="22627"/>
                    <a:pt x="1495164" y="34607"/>
                    <a:pt x="1495164" y="47098"/>
                  </a:cubicBezTo>
                  <a:lnTo>
                    <a:pt x="1495164" y="258916"/>
                  </a:lnTo>
                  <a:cubicBezTo>
                    <a:pt x="1495164" y="271407"/>
                    <a:pt x="1490202" y="283387"/>
                    <a:pt x="1481369" y="292219"/>
                  </a:cubicBezTo>
                  <a:cubicBezTo>
                    <a:pt x="1472536" y="301052"/>
                    <a:pt x="1460557" y="306014"/>
                    <a:pt x="1448066" y="306014"/>
                  </a:cubicBezTo>
                  <a:lnTo>
                    <a:pt x="47098" y="306014"/>
                  </a:lnTo>
                  <a:cubicBezTo>
                    <a:pt x="34607" y="306014"/>
                    <a:pt x="22627" y="301052"/>
                    <a:pt x="13795" y="292219"/>
                  </a:cubicBezTo>
                  <a:cubicBezTo>
                    <a:pt x="4962" y="283387"/>
                    <a:pt x="0" y="271407"/>
                    <a:pt x="0" y="258916"/>
                  </a:cubicBezTo>
                  <a:lnTo>
                    <a:pt x="0" y="47098"/>
                  </a:lnTo>
                  <a:cubicBezTo>
                    <a:pt x="0" y="34607"/>
                    <a:pt x="4962" y="22627"/>
                    <a:pt x="13795" y="13795"/>
                  </a:cubicBezTo>
                  <a:cubicBezTo>
                    <a:pt x="22627" y="4962"/>
                    <a:pt x="34607" y="0"/>
                    <a:pt x="47098" y="0"/>
                  </a:cubicBezTo>
                  <a:close/>
                </a:path>
              </a:pathLst>
            </a:custGeom>
            <a:solidFill>
              <a:srgbClr val="F8F3E6"/>
            </a:solidFill>
            <a:ln cap="rnd">
              <a:noFill/>
              <a:prstDash val="solid"/>
              <a:round/>
            </a:ln>
          </p:spPr>
        </p:sp>
        <p:sp>
          <p:nvSpPr>
            <p:cNvPr name="TextBox 54" id="54"/>
            <p:cNvSpPr txBox="true"/>
            <p:nvPr/>
          </p:nvSpPr>
          <p:spPr>
            <a:xfrm>
              <a:off x="0" y="-28575"/>
              <a:ext cx="1495164" cy="334589"/>
            </a:xfrm>
            <a:prstGeom prst="rect">
              <a:avLst/>
            </a:prstGeom>
          </p:spPr>
          <p:txBody>
            <a:bodyPr anchor="ctr" rtlCol="false" tIns="45126" lIns="45126" bIns="45126" rIns="45126"/>
            <a:lstStyle/>
            <a:p>
              <a:pPr algn="ctr" marL="0" indent="0" lvl="0">
                <a:lnSpc>
                  <a:spcPts val="2230"/>
                </a:lnSpc>
                <a:spcBef>
                  <a:spcPct val="0"/>
                </a:spcBef>
              </a:pPr>
            </a:p>
          </p:txBody>
        </p:sp>
      </p:grpSp>
      <p:grpSp>
        <p:nvGrpSpPr>
          <p:cNvPr name="Group 55" id="55"/>
          <p:cNvGrpSpPr/>
          <p:nvPr/>
        </p:nvGrpSpPr>
        <p:grpSpPr>
          <a:xfrm rot="0">
            <a:off x="1440474" y="8809410"/>
            <a:ext cx="977588" cy="977588"/>
            <a:chOff x="0" y="0"/>
            <a:chExt cx="812800" cy="812800"/>
          </a:xfrm>
        </p:grpSpPr>
        <p:sp>
          <p:nvSpPr>
            <p:cNvPr name="Freeform 56" id="5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57" id="57"/>
            <p:cNvSpPr txBox="true"/>
            <p:nvPr/>
          </p:nvSpPr>
          <p:spPr>
            <a:xfrm>
              <a:off x="76200" y="38100"/>
              <a:ext cx="660400" cy="698500"/>
            </a:xfrm>
            <a:prstGeom prst="rect">
              <a:avLst/>
            </a:prstGeom>
          </p:spPr>
          <p:txBody>
            <a:bodyPr anchor="ctr" rtlCol="false" tIns="35804" lIns="35804" bIns="35804" rIns="35804"/>
            <a:lstStyle/>
            <a:p>
              <a:pPr algn="ctr">
                <a:lnSpc>
                  <a:spcPts val="2659"/>
                </a:lnSpc>
                <a:spcBef>
                  <a:spcPct val="0"/>
                </a:spcBef>
              </a:pPr>
            </a:p>
          </p:txBody>
        </p:sp>
      </p:grpSp>
      <p:grpSp>
        <p:nvGrpSpPr>
          <p:cNvPr name="Group 58" id="58"/>
          <p:cNvGrpSpPr/>
          <p:nvPr/>
        </p:nvGrpSpPr>
        <p:grpSpPr>
          <a:xfrm rot="0">
            <a:off x="1365647" y="8807068"/>
            <a:ext cx="977588" cy="977588"/>
            <a:chOff x="0" y="0"/>
            <a:chExt cx="812800" cy="812800"/>
          </a:xfrm>
        </p:grpSpPr>
        <p:sp>
          <p:nvSpPr>
            <p:cNvPr name="Freeform 59" id="5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60" id="60"/>
            <p:cNvSpPr txBox="true"/>
            <p:nvPr/>
          </p:nvSpPr>
          <p:spPr>
            <a:xfrm>
              <a:off x="76200" y="38100"/>
              <a:ext cx="660400" cy="698500"/>
            </a:xfrm>
            <a:prstGeom prst="rect">
              <a:avLst/>
            </a:prstGeom>
          </p:spPr>
          <p:txBody>
            <a:bodyPr anchor="ctr" rtlCol="false" tIns="35804" lIns="35804" bIns="35804" rIns="35804"/>
            <a:lstStyle/>
            <a:p>
              <a:pPr algn="ctr">
                <a:lnSpc>
                  <a:spcPts val="2659"/>
                </a:lnSpc>
                <a:spcBef>
                  <a:spcPct val="0"/>
                </a:spcBef>
              </a:pPr>
            </a:p>
          </p:txBody>
        </p:sp>
      </p:grpSp>
      <p:sp>
        <p:nvSpPr>
          <p:cNvPr name="TextBox 61" id="61"/>
          <p:cNvSpPr txBox="true"/>
          <p:nvPr/>
        </p:nvSpPr>
        <p:spPr>
          <a:xfrm rot="0">
            <a:off x="1440474" y="8823090"/>
            <a:ext cx="832895" cy="1004678"/>
          </a:xfrm>
          <a:prstGeom prst="rect">
            <a:avLst/>
          </a:prstGeom>
        </p:spPr>
        <p:txBody>
          <a:bodyPr anchor="t" rtlCol="false" tIns="0" lIns="0" bIns="0" rIns="0">
            <a:spAutoFit/>
          </a:bodyPr>
          <a:lstStyle/>
          <a:p>
            <a:pPr algn="ctr">
              <a:lnSpc>
                <a:spcPts val="8122"/>
              </a:lnSpc>
            </a:pPr>
            <a:r>
              <a:rPr lang="en-US" sz="5801">
                <a:solidFill>
                  <a:srgbClr val="0B2F70"/>
                </a:solidFill>
                <a:latin typeface="Lovelo"/>
                <a:ea typeface="Lovelo"/>
                <a:cs typeface="Lovelo"/>
                <a:sym typeface="Lovelo"/>
              </a:rPr>
              <a:t>3</a:t>
            </a:r>
          </a:p>
        </p:txBody>
      </p:sp>
      <p:sp>
        <p:nvSpPr>
          <p:cNvPr name="TextBox 62" id="62"/>
          <p:cNvSpPr txBox="true"/>
          <p:nvPr/>
        </p:nvSpPr>
        <p:spPr>
          <a:xfrm rot="0">
            <a:off x="2998635" y="8854693"/>
            <a:ext cx="4719674" cy="925069"/>
          </a:xfrm>
          <a:prstGeom prst="rect">
            <a:avLst/>
          </a:prstGeom>
        </p:spPr>
        <p:txBody>
          <a:bodyPr anchor="t" rtlCol="false" tIns="0" lIns="0" bIns="0" rIns="0">
            <a:spAutoFit/>
          </a:bodyPr>
          <a:lstStyle/>
          <a:p>
            <a:pPr algn="ctr" marL="0" indent="0" lvl="0">
              <a:lnSpc>
                <a:spcPts val="3482"/>
              </a:lnSpc>
              <a:spcBef>
                <a:spcPct val="0"/>
              </a:spcBef>
            </a:pPr>
            <a:r>
              <a:rPr lang="en-US" b="true" sz="3553" strike="noStrike" u="none">
                <a:solidFill>
                  <a:srgbClr val="042560"/>
                </a:solidFill>
                <a:latin typeface="Poppins Bold"/>
                <a:ea typeface="Poppins Bold"/>
                <a:cs typeface="Poppins Bold"/>
                <a:sym typeface="Poppins Bold"/>
              </a:rPr>
              <a:t>Draw a straight line through the points.</a:t>
            </a:r>
          </a:p>
        </p:txBody>
      </p:sp>
      <p:grpSp>
        <p:nvGrpSpPr>
          <p:cNvPr name="Group 63" id="63"/>
          <p:cNvGrpSpPr/>
          <p:nvPr/>
        </p:nvGrpSpPr>
        <p:grpSpPr>
          <a:xfrm rot="0">
            <a:off x="3237385" y="4597621"/>
            <a:ext cx="4468998" cy="930712"/>
            <a:chOff x="0" y="0"/>
            <a:chExt cx="1304467" cy="271668"/>
          </a:xfrm>
        </p:grpSpPr>
        <p:sp>
          <p:nvSpPr>
            <p:cNvPr name="Freeform 64" id="64"/>
            <p:cNvSpPr/>
            <p:nvPr/>
          </p:nvSpPr>
          <p:spPr>
            <a:xfrm flipH="false" flipV="false" rot="0">
              <a:off x="0" y="0"/>
              <a:ext cx="1304467" cy="271668"/>
            </a:xfrm>
            <a:custGeom>
              <a:avLst/>
              <a:gdLst/>
              <a:ahLst/>
              <a:cxnLst/>
              <a:rect r="r" b="b" t="t" l="l"/>
              <a:pathLst>
                <a:path h="271668" w="1304467">
                  <a:moveTo>
                    <a:pt x="67562" y="0"/>
                  </a:moveTo>
                  <a:lnTo>
                    <a:pt x="1236905" y="0"/>
                  </a:lnTo>
                  <a:cubicBezTo>
                    <a:pt x="1274219" y="0"/>
                    <a:pt x="1304467" y="30249"/>
                    <a:pt x="1304467" y="67562"/>
                  </a:cubicBezTo>
                  <a:lnTo>
                    <a:pt x="1304467" y="204106"/>
                  </a:lnTo>
                  <a:cubicBezTo>
                    <a:pt x="1304467" y="241419"/>
                    <a:pt x="1274219" y="271668"/>
                    <a:pt x="1236905" y="271668"/>
                  </a:cubicBezTo>
                  <a:lnTo>
                    <a:pt x="67562" y="271668"/>
                  </a:lnTo>
                  <a:cubicBezTo>
                    <a:pt x="30249" y="271668"/>
                    <a:pt x="0" y="241419"/>
                    <a:pt x="0" y="204106"/>
                  </a:cubicBezTo>
                  <a:lnTo>
                    <a:pt x="0" y="67562"/>
                  </a:lnTo>
                  <a:cubicBezTo>
                    <a:pt x="0" y="30249"/>
                    <a:pt x="30249" y="0"/>
                    <a:pt x="67562" y="0"/>
                  </a:cubicBezTo>
                  <a:close/>
                </a:path>
              </a:pathLst>
            </a:custGeom>
            <a:solidFill>
              <a:srgbClr val="F8F3E6"/>
            </a:solidFill>
            <a:ln cap="rnd">
              <a:noFill/>
              <a:prstDash val="solid"/>
              <a:round/>
            </a:ln>
          </p:spPr>
        </p:sp>
        <p:sp>
          <p:nvSpPr>
            <p:cNvPr name="TextBox 65" id="65"/>
            <p:cNvSpPr txBox="true"/>
            <p:nvPr/>
          </p:nvSpPr>
          <p:spPr>
            <a:xfrm>
              <a:off x="0" y="-28575"/>
              <a:ext cx="1304467" cy="300243"/>
            </a:xfrm>
            <a:prstGeom prst="rect">
              <a:avLst/>
            </a:prstGeom>
          </p:spPr>
          <p:txBody>
            <a:bodyPr anchor="ctr" rtlCol="false" tIns="36630" lIns="36630" bIns="36630" rIns="36630"/>
            <a:lstStyle/>
            <a:p>
              <a:pPr algn="ctr" marL="0" indent="0" lvl="0">
                <a:lnSpc>
                  <a:spcPts val="2230"/>
                </a:lnSpc>
                <a:spcBef>
                  <a:spcPct val="0"/>
                </a:spcBef>
              </a:pPr>
            </a:p>
          </p:txBody>
        </p:sp>
      </p:grpSp>
      <p:grpSp>
        <p:nvGrpSpPr>
          <p:cNvPr name="Group 66" id="66"/>
          <p:cNvGrpSpPr/>
          <p:nvPr/>
        </p:nvGrpSpPr>
        <p:grpSpPr>
          <a:xfrm rot="0">
            <a:off x="2954976" y="4597621"/>
            <a:ext cx="930712" cy="930712"/>
            <a:chOff x="0" y="0"/>
            <a:chExt cx="812800" cy="812800"/>
          </a:xfrm>
        </p:grpSpPr>
        <p:sp>
          <p:nvSpPr>
            <p:cNvPr name="Freeform 67" id="6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68" id="68"/>
            <p:cNvSpPr txBox="true"/>
            <p:nvPr/>
          </p:nvSpPr>
          <p:spPr>
            <a:xfrm>
              <a:off x="76200" y="38100"/>
              <a:ext cx="660400" cy="698500"/>
            </a:xfrm>
            <a:prstGeom prst="rect">
              <a:avLst/>
            </a:prstGeom>
          </p:spPr>
          <p:txBody>
            <a:bodyPr anchor="ctr" rtlCol="false" tIns="29417" lIns="29417" bIns="29417" rIns="29417"/>
            <a:lstStyle/>
            <a:p>
              <a:pPr algn="ctr">
                <a:lnSpc>
                  <a:spcPts val="2659"/>
                </a:lnSpc>
                <a:spcBef>
                  <a:spcPct val="0"/>
                </a:spcBef>
              </a:pPr>
            </a:p>
          </p:txBody>
        </p:sp>
      </p:grpSp>
      <p:sp>
        <p:nvSpPr>
          <p:cNvPr name="TextBox 69" id="69"/>
          <p:cNvSpPr txBox="true"/>
          <p:nvPr/>
        </p:nvSpPr>
        <p:spPr>
          <a:xfrm rot="0">
            <a:off x="3113195" y="4615741"/>
            <a:ext cx="614274" cy="770634"/>
          </a:xfrm>
          <a:prstGeom prst="rect">
            <a:avLst/>
          </a:prstGeom>
        </p:spPr>
        <p:txBody>
          <a:bodyPr anchor="t" rtlCol="false" tIns="0" lIns="0" bIns="0" rIns="0">
            <a:spAutoFit/>
          </a:bodyPr>
          <a:lstStyle/>
          <a:p>
            <a:pPr algn="ctr">
              <a:lnSpc>
                <a:spcPts val="5990"/>
              </a:lnSpc>
            </a:pPr>
            <a:r>
              <a:rPr lang="en-US" b="true" sz="4278">
                <a:solidFill>
                  <a:srgbClr val="042560"/>
                </a:solidFill>
                <a:latin typeface="Poppins Bold"/>
                <a:ea typeface="Poppins Bold"/>
                <a:cs typeface="Poppins Bold"/>
                <a:sym typeface="Poppins Bold"/>
              </a:rPr>
              <a:t>b</a:t>
            </a:r>
          </a:p>
        </p:txBody>
      </p:sp>
      <p:sp>
        <p:nvSpPr>
          <p:cNvPr name="TextBox 70" id="70"/>
          <p:cNvSpPr txBox="true"/>
          <p:nvPr/>
        </p:nvSpPr>
        <p:spPr>
          <a:xfrm rot="0">
            <a:off x="4105852" y="4607287"/>
            <a:ext cx="614274" cy="767618"/>
          </a:xfrm>
          <a:prstGeom prst="rect">
            <a:avLst/>
          </a:prstGeom>
        </p:spPr>
        <p:txBody>
          <a:bodyPr anchor="t" rtlCol="false" tIns="0" lIns="0" bIns="0" rIns="0">
            <a:spAutoFit/>
          </a:bodyPr>
          <a:lstStyle/>
          <a:p>
            <a:pPr algn="ctr">
              <a:lnSpc>
                <a:spcPts val="5990"/>
              </a:lnSpc>
            </a:pPr>
            <a:r>
              <a:rPr lang="en-US" sz="4278" b="true">
                <a:solidFill>
                  <a:srgbClr val="042560"/>
                </a:solidFill>
                <a:latin typeface="Poppins Bold"/>
                <a:ea typeface="Poppins Bold"/>
                <a:cs typeface="Poppins Bold"/>
                <a:sym typeface="Poppins Bold"/>
              </a:rPr>
              <a:t>4</a:t>
            </a:r>
          </a:p>
        </p:txBody>
      </p:sp>
      <p:sp>
        <p:nvSpPr>
          <p:cNvPr name="TextBox 71" id="71"/>
          <p:cNvSpPr txBox="true"/>
          <p:nvPr/>
        </p:nvSpPr>
        <p:spPr>
          <a:xfrm rot="0">
            <a:off x="5328663" y="4607287"/>
            <a:ext cx="1674285" cy="767618"/>
          </a:xfrm>
          <a:prstGeom prst="rect">
            <a:avLst/>
          </a:prstGeom>
        </p:spPr>
        <p:txBody>
          <a:bodyPr anchor="t" rtlCol="false" tIns="0" lIns="0" bIns="0" rIns="0">
            <a:spAutoFit/>
          </a:bodyPr>
          <a:lstStyle/>
          <a:p>
            <a:pPr algn="ctr">
              <a:lnSpc>
                <a:spcPts val="5990"/>
              </a:lnSpc>
            </a:pPr>
            <a:r>
              <a:rPr lang="en-US" b="true" sz="4278">
                <a:solidFill>
                  <a:srgbClr val="042560"/>
                </a:solidFill>
                <a:latin typeface="Poppins Bold"/>
                <a:ea typeface="Poppins Bold"/>
                <a:cs typeface="Poppins Bold"/>
                <a:sym typeface="Poppins Bold"/>
              </a:rPr>
              <a:t>(0,4)</a:t>
            </a:r>
          </a:p>
        </p:txBody>
      </p:sp>
      <p:grpSp>
        <p:nvGrpSpPr>
          <p:cNvPr name="Group 72" id="72"/>
          <p:cNvGrpSpPr/>
          <p:nvPr/>
        </p:nvGrpSpPr>
        <p:grpSpPr>
          <a:xfrm rot="0">
            <a:off x="3034238" y="7239596"/>
            <a:ext cx="4672145" cy="1203170"/>
            <a:chOff x="0" y="0"/>
            <a:chExt cx="1507713" cy="388266"/>
          </a:xfrm>
        </p:grpSpPr>
        <p:sp>
          <p:nvSpPr>
            <p:cNvPr name="Freeform 73" id="73"/>
            <p:cNvSpPr/>
            <p:nvPr/>
          </p:nvSpPr>
          <p:spPr>
            <a:xfrm flipH="false" flipV="false" rot="0">
              <a:off x="0" y="0"/>
              <a:ext cx="1507713" cy="388266"/>
            </a:xfrm>
            <a:custGeom>
              <a:avLst/>
              <a:gdLst/>
              <a:ahLst/>
              <a:cxnLst/>
              <a:rect r="r" b="b" t="t" l="l"/>
              <a:pathLst>
                <a:path h="388266" w="1507713">
                  <a:moveTo>
                    <a:pt x="64624" y="0"/>
                  </a:moveTo>
                  <a:lnTo>
                    <a:pt x="1443089" y="0"/>
                  </a:lnTo>
                  <a:cubicBezTo>
                    <a:pt x="1460228" y="0"/>
                    <a:pt x="1476666" y="6809"/>
                    <a:pt x="1488785" y="18928"/>
                  </a:cubicBezTo>
                  <a:cubicBezTo>
                    <a:pt x="1500905" y="31048"/>
                    <a:pt x="1507713" y="47485"/>
                    <a:pt x="1507713" y="64624"/>
                  </a:cubicBezTo>
                  <a:lnTo>
                    <a:pt x="1507713" y="323642"/>
                  </a:lnTo>
                  <a:cubicBezTo>
                    <a:pt x="1507713" y="340781"/>
                    <a:pt x="1500905" y="357219"/>
                    <a:pt x="1488785" y="369338"/>
                  </a:cubicBezTo>
                  <a:cubicBezTo>
                    <a:pt x="1476666" y="381458"/>
                    <a:pt x="1460228" y="388266"/>
                    <a:pt x="1443089" y="388266"/>
                  </a:cubicBezTo>
                  <a:lnTo>
                    <a:pt x="64624" y="388266"/>
                  </a:lnTo>
                  <a:cubicBezTo>
                    <a:pt x="47485" y="388266"/>
                    <a:pt x="31048" y="381458"/>
                    <a:pt x="18928" y="369338"/>
                  </a:cubicBezTo>
                  <a:cubicBezTo>
                    <a:pt x="6809" y="357219"/>
                    <a:pt x="0" y="340781"/>
                    <a:pt x="0" y="323642"/>
                  </a:cubicBezTo>
                  <a:lnTo>
                    <a:pt x="0" y="64624"/>
                  </a:lnTo>
                  <a:cubicBezTo>
                    <a:pt x="0" y="47485"/>
                    <a:pt x="6809" y="31048"/>
                    <a:pt x="18928" y="18928"/>
                  </a:cubicBezTo>
                  <a:cubicBezTo>
                    <a:pt x="31048" y="6809"/>
                    <a:pt x="47485" y="0"/>
                    <a:pt x="64624" y="0"/>
                  </a:cubicBezTo>
                  <a:close/>
                </a:path>
              </a:pathLst>
            </a:custGeom>
            <a:solidFill>
              <a:srgbClr val="F8F3E6"/>
            </a:solidFill>
            <a:ln cap="rnd">
              <a:noFill/>
              <a:prstDash val="solid"/>
              <a:round/>
            </a:ln>
          </p:spPr>
        </p:sp>
        <p:sp>
          <p:nvSpPr>
            <p:cNvPr name="TextBox 74" id="74"/>
            <p:cNvSpPr txBox="true"/>
            <p:nvPr/>
          </p:nvSpPr>
          <p:spPr>
            <a:xfrm>
              <a:off x="0" y="-28575"/>
              <a:ext cx="1507713" cy="416841"/>
            </a:xfrm>
            <a:prstGeom prst="rect">
              <a:avLst/>
            </a:prstGeom>
          </p:spPr>
          <p:txBody>
            <a:bodyPr anchor="ctr" rtlCol="false" tIns="33133" lIns="33133" bIns="33133" rIns="33133"/>
            <a:lstStyle/>
            <a:p>
              <a:pPr algn="ctr" marL="0" indent="0" lvl="0">
                <a:lnSpc>
                  <a:spcPts val="2230"/>
                </a:lnSpc>
                <a:spcBef>
                  <a:spcPct val="0"/>
                </a:spcBef>
              </a:pPr>
            </a:p>
          </p:txBody>
        </p:sp>
      </p:grpSp>
      <p:grpSp>
        <p:nvGrpSpPr>
          <p:cNvPr name="Group 75" id="75"/>
          <p:cNvGrpSpPr/>
          <p:nvPr/>
        </p:nvGrpSpPr>
        <p:grpSpPr>
          <a:xfrm rot="0">
            <a:off x="2778792" y="7420254"/>
            <a:ext cx="841853" cy="841853"/>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77" id="77"/>
            <p:cNvSpPr txBox="true"/>
            <p:nvPr/>
          </p:nvSpPr>
          <p:spPr>
            <a:xfrm>
              <a:off x="76200" y="38100"/>
              <a:ext cx="660400" cy="698500"/>
            </a:xfrm>
            <a:prstGeom prst="rect">
              <a:avLst/>
            </a:prstGeom>
          </p:spPr>
          <p:txBody>
            <a:bodyPr anchor="ctr" rtlCol="false" tIns="26608" lIns="26608" bIns="26608" rIns="26608"/>
            <a:lstStyle/>
            <a:p>
              <a:pPr algn="ctr">
                <a:lnSpc>
                  <a:spcPts val="2660"/>
                </a:lnSpc>
                <a:spcBef>
                  <a:spcPct val="0"/>
                </a:spcBef>
              </a:pPr>
            </a:p>
          </p:txBody>
        </p:sp>
      </p:grpSp>
      <p:sp>
        <p:nvSpPr>
          <p:cNvPr name="TextBox 78" id="78"/>
          <p:cNvSpPr txBox="true"/>
          <p:nvPr/>
        </p:nvSpPr>
        <p:spPr>
          <a:xfrm rot="0">
            <a:off x="2921905" y="7434347"/>
            <a:ext cx="555627" cy="699355"/>
          </a:xfrm>
          <a:prstGeom prst="rect">
            <a:avLst/>
          </a:prstGeom>
        </p:spPr>
        <p:txBody>
          <a:bodyPr anchor="t" rtlCol="false" tIns="0" lIns="0" bIns="0" rIns="0">
            <a:spAutoFit/>
          </a:bodyPr>
          <a:lstStyle/>
          <a:p>
            <a:pPr algn="ctr">
              <a:lnSpc>
                <a:spcPts val="5418"/>
              </a:lnSpc>
            </a:pPr>
            <a:r>
              <a:rPr lang="en-US" b="true" sz="3870">
                <a:solidFill>
                  <a:srgbClr val="042560"/>
                </a:solidFill>
                <a:latin typeface="Poppins Bold"/>
                <a:ea typeface="Poppins Bold"/>
                <a:cs typeface="Poppins Bold"/>
                <a:sym typeface="Poppins Bold"/>
              </a:rPr>
              <a:t>m</a:t>
            </a:r>
          </a:p>
        </p:txBody>
      </p:sp>
      <p:sp>
        <p:nvSpPr>
          <p:cNvPr name="TextBox 79" id="79"/>
          <p:cNvSpPr txBox="true"/>
          <p:nvPr/>
        </p:nvSpPr>
        <p:spPr>
          <a:xfrm rot="0">
            <a:off x="5448574" y="7371087"/>
            <a:ext cx="1944568" cy="465074"/>
          </a:xfrm>
          <a:prstGeom prst="rect">
            <a:avLst/>
          </a:prstGeom>
        </p:spPr>
        <p:txBody>
          <a:bodyPr anchor="t" rtlCol="false" tIns="0" lIns="0" bIns="0" rIns="0">
            <a:spAutoFit/>
          </a:bodyPr>
          <a:lstStyle/>
          <a:p>
            <a:pPr algn="ctr" marL="0" indent="0" lvl="0">
              <a:lnSpc>
                <a:spcPts val="3282"/>
              </a:lnSpc>
              <a:spcBef>
                <a:spcPct val="0"/>
              </a:spcBef>
            </a:pPr>
            <a:r>
              <a:rPr lang="en-US" b="true" sz="3349">
                <a:solidFill>
                  <a:srgbClr val="042560"/>
                </a:solidFill>
                <a:latin typeface="Poppins Bold"/>
                <a:ea typeface="Poppins Bold"/>
                <a:cs typeface="Poppins Bold"/>
                <a:sym typeface="Poppins Bold"/>
              </a:rPr>
              <a:t>rise = -2</a:t>
            </a:r>
          </a:p>
        </p:txBody>
      </p:sp>
      <p:sp>
        <p:nvSpPr>
          <p:cNvPr name="TextBox 80" id="80"/>
          <p:cNvSpPr txBox="true"/>
          <p:nvPr/>
        </p:nvSpPr>
        <p:spPr>
          <a:xfrm rot="0">
            <a:off x="3706305" y="7594107"/>
            <a:ext cx="851781" cy="467052"/>
          </a:xfrm>
          <a:prstGeom prst="rect">
            <a:avLst/>
          </a:prstGeom>
        </p:spPr>
        <p:txBody>
          <a:bodyPr anchor="t" rtlCol="false" tIns="0" lIns="0" bIns="0" rIns="0">
            <a:spAutoFit/>
          </a:bodyPr>
          <a:lstStyle/>
          <a:p>
            <a:pPr algn="ctr">
              <a:lnSpc>
                <a:spcPts val="3282"/>
              </a:lnSpc>
            </a:pPr>
            <a:r>
              <a:rPr lang="en-US" b="true" sz="3349">
                <a:solidFill>
                  <a:srgbClr val="042560"/>
                </a:solidFill>
                <a:latin typeface="Poppins Bold"/>
                <a:ea typeface="Poppins Bold"/>
                <a:cs typeface="Poppins Bold"/>
                <a:sym typeface="Poppins Bold"/>
              </a:rPr>
              <a:t>m =</a:t>
            </a:r>
          </a:p>
        </p:txBody>
      </p:sp>
      <p:sp>
        <p:nvSpPr>
          <p:cNvPr name="TextBox 81" id="81"/>
          <p:cNvSpPr txBox="true"/>
          <p:nvPr/>
        </p:nvSpPr>
        <p:spPr>
          <a:xfrm rot="0">
            <a:off x="4583469" y="7591770"/>
            <a:ext cx="560451" cy="471727"/>
          </a:xfrm>
          <a:prstGeom prst="rect">
            <a:avLst/>
          </a:prstGeom>
        </p:spPr>
        <p:txBody>
          <a:bodyPr anchor="t" rtlCol="false" tIns="0" lIns="0" bIns="0" rIns="0">
            <a:spAutoFit/>
          </a:bodyPr>
          <a:lstStyle/>
          <a:p>
            <a:pPr algn="ctr" marL="0" indent="0" lvl="0">
              <a:lnSpc>
                <a:spcPts val="3282"/>
              </a:lnSpc>
              <a:spcBef>
                <a:spcPct val="0"/>
              </a:spcBef>
            </a:pPr>
            <a:r>
              <a:rPr lang="en-US" b="true" sz="3349">
                <a:solidFill>
                  <a:srgbClr val="042560"/>
                </a:solidFill>
                <a:latin typeface="Poppins Bold"/>
                <a:ea typeface="Poppins Bold"/>
                <a:cs typeface="Poppins Bold"/>
                <a:sym typeface="Poppins Bold"/>
              </a:rPr>
              <a:t>-2</a:t>
            </a:r>
          </a:p>
        </p:txBody>
      </p:sp>
      <p:sp>
        <p:nvSpPr>
          <p:cNvPr name="TextBox 82" id="82"/>
          <p:cNvSpPr txBox="true"/>
          <p:nvPr/>
        </p:nvSpPr>
        <p:spPr>
          <a:xfrm rot="0">
            <a:off x="5448574" y="7879281"/>
            <a:ext cx="1713292" cy="465074"/>
          </a:xfrm>
          <a:prstGeom prst="rect">
            <a:avLst/>
          </a:prstGeom>
        </p:spPr>
        <p:txBody>
          <a:bodyPr anchor="t" rtlCol="false" tIns="0" lIns="0" bIns="0" rIns="0">
            <a:spAutoFit/>
          </a:bodyPr>
          <a:lstStyle/>
          <a:p>
            <a:pPr algn="ctr" marL="0" indent="0" lvl="0">
              <a:lnSpc>
                <a:spcPts val="3282"/>
              </a:lnSpc>
              <a:spcBef>
                <a:spcPct val="0"/>
              </a:spcBef>
            </a:pPr>
            <a:r>
              <a:rPr lang="en-US" b="true" sz="3349">
                <a:solidFill>
                  <a:srgbClr val="042560"/>
                </a:solidFill>
                <a:latin typeface="Poppins Bold"/>
                <a:ea typeface="Poppins Bold"/>
                <a:cs typeface="Poppins Bold"/>
                <a:sym typeface="Poppins Bold"/>
              </a:rPr>
              <a:t>run = 1</a:t>
            </a:r>
          </a:p>
        </p:txBody>
      </p:sp>
      <p:grpSp>
        <p:nvGrpSpPr>
          <p:cNvPr name="Group 83" id="83"/>
          <p:cNvGrpSpPr/>
          <p:nvPr/>
        </p:nvGrpSpPr>
        <p:grpSpPr>
          <a:xfrm rot="0">
            <a:off x="12818781" y="3662306"/>
            <a:ext cx="322391" cy="322391"/>
            <a:chOff x="0" y="0"/>
            <a:chExt cx="812800" cy="812800"/>
          </a:xfrm>
        </p:grpSpPr>
        <p:sp>
          <p:nvSpPr>
            <p:cNvPr name="Freeform 84" id="8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85" id="8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6" id="86"/>
          <p:cNvSpPr txBox="true"/>
          <p:nvPr/>
        </p:nvSpPr>
        <p:spPr>
          <a:xfrm rot="0">
            <a:off x="13390860" y="3613435"/>
            <a:ext cx="1185682" cy="477384"/>
          </a:xfrm>
          <a:prstGeom prst="rect">
            <a:avLst/>
          </a:prstGeom>
        </p:spPr>
        <p:txBody>
          <a:bodyPr anchor="t" rtlCol="false" tIns="0" lIns="0" bIns="0" rIns="0">
            <a:spAutoFit/>
          </a:bodyPr>
          <a:lstStyle/>
          <a:p>
            <a:pPr algn="l">
              <a:lnSpc>
                <a:spcPts val="3316"/>
              </a:lnSpc>
            </a:pPr>
            <a:r>
              <a:rPr lang="en-US" b="true" sz="3384">
                <a:solidFill>
                  <a:srgbClr val="FF9C00"/>
                </a:solidFill>
                <a:latin typeface="Poppins Bold"/>
                <a:ea typeface="Poppins Bold"/>
                <a:cs typeface="Poppins Bold"/>
                <a:sym typeface="Poppins Bold"/>
              </a:rPr>
              <a:t>(0,4)</a:t>
            </a:r>
          </a:p>
        </p:txBody>
      </p:sp>
      <p:sp>
        <p:nvSpPr>
          <p:cNvPr name="AutoShape 87" id="87"/>
          <p:cNvSpPr/>
          <p:nvPr/>
        </p:nvSpPr>
        <p:spPr>
          <a:xfrm>
            <a:off x="12979976" y="3837840"/>
            <a:ext cx="0" cy="1198726"/>
          </a:xfrm>
          <a:prstGeom prst="line">
            <a:avLst/>
          </a:prstGeom>
          <a:ln cap="flat" w="38100">
            <a:solidFill>
              <a:srgbClr val="FF9C00"/>
            </a:solidFill>
            <a:prstDash val="sysDash"/>
            <a:headEnd type="none" len="sm" w="sm"/>
            <a:tailEnd type="arrow" len="sm" w="med"/>
          </a:ln>
        </p:spPr>
      </p:sp>
      <p:grpSp>
        <p:nvGrpSpPr>
          <p:cNvPr name="Group 88" id="88"/>
          <p:cNvGrpSpPr/>
          <p:nvPr/>
        </p:nvGrpSpPr>
        <p:grpSpPr>
          <a:xfrm rot="0">
            <a:off x="13412013" y="4825742"/>
            <a:ext cx="322391" cy="322391"/>
            <a:chOff x="0" y="0"/>
            <a:chExt cx="812800" cy="812800"/>
          </a:xfrm>
        </p:grpSpPr>
        <p:sp>
          <p:nvSpPr>
            <p:cNvPr name="Freeform 89" id="8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90" id="9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91" id="91"/>
          <p:cNvSpPr/>
          <p:nvPr/>
        </p:nvSpPr>
        <p:spPr>
          <a:xfrm>
            <a:off x="12936422" y="4986938"/>
            <a:ext cx="615633" cy="0"/>
          </a:xfrm>
          <a:prstGeom prst="line">
            <a:avLst/>
          </a:prstGeom>
          <a:ln cap="flat" w="38100">
            <a:solidFill>
              <a:srgbClr val="FF9C00"/>
            </a:solidFill>
            <a:prstDash val="sysDash"/>
            <a:headEnd type="none" len="sm" w="sm"/>
            <a:tailEnd type="arrow" len="sm" w="med"/>
          </a:ln>
        </p:spPr>
      </p:sp>
      <p:sp>
        <p:nvSpPr>
          <p:cNvPr name="AutoShape 92" id="92"/>
          <p:cNvSpPr/>
          <p:nvPr/>
        </p:nvSpPr>
        <p:spPr>
          <a:xfrm>
            <a:off x="13573208" y="4982433"/>
            <a:ext cx="0" cy="1188693"/>
          </a:xfrm>
          <a:prstGeom prst="line">
            <a:avLst/>
          </a:prstGeom>
          <a:ln cap="flat" w="38100">
            <a:solidFill>
              <a:srgbClr val="FF9C00"/>
            </a:solidFill>
            <a:prstDash val="sysDash"/>
            <a:headEnd type="none" len="sm" w="sm"/>
            <a:tailEnd type="arrow" len="sm" w="med"/>
          </a:ln>
        </p:spPr>
      </p:sp>
      <p:grpSp>
        <p:nvGrpSpPr>
          <p:cNvPr name="Group 93" id="93"/>
          <p:cNvGrpSpPr/>
          <p:nvPr/>
        </p:nvGrpSpPr>
        <p:grpSpPr>
          <a:xfrm rot="0">
            <a:off x="14006493" y="6004930"/>
            <a:ext cx="322391" cy="322391"/>
            <a:chOff x="0" y="0"/>
            <a:chExt cx="812800" cy="812800"/>
          </a:xfrm>
        </p:grpSpPr>
        <p:sp>
          <p:nvSpPr>
            <p:cNvPr name="Freeform 94" id="9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95" id="9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96" id="96"/>
          <p:cNvSpPr/>
          <p:nvPr/>
        </p:nvSpPr>
        <p:spPr>
          <a:xfrm>
            <a:off x="13552055" y="6171126"/>
            <a:ext cx="615633" cy="0"/>
          </a:xfrm>
          <a:prstGeom prst="line">
            <a:avLst/>
          </a:prstGeom>
          <a:ln cap="flat" w="38100">
            <a:solidFill>
              <a:srgbClr val="FF9C00"/>
            </a:solidFill>
            <a:prstDash val="sysDash"/>
            <a:headEnd type="none" len="sm" w="sm"/>
            <a:tailEnd type="arrow" len="sm" w="med"/>
          </a:ln>
        </p:spPr>
      </p:sp>
      <p:sp>
        <p:nvSpPr>
          <p:cNvPr name="TextBox 97" id="97"/>
          <p:cNvSpPr txBox="true"/>
          <p:nvPr/>
        </p:nvSpPr>
        <p:spPr>
          <a:xfrm rot="0">
            <a:off x="13920589" y="4762533"/>
            <a:ext cx="1274763" cy="477384"/>
          </a:xfrm>
          <a:prstGeom prst="rect">
            <a:avLst/>
          </a:prstGeom>
        </p:spPr>
        <p:txBody>
          <a:bodyPr anchor="t" rtlCol="false" tIns="0" lIns="0" bIns="0" rIns="0">
            <a:spAutoFit/>
          </a:bodyPr>
          <a:lstStyle/>
          <a:p>
            <a:pPr algn="l">
              <a:lnSpc>
                <a:spcPts val="3316"/>
              </a:lnSpc>
            </a:pPr>
            <a:r>
              <a:rPr lang="en-US" b="true" sz="3384">
                <a:solidFill>
                  <a:srgbClr val="FF9C00"/>
                </a:solidFill>
                <a:latin typeface="Poppins Bold"/>
                <a:ea typeface="Poppins Bold"/>
                <a:cs typeface="Poppins Bold"/>
                <a:sym typeface="Poppins Bold"/>
              </a:rPr>
              <a:t>(1,2)</a:t>
            </a:r>
          </a:p>
        </p:txBody>
      </p:sp>
      <p:sp>
        <p:nvSpPr>
          <p:cNvPr name="TextBox 98" id="98"/>
          <p:cNvSpPr txBox="true"/>
          <p:nvPr/>
        </p:nvSpPr>
        <p:spPr>
          <a:xfrm rot="0">
            <a:off x="14576542" y="6260237"/>
            <a:ext cx="1324839" cy="477384"/>
          </a:xfrm>
          <a:prstGeom prst="rect">
            <a:avLst/>
          </a:prstGeom>
        </p:spPr>
        <p:txBody>
          <a:bodyPr anchor="t" rtlCol="false" tIns="0" lIns="0" bIns="0" rIns="0">
            <a:spAutoFit/>
          </a:bodyPr>
          <a:lstStyle/>
          <a:p>
            <a:pPr algn="l">
              <a:lnSpc>
                <a:spcPts val="3316"/>
              </a:lnSpc>
            </a:pPr>
            <a:r>
              <a:rPr lang="en-US" b="true" sz="3384">
                <a:solidFill>
                  <a:srgbClr val="FF9C00"/>
                </a:solidFill>
                <a:latin typeface="Poppins Bold"/>
                <a:ea typeface="Poppins Bold"/>
                <a:cs typeface="Poppins Bold"/>
                <a:sym typeface="Poppins Bold"/>
              </a:rPr>
              <a:t>(2,0)</a:t>
            </a:r>
          </a:p>
        </p:txBody>
      </p:sp>
      <p:grpSp>
        <p:nvGrpSpPr>
          <p:cNvPr name="Group 99" id="99"/>
          <p:cNvGrpSpPr/>
          <p:nvPr/>
        </p:nvGrpSpPr>
        <p:grpSpPr>
          <a:xfrm rot="0">
            <a:off x="11916713" y="292637"/>
            <a:ext cx="6128190" cy="1018857"/>
            <a:chOff x="0" y="0"/>
            <a:chExt cx="8170920" cy="1358476"/>
          </a:xfrm>
        </p:grpSpPr>
        <p:grpSp>
          <p:nvGrpSpPr>
            <p:cNvPr name="Group 100" id="100"/>
            <p:cNvGrpSpPr/>
            <p:nvPr/>
          </p:nvGrpSpPr>
          <p:grpSpPr>
            <a:xfrm rot="0">
              <a:off x="0" y="0"/>
              <a:ext cx="8170920" cy="1358476"/>
              <a:chOff x="0" y="0"/>
              <a:chExt cx="825661" cy="137272"/>
            </a:xfrm>
          </p:grpSpPr>
          <p:sp>
            <p:nvSpPr>
              <p:cNvPr name="Freeform 101" id="101"/>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102" id="102"/>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103" id="103"/>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104" id="104"/>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105" id="105"/>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106" id="106"/>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7" id="107"/>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08" id="108"/>
          <p:cNvGrpSpPr/>
          <p:nvPr/>
        </p:nvGrpSpPr>
        <p:grpSpPr>
          <a:xfrm rot="0">
            <a:off x="282710" y="292637"/>
            <a:ext cx="7163153" cy="1018857"/>
            <a:chOff x="0" y="0"/>
            <a:chExt cx="9550871" cy="1358476"/>
          </a:xfrm>
        </p:grpSpPr>
        <p:grpSp>
          <p:nvGrpSpPr>
            <p:cNvPr name="Group 109" id="109"/>
            <p:cNvGrpSpPr/>
            <p:nvPr/>
          </p:nvGrpSpPr>
          <p:grpSpPr>
            <a:xfrm rot="0">
              <a:off x="0" y="0"/>
              <a:ext cx="9550871" cy="1358476"/>
              <a:chOff x="0" y="0"/>
              <a:chExt cx="965104" cy="137272"/>
            </a:xfrm>
          </p:grpSpPr>
          <p:sp>
            <p:nvSpPr>
              <p:cNvPr name="Freeform 110" id="110"/>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11" id="111"/>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12" id="112"/>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LINEAR TRANSFORMATIONS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4096" y="-834321"/>
            <a:ext cx="8816525" cy="12541006"/>
            <a:chOff x="0" y="0"/>
            <a:chExt cx="2322048" cy="3302981"/>
          </a:xfrm>
        </p:grpSpPr>
        <p:sp>
          <p:nvSpPr>
            <p:cNvPr name="Freeform 3" id="3"/>
            <p:cNvSpPr/>
            <p:nvPr/>
          </p:nvSpPr>
          <p:spPr>
            <a:xfrm flipH="false" flipV="false" rot="0">
              <a:off x="0" y="0"/>
              <a:ext cx="2322048" cy="3302981"/>
            </a:xfrm>
            <a:custGeom>
              <a:avLst/>
              <a:gdLst/>
              <a:ahLst/>
              <a:cxnLst/>
              <a:rect r="r" b="b" t="t" l="l"/>
              <a:pathLst>
                <a:path h="3302981" w="2322048">
                  <a:moveTo>
                    <a:pt x="35125" y="0"/>
                  </a:moveTo>
                  <a:lnTo>
                    <a:pt x="2286923" y="0"/>
                  </a:lnTo>
                  <a:cubicBezTo>
                    <a:pt x="2306322" y="0"/>
                    <a:pt x="2322048" y="15726"/>
                    <a:pt x="2322048" y="35125"/>
                  </a:cubicBezTo>
                  <a:lnTo>
                    <a:pt x="2322048" y="3267856"/>
                  </a:lnTo>
                  <a:cubicBezTo>
                    <a:pt x="2322048" y="3287255"/>
                    <a:pt x="2306322" y="3302981"/>
                    <a:pt x="2286923" y="3302981"/>
                  </a:cubicBezTo>
                  <a:lnTo>
                    <a:pt x="35125" y="3302981"/>
                  </a:lnTo>
                  <a:cubicBezTo>
                    <a:pt x="15726" y="3302981"/>
                    <a:pt x="0" y="3287255"/>
                    <a:pt x="0" y="3267856"/>
                  </a:cubicBezTo>
                  <a:lnTo>
                    <a:pt x="0" y="35125"/>
                  </a:lnTo>
                  <a:cubicBezTo>
                    <a:pt x="0" y="15726"/>
                    <a:pt x="15726" y="0"/>
                    <a:pt x="35125" y="0"/>
                  </a:cubicBezTo>
                  <a:close/>
                </a:path>
              </a:pathLst>
            </a:custGeom>
            <a:solidFill>
              <a:srgbClr val="042560"/>
            </a:solidFill>
          </p:spPr>
        </p:sp>
        <p:sp>
          <p:nvSpPr>
            <p:cNvPr name="TextBox 4" id="4"/>
            <p:cNvSpPr txBox="true"/>
            <p:nvPr/>
          </p:nvSpPr>
          <p:spPr>
            <a:xfrm>
              <a:off x="0" y="-38100"/>
              <a:ext cx="2322048" cy="334108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13177" y="-2406488"/>
            <a:ext cx="4232540" cy="4468133"/>
          </a:xfrm>
          <a:custGeom>
            <a:avLst/>
            <a:gdLst/>
            <a:ahLst/>
            <a:cxnLst/>
            <a:rect r="r" b="b" t="t" l="l"/>
            <a:pathLst>
              <a:path h="4468133" w="4232540">
                <a:moveTo>
                  <a:pt x="0" y="0"/>
                </a:moveTo>
                <a:lnTo>
                  <a:pt x="4232540" y="0"/>
                </a:lnTo>
                <a:lnTo>
                  <a:pt x="4232540" y="4468133"/>
                </a:lnTo>
                <a:lnTo>
                  <a:pt x="0" y="4468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09158" y="6490202"/>
            <a:ext cx="6491879" cy="2549432"/>
            <a:chOff x="0" y="0"/>
            <a:chExt cx="1709795" cy="671455"/>
          </a:xfrm>
        </p:grpSpPr>
        <p:sp>
          <p:nvSpPr>
            <p:cNvPr name="Freeform 7" id="7"/>
            <p:cNvSpPr/>
            <p:nvPr/>
          </p:nvSpPr>
          <p:spPr>
            <a:xfrm flipH="false" flipV="false" rot="0">
              <a:off x="0" y="0"/>
              <a:ext cx="1709795" cy="671455"/>
            </a:xfrm>
            <a:custGeom>
              <a:avLst/>
              <a:gdLst/>
              <a:ahLst/>
              <a:cxnLst/>
              <a:rect r="r" b="b" t="t" l="l"/>
              <a:pathLst>
                <a:path h="671455" w="1709795">
                  <a:moveTo>
                    <a:pt x="60820" y="0"/>
                  </a:moveTo>
                  <a:lnTo>
                    <a:pt x="1648975" y="0"/>
                  </a:lnTo>
                  <a:cubicBezTo>
                    <a:pt x="1682565" y="0"/>
                    <a:pt x="1709795" y="27230"/>
                    <a:pt x="1709795" y="60820"/>
                  </a:cubicBezTo>
                  <a:lnTo>
                    <a:pt x="1709795" y="610635"/>
                  </a:lnTo>
                  <a:cubicBezTo>
                    <a:pt x="1709795" y="644225"/>
                    <a:pt x="1682565" y="671455"/>
                    <a:pt x="1648975" y="671455"/>
                  </a:cubicBezTo>
                  <a:lnTo>
                    <a:pt x="60820" y="671455"/>
                  </a:lnTo>
                  <a:cubicBezTo>
                    <a:pt x="27230" y="671455"/>
                    <a:pt x="0" y="644225"/>
                    <a:pt x="0" y="610635"/>
                  </a:cubicBezTo>
                  <a:lnTo>
                    <a:pt x="0" y="60820"/>
                  </a:lnTo>
                  <a:cubicBezTo>
                    <a:pt x="0" y="27230"/>
                    <a:pt x="27230" y="0"/>
                    <a:pt x="60820" y="0"/>
                  </a:cubicBezTo>
                  <a:close/>
                </a:path>
              </a:pathLst>
            </a:custGeom>
            <a:solidFill>
              <a:srgbClr val="A3DFFF"/>
            </a:solidFill>
          </p:spPr>
        </p:sp>
        <p:sp>
          <p:nvSpPr>
            <p:cNvPr name="TextBox 8" id="8"/>
            <p:cNvSpPr txBox="true"/>
            <p:nvPr/>
          </p:nvSpPr>
          <p:spPr>
            <a:xfrm>
              <a:off x="0" y="-38100"/>
              <a:ext cx="1709795" cy="709555"/>
            </a:xfrm>
            <a:prstGeom prst="rect">
              <a:avLst/>
            </a:prstGeom>
          </p:spPr>
          <p:txBody>
            <a:bodyPr anchor="ctr" rtlCol="false" tIns="50800" lIns="50800" bIns="50800" rIns="50800"/>
            <a:lstStyle/>
            <a:p>
              <a:pPr algn="ctr">
                <a:lnSpc>
                  <a:spcPts val="2660"/>
                </a:lnSpc>
              </a:pPr>
            </a:p>
          </p:txBody>
        </p:sp>
      </p:grpSp>
      <p:sp>
        <p:nvSpPr>
          <p:cNvPr name="TextBox 9" id="9"/>
          <p:cNvSpPr txBox="true"/>
          <p:nvPr/>
        </p:nvSpPr>
        <p:spPr>
          <a:xfrm rot="0">
            <a:off x="809158" y="4101251"/>
            <a:ext cx="6675755" cy="2004376"/>
          </a:xfrm>
          <a:prstGeom prst="rect">
            <a:avLst/>
          </a:prstGeom>
        </p:spPr>
        <p:txBody>
          <a:bodyPr anchor="t" rtlCol="false" tIns="0" lIns="0" bIns="0" rIns="0">
            <a:spAutoFit/>
          </a:bodyPr>
          <a:lstStyle/>
          <a:p>
            <a:pPr algn="l">
              <a:lnSpc>
                <a:spcPts val="5077"/>
              </a:lnSpc>
            </a:pPr>
            <a:r>
              <a:rPr lang="en-US" b="true" sz="5288">
                <a:solidFill>
                  <a:srgbClr val="FFFFFF"/>
                </a:solidFill>
                <a:latin typeface="Poppins Bold"/>
                <a:ea typeface="Poppins Bold"/>
                <a:cs typeface="Poppins Bold"/>
                <a:sym typeface="Poppins Bold"/>
              </a:rPr>
              <a:t>Solve the system of linear equations by graphing:</a:t>
            </a:r>
          </a:p>
        </p:txBody>
      </p:sp>
      <p:sp>
        <p:nvSpPr>
          <p:cNvPr name="TextBox 10" id="10"/>
          <p:cNvSpPr txBox="true"/>
          <p:nvPr/>
        </p:nvSpPr>
        <p:spPr>
          <a:xfrm rot="0">
            <a:off x="809158" y="2895913"/>
            <a:ext cx="5493792" cy="1077785"/>
          </a:xfrm>
          <a:prstGeom prst="rect">
            <a:avLst/>
          </a:prstGeom>
        </p:spPr>
        <p:txBody>
          <a:bodyPr anchor="t" rtlCol="false" tIns="0" lIns="0" bIns="0" rIns="0">
            <a:spAutoFit/>
          </a:bodyPr>
          <a:lstStyle/>
          <a:p>
            <a:pPr algn="l">
              <a:lnSpc>
                <a:spcPts val="7905"/>
              </a:lnSpc>
            </a:pPr>
            <a:r>
              <a:rPr lang="en-US" sz="8409">
                <a:solidFill>
                  <a:srgbClr val="FFFFFF"/>
                </a:solidFill>
                <a:latin typeface="Lovelo"/>
                <a:ea typeface="Lovelo"/>
                <a:cs typeface="Lovelo"/>
                <a:sym typeface="Lovelo"/>
              </a:rPr>
              <a:t>EXAMPLE 1</a:t>
            </a:r>
          </a:p>
        </p:txBody>
      </p:sp>
      <p:sp>
        <p:nvSpPr>
          <p:cNvPr name="TextBox 11" id="11"/>
          <p:cNvSpPr txBox="true"/>
          <p:nvPr/>
        </p:nvSpPr>
        <p:spPr>
          <a:xfrm rot="0">
            <a:off x="2062549" y="6771385"/>
            <a:ext cx="4735623"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2x + 1</a:t>
            </a:r>
          </a:p>
        </p:txBody>
      </p:sp>
      <p:sp>
        <p:nvSpPr>
          <p:cNvPr name="TextBox 12" id="12"/>
          <p:cNvSpPr txBox="true"/>
          <p:nvPr/>
        </p:nvSpPr>
        <p:spPr>
          <a:xfrm rot="0">
            <a:off x="1312024" y="7174929"/>
            <a:ext cx="574393" cy="1560641"/>
          </a:xfrm>
          <a:prstGeom prst="rect">
            <a:avLst/>
          </a:prstGeom>
        </p:spPr>
        <p:txBody>
          <a:bodyPr anchor="t" rtlCol="false" tIns="0" lIns="0" bIns="0" rIns="0">
            <a:spAutoFit/>
          </a:bodyPr>
          <a:lstStyle/>
          <a:p>
            <a:pPr algn="l">
              <a:lnSpc>
                <a:spcPts val="10811"/>
              </a:lnSpc>
            </a:pPr>
            <a:r>
              <a:rPr lang="en-US" sz="11261">
                <a:solidFill>
                  <a:srgbClr val="042560"/>
                </a:solidFill>
                <a:latin typeface="Poppins"/>
                <a:ea typeface="Poppins"/>
                <a:cs typeface="Poppins"/>
                <a:sym typeface="Poppins"/>
              </a:rPr>
              <a:t>{</a:t>
            </a:r>
          </a:p>
        </p:txBody>
      </p:sp>
      <p:sp>
        <p:nvSpPr>
          <p:cNvPr name="TextBox 13" id="13"/>
          <p:cNvSpPr txBox="true"/>
          <p:nvPr/>
        </p:nvSpPr>
        <p:spPr>
          <a:xfrm rot="0">
            <a:off x="8412348" y="428299"/>
            <a:ext cx="6030441" cy="723183"/>
          </a:xfrm>
          <a:prstGeom prst="rect">
            <a:avLst/>
          </a:prstGeom>
        </p:spPr>
        <p:txBody>
          <a:bodyPr anchor="t" rtlCol="false" tIns="0" lIns="0" bIns="0" rIns="0">
            <a:spAutoFit/>
          </a:bodyPr>
          <a:lstStyle/>
          <a:p>
            <a:pPr algn="l">
              <a:lnSpc>
                <a:spcPts val="5077"/>
              </a:lnSpc>
            </a:pPr>
            <a:r>
              <a:rPr lang="en-US" b="true" sz="5288">
                <a:solidFill>
                  <a:srgbClr val="042560"/>
                </a:solidFill>
                <a:latin typeface="Poppins Bold"/>
                <a:ea typeface="Poppins Bold"/>
                <a:cs typeface="Poppins Bold"/>
                <a:sym typeface="Poppins Bold"/>
              </a:rPr>
              <a:t>Graph y = 2x + 1.</a:t>
            </a:r>
          </a:p>
        </p:txBody>
      </p:sp>
      <p:grpSp>
        <p:nvGrpSpPr>
          <p:cNvPr name="Group 14" id="14"/>
          <p:cNvGrpSpPr/>
          <p:nvPr/>
        </p:nvGrpSpPr>
        <p:grpSpPr>
          <a:xfrm rot="0">
            <a:off x="8400921" y="1170532"/>
            <a:ext cx="5238211" cy="1354452"/>
            <a:chOff x="0" y="0"/>
            <a:chExt cx="6984281" cy="1805936"/>
          </a:xfrm>
        </p:grpSpPr>
        <p:grpSp>
          <p:nvGrpSpPr>
            <p:cNvPr name="Group 15" id="15"/>
            <p:cNvGrpSpPr/>
            <p:nvPr/>
          </p:nvGrpSpPr>
          <p:grpSpPr>
            <a:xfrm rot="0">
              <a:off x="383420" y="0"/>
              <a:ext cx="6600862" cy="1805936"/>
              <a:chOff x="0" y="0"/>
              <a:chExt cx="1419148" cy="388266"/>
            </a:xfrm>
          </p:grpSpPr>
          <p:sp>
            <p:nvSpPr>
              <p:cNvPr name="Freeform 16" id="16"/>
              <p:cNvSpPr/>
              <p:nvPr/>
            </p:nvSpPr>
            <p:spPr>
              <a:xfrm flipH="false" flipV="false" rot="0">
                <a:off x="0" y="0"/>
                <a:ext cx="1419148" cy="388266"/>
              </a:xfrm>
              <a:custGeom>
                <a:avLst/>
                <a:gdLst/>
                <a:ahLst/>
                <a:cxnLst/>
                <a:rect r="r" b="b" t="t" l="l"/>
                <a:pathLst>
                  <a:path h="388266" w="1419148">
                    <a:moveTo>
                      <a:pt x="60989" y="0"/>
                    </a:moveTo>
                    <a:lnTo>
                      <a:pt x="1358159" y="0"/>
                    </a:lnTo>
                    <a:cubicBezTo>
                      <a:pt x="1391843" y="0"/>
                      <a:pt x="1419148" y="27306"/>
                      <a:pt x="1419148" y="60989"/>
                    </a:cubicBezTo>
                    <a:lnTo>
                      <a:pt x="1419148" y="327277"/>
                    </a:lnTo>
                    <a:cubicBezTo>
                      <a:pt x="1419148" y="360960"/>
                      <a:pt x="1391843" y="388266"/>
                      <a:pt x="1358159" y="388266"/>
                    </a:cubicBezTo>
                    <a:lnTo>
                      <a:pt x="60989" y="388266"/>
                    </a:lnTo>
                    <a:cubicBezTo>
                      <a:pt x="27306" y="388266"/>
                      <a:pt x="0" y="360960"/>
                      <a:pt x="0" y="327277"/>
                    </a:cubicBezTo>
                    <a:lnTo>
                      <a:pt x="0" y="60989"/>
                    </a:lnTo>
                    <a:cubicBezTo>
                      <a:pt x="0" y="27306"/>
                      <a:pt x="27306" y="0"/>
                      <a:pt x="60989" y="0"/>
                    </a:cubicBezTo>
                    <a:close/>
                  </a:path>
                </a:pathLst>
              </a:custGeom>
              <a:solidFill>
                <a:srgbClr val="F8F3E6"/>
              </a:solidFill>
              <a:ln cap="rnd">
                <a:noFill/>
                <a:prstDash val="solid"/>
                <a:round/>
              </a:ln>
            </p:spPr>
          </p:sp>
          <p:sp>
            <p:nvSpPr>
              <p:cNvPr name="TextBox 17" id="17"/>
              <p:cNvSpPr txBox="true"/>
              <p:nvPr/>
            </p:nvSpPr>
            <p:spPr>
              <a:xfrm>
                <a:off x="0" y="-28575"/>
                <a:ext cx="1419148" cy="416841"/>
              </a:xfrm>
              <a:prstGeom prst="rect">
                <a:avLst/>
              </a:prstGeom>
            </p:spPr>
            <p:txBody>
              <a:bodyPr anchor="ctr" rtlCol="false" tIns="37299" lIns="37299" bIns="37299" rIns="37299"/>
              <a:lstStyle/>
              <a:p>
                <a:pPr algn="ctr" marL="0" indent="0" lvl="0">
                  <a:lnSpc>
                    <a:spcPts val="2230"/>
                  </a:lnSpc>
                  <a:spcBef>
                    <a:spcPct val="0"/>
                  </a:spcBef>
                </a:pPr>
              </a:p>
            </p:txBody>
          </p:sp>
        </p:grpSp>
        <p:grpSp>
          <p:nvGrpSpPr>
            <p:cNvPr name="Group 18" id="18"/>
            <p:cNvGrpSpPr/>
            <p:nvPr/>
          </p:nvGrpSpPr>
          <p:grpSpPr>
            <a:xfrm rot="0">
              <a:off x="0" y="271166"/>
              <a:ext cx="1263605" cy="126360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20" id="20"/>
              <p:cNvSpPr txBox="true"/>
              <p:nvPr/>
            </p:nvSpPr>
            <p:spPr>
              <a:xfrm>
                <a:off x="76200" y="38100"/>
                <a:ext cx="660400" cy="698500"/>
              </a:xfrm>
              <a:prstGeom prst="rect">
                <a:avLst/>
              </a:prstGeom>
            </p:spPr>
            <p:txBody>
              <a:bodyPr anchor="ctr" rtlCol="false" tIns="29954" lIns="29954" bIns="29954" rIns="29954"/>
              <a:lstStyle/>
              <a:p>
                <a:pPr algn="ctr">
                  <a:lnSpc>
                    <a:spcPts val="2659"/>
                  </a:lnSpc>
                  <a:spcBef>
                    <a:spcPct val="0"/>
                  </a:spcBef>
                </a:pPr>
              </a:p>
            </p:txBody>
          </p:sp>
        </p:grpSp>
        <p:sp>
          <p:nvSpPr>
            <p:cNvPr name="TextBox 21" id="21"/>
            <p:cNvSpPr txBox="true"/>
            <p:nvPr/>
          </p:nvSpPr>
          <p:spPr>
            <a:xfrm rot="0">
              <a:off x="214810" y="340065"/>
              <a:ext cx="833985" cy="1001981"/>
            </a:xfrm>
            <a:prstGeom prst="rect">
              <a:avLst/>
            </a:prstGeom>
          </p:spPr>
          <p:txBody>
            <a:bodyPr anchor="t" rtlCol="false" tIns="0" lIns="0" bIns="0" rIns="0">
              <a:spAutoFit/>
            </a:bodyPr>
            <a:lstStyle/>
            <a:p>
              <a:pPr algn="ctr">
                <a:lnSpc>
                  <a:spcPts val="6099"/>
                </a:lnSpc>
              </a:pPr>
              <a:r>
                <a:rPr lang="en-US" b="true" sz="4356">
                  <a:solidFill>
                    <a:srgbClr val="042560"/>
                  </a:solidFill>
                  <a:latin typeface="Poppins Bold"/>
                  <a:ea typeface="Poppins Bold"/>
                  <a:cs typeface="Poppins Bold"/>
                  <a:sym typeface="Poppins Bold"/>
                </a:rPr>
                <a:t>m</a:t>
              </a:r>
            </a:p>
          </p:txBody>
        </p:sp>
      </p:grpSp>
      <p:sp>
        <p:nvSpPr>
          <p:cNvPr name="TextBox 22" id="22"/>
          <p:cNvSpPr txBox="true"/>
          <p:nvPr/>
        </p:nvSpPr>
        <p:spPr>
          <a:xfrm rot="0">
            <a:off x="11339603" y="1389070"/>
            <a:ext cx="2014022" cy="524467"/>
          </a:xfrm>
          <a:prstGeom prst="rect">
            <a:avLst/>
          </a:prstGeom>
        </p:spPr>
        <p:txBody>
          <a:bodyPr anchor="t" rtlCol="false" tIns="0" lIns="0" bIns="0" rIns="0">
            <a:spAutoFit/>
          </a:bodyPr>
          <a:lstStyle/>
          <a:p>
            <a:pPr algn="l" marL="0" indent="0" lvl="0">
              <a:lnSpc>
                <a:spcPts val="3695"/>
              </a:lnSpc>
              <a:spcBef>
                <a:spcPct val="0"/>
              </a:spcBef>
            </a:pPr>
            <a:r>
              <a:rPr lang="en-US" b="true" sz="3771">
                <a:solidFill>
                  <a:srgbClr val="042560"/>
                </a:solidFill>
                <a:latin typeface="Poppins Bold"/>
                <a:ea typeface="Poppins Bold"/>
                <a:cs typeface="Poppins Bold"/>
                <a:sym typeface="Poppins Bold"/>
              </a:rPr>
              <a:t>rise = 2</a:t>
            </a:r>
          </a:p>
        </p:txBody>
      </p:sp>
      <p:grpSp>
        <p:nvGrpSpPr>
          <p:cNvPr name="Group 23" id="23"/>
          <p:cNvGrpSpPr/>
          <p:nvPr/>
        </p:nvGrpSpPr>
        <p:grpSpPr>
          <a:xfrm rot="0">
            <a:off x="9488727" y="1560792"/>
            <a:ext cx="1618375" cy="573931"/>
            <a:chOff x="0" y="0"/>
            <a:chExt cx="2157834" cy="765241"/>
          </a:xfrm>
        </p:grpSpPr>
        <p:sp>
          <p:nvSpPr>
            <p:cNvPr name="TextBox 24" id="24"/>
            <p:cNvSpPr txBox="true"/>
            <p:nvPr/>
          </p:nvSpPr>
          <p:spPr>
            <a:xfrm rot="0">
              <a:off x="0" y="51134"/>
              <a:ext cx="1278507" cy="710599"/>
            </a:xfrm>
            <a:prstGeom prst="rect">
              <a:avLst/>
            </a:prstGeom>
          </p:spPr>
          <p:txBody>
            <a:bodyPr anchor="t" rtlCol="false" tIns="0" lIns="0" bIns="0" rIns="0">
              <a:spAutoFit/>
            </a:bodyPr>
            <a:lstStyle/>
            <a:p>
              <a:pPr algn="ctr">
                <a:lnSpc>
                  <a:spcPts val="3695"/>
                </a:lnSpc>
              </a:pPr>
              <a:r>
                <a:rPr lang="en-US" b="true" sz="3771">
                  <a:solidFill>
                    <a:srgbClr val="042560"/>
                  </a:solidFill>
                  <a:latin typeface="Poppins Bold"/>
                  <a:ea typeface="Poppins Bold"/>
                  <a:cs typeface="Poppins Bold"/>
                  <a:sym typeface="Poppins Bold"/>
                </a:rPr>
                <a:t>m =</a:t>
              </a:r>
            </a:p>
          </p:txBody>
        </p:sp>
        <p:sp>
          <p:nvSpPr>
            <p:cNvPr name="TextBox 25" id="25"/>
            <p:cNvSpPr txBox="true"/>
            <p:nvPr/>
          </p:nvSpPr>
          <p:spPr>
            <a:xfrm rot="0">
              <a:off x="1316607" y="47625"/>
              <a:ext cx="841226" cy="717616"/>
            </a:xfrm>
            <a:prstGeom prst="rect">
              <a:avLst/>
            </a:prstGeom>
          </p:spPr>
          <p:txBody>
            <a:bodyPr anchor="t" rtlCol="false" tIns="0" lIns="0" bIns="0" rIns="0">
              <a:spAutoFit/>
            </a:bodyPr>
            <a:lstStyle/>
            <a:p>
              <a:pPr algn="ctr" marL="0" indent="0" lvl="0">
                <a:lnSpc>
                  <a:spcPts val="3695"/>
                </a:lnSpc>
                <a:spcBef>
                  <a:spcPct val="0"/>
                </a:spcBef>
              </a:pPr>
              <a:r>
                <a:rPr lang="en-US" b="true" sz="3771">
                  <a:solidFill>
                    <a:srgbClr val="042560"/>
                  </a:solidFill>
                  <a:latin typeface="Poppins Bold"/>
                  <a:ea typeface="Poppins Bold"/>
                  <a:cs typeface="Poppins Bold"/>
                  <a:sym typeface="Poppins Bold"/>
                </a:rPr>
                <a:t>2</a:t>
              </a:r>
            </a:p>
          </p:txBody>
        </p:sp>
      </p:grpSp>
      <p:sp>
        <p:nvSpPr>
          <p:cNvPr name="TextBox 26" id="26"/>
          <p:cNvSpPr txBox="true"/>
          <p:nvPr/>
        </p:nvSpPr>
        <p:spPr>
          <a:xfrm rot="0">
            <a:off x="11339603" y="1829603"/>
            <a:ext cx="1928714" cy="524467"/>
          </a:xfrm>
          <a:prstGeom prst="rect">
            <a:avLst/>
          </a:prstGeom>
        </p:spPr>
        <p:txBody>
          <a:bodyPr anchor="t" rtlCol="false" tIns="0" lIns="0" bIns="0" rIns="0">
            <a:spAutoFit/>
          </a:bodyPr>
          <a:lstStyle/>
          <a:p>
            <a:pPr algn="l" marL="0" indent="0" lvl="0">
              <a:lnSpc>
                <a:spcPts val="3695"/>
              </a:lnSpc>
              <a:spcBef>
                <a:spcPct val="0"/>
              </a:spcBef>
            </a:pPr>
            <a:r>
              <a:rPr lang="en-US" b="true" sz="3771">
                <a:solidFill>
                  <a:srgbClr val="042560"/>
                </a:solidFill>
                <a:latin typeface="Poppins Bold"/>
                <a:ea typeface="Poppins Bold"/>
                <a:cs typeface="Poppins Bold"/>
                <a:sym typeface="Poppins Bold"/>
              </a:rPr>
              <a:t>run = 1</a:t>
            </a:r>
          </a:p>
        </p:txBody>
      </p:sp>
      <p:grpSp>
        <p:nvGrpSpPr>
          <p:cNvPr name="Group 27" id="27"/>
          <p:cNvGrpSpPr/>
          <p:nvPr/>
        </p:nvGrpSpPr>
        <p:grpSpPr>
          <a:xfrm rot="0">
            <a:off x="13902234" y="1170532"/>
            <a:ext cx="4056848" cy="1354452"/>
            <a:chOff x="0" y="0"/>
            <a:chExt cx="5409131" cy="1805936"/>
          </a:xfrm>
        </p:grpSpPr>
        <p:grpSp>
          <p:nvGrpSpPr>
            <p:cNvPr name="Group 28" id="28"/>
            <p:cNvGrpSpPr/>
            <p:nvPr/>
          </p:nvGrpSpPr>
          <p:grpSpPr>
            <a:xfrm rot="0">
              <a:off x="383420" y="0"/>
              <a:ext cx="5025711" cy="1805936"/>
              <a:chOff x="0" y="0"/>
              <a:chExt cx="1080500" cy="388266"/>
            </a:xfrm>
          </p:grpSpPr>
          <p:sp>
            <p:nvSpPr>
              <p:cNvPr name="Freeform 29" id="29"/>
              <p:cNvSpPr/>
              <p:nvPr/>
            </p:nvSpPr>
            <p:spPr>
              <a:xfrm flipH="false" flipV="false" rot="0">
                <a:off x="0" y="0"/>
                <a:ext cx="1080500" cy="388266"/>
              </a:xfrm>
              <a:custGeom>
                <a:avLst/>
                <a:gdLst/>
                <a:ahLst/>
                <a:cxnLst/>
                <a:rect r="r" b="b" t="t" l="l"/>
                <a:pathLst>
                  <a:path h="388266" w="1080500">
                    <a:moveTo>
                      <a:pt x="80104" y="0"/>
                    </a:moveTo>
                    <a:lnTo>
                      <a:pt x="1000396" y="0"/>
                    </a:lnTo>
                    <a:cubicBezTo>
                      <a:pt x="1044636" y="0"/>
                      <a:pt x="1080500" y="35864"/>
                      <a:pt x="1080500" y="80104"/>
                    </a:cubicBezTo>
                    <a:lnTo>
                      <a:pt x="1080500" y="308162"/>
                    </a:lnTo>
                    <a:cubicBezTo>
                      <a:pt x="1080500" y="352402"/>
                      <a:pt x="1044636" y="388266"/>
                      <a:pt x="1000396" y="388266"/>
                    </a:cubicBezTo>
                    <a:lnTo>
                      <a:pt x="80104" y="388266"/>
                    </a:lnTo>
                    <a:cubicBezTo>
                      <a:pt x="35864" y="388266"/>
                      <a:pt x="0" y="352402"/>
                      <a:pt x="0" y="308162"/>
                    </a:cubicBezTo>
                    <a:lnTo>
                      <a:pt x="0" y="80104"/>
                    </a:lnTo>
                    <a:cubicBezTo>
                      <a:pt x="0" y="35864"/>
                      <a:pt x="35864" y="0"/>
                      <a:pt x="80104" y="0"/>
                    </a:cubicBezTo>
                    <a:close/>
                  </a:path>
                </a:pathLst>
              </a:custGeom>
              <a:solidFill>
                <a:srgbClr val="F8F3E6"/>
              </a:solidFill>
              <a:ln cap="rnd">
                <a:noFill/>
                <a:prstDash val="solid"/>
                <a:round/>
              </a:ln>
            </p:spPr>
          </p:sp>
          <p:sp>
            <p:nvSpPr>
              <p:cNvPr name="TextBox 30" id="30"/>
              <p:cNvSpPr txBox="true"/>
              <p:nvPr/>
            </p:nvSpPr>
            <p:spPr>
              <a:xfrm>
                <a:off x="0" y="-28575"/>
                <a:ext cx="1080500" cy="416841"/>
              </a:xfrm>
              <a:prstGeom prst="rect">
                <a:avLst/>
              </a:prstGeom>
            </p:spPr>
            <p:txBody>
              <a:bodyPr anchor="ctr" rtlCol="false" tIns="37299" lIns="37299" bIns="37299" rIns="37299"/>
              <a:lstStyle/>
              <a:p>
                <a:pPr algn="ctr" marL="0" indent="0" lvl="0">
                  <a:lnSpc>
                    <a:spcPts val="2230"/>
                  </a:lnSpc>
                  <a:spcBef>
                    <a:spcPct val="0"/>
                  </a:spcBef>
                </a:pPr>
              </a:p>
            </p:txBody>
          </p:sp>
        </p:grpSp>
        <p:grpSp>
          <p:nvGrpSpPr>
            <p:cNvPr name="Group 31" id="31"/>
            <p:cNvGrpSpPr/>
            <p:nvPr/>
          </p:nvGrpSpPr>
          <p:grpSpPr>
            <a:xfrm rot="0">
              <a:off x="0" y="271166"/>
              <a:ext cx="1263605" cy="126360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33" id="33"/>
              <p:cNvSpPr txBox="true"/>
              <p:nvPr/>
            </p:nvSpPr>
            <p:spPr>
              <a:xfrm>
                <a:off x="76200" y="38100"/>
                <a:ext cx="660400" cy="698500"/>
              </a:xfrm>
              <a:prstGeom prst="rect">
                <a:avLst/>
              </a:prstGeom>
            </p:spPr>
            <p:txBody>
              <a:bodyPr anchor="ctr" rtlCol="false" tIns="29954" lIns="29954" bIns="29954" rIns="29954"/>
              <a:lstStyle/>
              <a:p>
                <a:pPr algn="ctr">
                  <a:lnSpc>
                    <a:spcPts val="2659"/>
                  </a:lnSpc>
                  <a:spcBef>
                    <a:spcPct val="0"/>
                  </a:spcBef>
                </a:pPr>
              </a:p>
            </p:txBody>
          </p:sp>
        </p:grpSp>
        <p:sp>
          <p:nvSpPr>
            <p:cNvPr name="TextBox 34" id="34"/>
            <p:cNvSpPr txBox="true"/>
            <p:nvPr/>
          </p:nvSpPr>
          <p:spPr>
            <a:xfrm rot="0">
              <a:off x="214810" y="340065"/>
              <a:ext cx="833985" cy="1001981"/>
            </a:xfrm>
            <a:prstGeom prst="rect">
              <a:avLst/>
            </a:prstGeom>
          </p:spPr>
          <p:txBody>
            <a:bodyPr anchor="t" rtlCol="false" tIns="0" lIns="0" bIns="0" rIns="0">
              <a:spAutoFit/>
            </a:bodyPr>
            <a:lstStyle/>
            <a:p>
              <a:pPr algn="ctr">
                <a:lnSpc>
                  <a:spcPts val="6099"/>
                </a:lnSpc>
              </a:pPr>
              <a:r>
                <a:rPr lang="en-US" sz="4356" b="true">
                  <a:solidFill>
                    <a:srgbClr val="042560"/>
                  </a:solidFill>
                  <a:latin typeface="Poppins Bold"/>
                  <a:ea typeface="Poppins Bold"/>
                  <a:cs typeface="Poppins Bold"/>
                  <a:sym typeface="Poppins Bold"/>
                </a:rPr>
                <a:t>b</a:t>
              </a:r>
            </a:p>
          </p:txBody>
        </p:sp>
      </p:grpSp>
      <p:sp>
        <p:nvSpPr>
          <p:cNvPr name="TextBox 35" id="35"/>
          <p:cNvSpPr txBox="true"/>
          <p:nvPr/>
        </p:nvSpPr>
        <p:spPr>
          <a:xfrm rot="0">
            <a:off x="14943099" y="1340815"/>
            <a:ext cx="691511" cy="871011"/>
          </a:xfrm>
          <a:prstGeom prst="rect">
            <a:avLst/>
          </a:prstGeom>
        </p:spPr>
        <p:txBody>
          <a:bodyPr anchor="t" rtlCol="false" tIns="0" lIns="0" bIns="0" rIns="0">
            <a:spAutoFit/>
          </a:bodyPr>
          <a:lstStyle/>
          <a:p>
            <a:pPr algn="ctr">
              <a:lnSpc>
                <a:spcPts val="6743"/>
              </a:lnSpc>
            </a:pPr>
            <a:r>
              <a:rPr lang="en-US" sz="4816" b="true">
                <a:solidFill>
                  <a:srgbClr val="042560"/>
                </a:solidFill>
                <a:latin typeface="Poppins Bold"/>
                <a:ea typeface="Poppins Bold"/>
                <a:cs typeface="Poppins Bold"/>
                <a:sym typeface="Poppins Bold"/>
              </a:rPr>
              <a:t>1</a:t>
            </a:r>
          </a:p>
        </p:txBody>
      </p:sp>
      <p:sp>
        <p:nvSpPr>
          <p:cNvPr name="TextBox 36" id="36"/>
          <p:cNvSpPr txBox="true"/>
          <p:nvPr/>
        </p:nvSpPr>
        <p:spPr>
          <a:xfrm rot="0">
            <a:off x="16074440" y="1340815"/>
            <a:ext cx="1612412" cy="871011"/>
          </a:xfrm>
          <a:prstGeom prst="rect">
            <a:avLst/>
          </a:prstGeom>
        </p:spPr>
        <p:txBody>
          <a:bodyPr anchor="t" rtlCol="false" tIns="0" lIns="0" bIns="0" rIns="0">
            <a:spAutoFit/>
          </a:bodyPr>
          <a:lstStyle/>
          <a:p>
            <a:pPr algn="ctr">
              <a:lnSpc>
                <a:spcPts val="6743"/>
              </a:lnSpc>
            </a:pPr>
            <a:r>
              <a:rPr lang="en-US" sz="4816" b="true">
                <a:solidFill>
                  <a:srgbClr val="042560"/>
                </a:solidFill>
                <a:latin typeface="Poppins Bold"/>
                <a:ea typeface="Poppins Bold"/>
                <a:cs typeface="Poppins Bold"/>
                <a:sym typeface="Poppins Bold"/>
              </a:rPr>
              <a:t>(0,1)</a:t>
            </a:r>
          </a:p>
        </p:txBody>
      </p:sp>
      <p:grpSp>
        <p:nvGrpSpPr>
          <p:cNvPr name="Group 37" id="37"/>
          <p:cNvGrpSpPr/>
          <p:nvPr/>
        </p:nvGrpSpPr>
        <p:grpSpPr>
          <a:xfrm rot="0">
            <a:off x="8412348" y="2674435"/>
            <a:ext cx="9765600" cy="7321944"/>
            <a:chOff x="0" y="0"/>
            <a:chExt cx="13020800" cy="9762592"/>
          </a:xfrm>
        </p:grpSpPr>
        <p:grpSp>
          <p:nvGrpSpPr>
            <p:cNvPr name="Group 38" id="38"/>
            <p:cNvGrpSpPr/>
            <p:nvPr/>
          </p:nvGrpSpPr>
          <p:grpSpPr>
            <a:xfrm rot="0">
              <a:off x="772187" y="573427"/>
              <a:ext cx="11476426" cy="8615738"/>
              <a:chOff x="0" y="0"/>
              <a:chExt cx="1845144" cy="1385212"/>
            </a:xfrm>
          </p:grpSpPr>
          <p:sp>
            <p:nvSpPr>
              <p:cNvPr name="Freeform 39" id="39"/>
              <p:cNvSpPr/>
              <p:nvPr/>
            </p:nvSpPr>
            <p:spPr>
              <a:xfrm flipH="false" flipV="false" rot="0">
                <a:off x="0" y="0"/>
                <a:ext cx="1845144" cy="1385212"/>
              </a:xfrm>
              <a:custGeom>
                <a:avLst/>
                <a:gdLst/>
                <a:ahLst/>
                <a:cxnLst/>
                <a:rect r="r" b="b" t="t" l="l"/>
                <a:pathLst>
                  <a:path h="1385212" w="1845144">
                    <a:moveTo>
                      <a:pt x="45872" y="0"/>
                    </a:moveTo>
                    <a:lnTo>
                      <a:pt x="1799272" y="0"/>
                    </a:lnTo>
                    <a:cubicBezTo>
                      <a:pt x="1811438" y="0"/>
                      <a:pt x="1823106" y="4833"/>
                      <a:pt x="1831709" y="13436"/>
                    </a:cubicBezTo>
                    <a:cubicBezTo>
                      <a:pt x="1840311" y="22038"/>
                      <a:pt x="1845144" y="33706"/>
                      <a:pt x="1845144" y="45872"/>
                    </a:cubicBezTo>
                    <a:lnTo>
                      <a:pt x="1845144" y="1339340"/>
                    </a:lnTo>
                    <a:cubicBezTo>
                      <a:pt x="1845144" y="1364674"/>
                      <a:pt x="1824607" y="1385212"/>
                      <a:pt x="1799272" y="1385212"/>
                    </a:cubicBezTo>
                    <a:lnTo>
                      <a:pt x="45872" y="1385212"/>
                    </a:lnTo>
                    <a:cubicBezTo>
                      <a:pt x="33706" y="1385212"/>
                      <a:pt x="22038" y="1380379"/>
                      <a:pt x="13436" y="1371776"/>
                    </a:cubicBezTo>
                    <a:cubicBezTo>
                      <a:pt x="4833" y="1363173"/>
                      <a:pt x="0" y="1351506"/>
                      <a:pt x="0" y="1339340"/>
                    </a:cubicBezTo>
                    <a:lnTo>
                      <a:pt x="0" y="45872"/>
                    </a:lnTo>
                    <a:cubicBezTo>
                      <a:pt x="0" y="20538"/>
                      <a:pt x="20538" y="0"/>
                      <a:pt x="45872" y="0"/>
                    </a:cubicBezTo>
                    <a:close/>
                  </a:path>
                </a:pathLst>
              </a:custGeom>
              <a:solidFill>
                <a:srgbClr val="000000">
                  <a:alpha val="0"/>
                </a:srgbClr>
              </a:solidFill>
              <a:ln w="19050" cap="rnd">
                <a:solidFill>
                  <a:srgbClr val="002C7C"/>
                </a:solidFill>
                <a:prstDash val="solid"/>
                <a:round/>
              </a:ln>
            </p:spPr>
          </p:sp>
          <p:sp>
            <p:nvSpPr>
              <p:cNvPr name="TextBox 40" id="40"/>
              <p:cNvSpPr txBox="true"/>
              <p:nvPr/>
            </p:nvSpPr>
            <p:spPr>
              <a:xfrm>
                <a:off x="0" y="-38100"/>
                <a:ext cx="1845144" cy="1423312"/>
              </a:xfrm>
              <a:prstGeom prst="rect">
                <a:avLst/>
              </a:prstGeom>
            </p:spPr>
            <p:txBody>
              <a:bodyPr anchor="ctr" rtlCol="false" tIns="54662" lIns="54662" bIns="54662" rIns="54662"/>
              <a:lstStyle/>
              <a:p>
                <a:pPr algn="ctr">
                  <a:lnSpc>
                    <a:spcPts val="2660"/>
                  </a:lnSpc>
                </a:pPr>
              </a:p>
            </p:txBody>
          </p:sp>
        </p:grpSp>
        <p:sp>
          <p:nvSpPr>
            <p:cNvPr name="AutoShape 41" id="41"/>
            <p:cNvSpPr/>
            <p:nvPr/>
          </p:nvSpPr>
          <p:spPr>
            <a:xfrm>
              <a:off x="784834" y="5619062"/>
              <a:ext cx="11451132" cy="0"/>
            </a:xfrm>
            <a:prstGeom prst="line">
              <a:avLst/>
            </a:prstGeom>
            <a:ln cap="flat" w="25400">
              <a:solidFill>
                <a:srgbClr val="002C7C"/>
              </a:solidFill>
              <a:prstDash val="solid"/>
              <a:headEnd type="none" len="sm" w="sm"/>
              <a:tailEnd type="none" len="sm" w="sm"/>
            </a:ln>
          </p:spPr>
        </p:sp>
        <p:sp>
          <p:nvSpPr>
            <p:cNvPr name="AutoShape 42" id="42"/>
            <p:cNvSpPr/>
            <p:nvPr/>
          </p:nvSpPr>
          <p:spPr>
            <a:xfrm>
              <a:off x="784834" y="6330444"/>
              <a:ext cx="11451132" cy="0"/>
            </a:xfrm>
            <a:prstGeom prst="line">
              <a:avLst/>
            </a:prstGeom>
            <a:ln cap="flat" w="25400">
              <a:solidFill>
                <a:srgbClr val="002C7C"/>
              </a:solidFill>
              <a:prstDash val="solid"/>
              <a:headEnd type="none" len="sm" w="sm"/>
              <a:tailEnd type="none" len="sm" w="sm"/>
            </a:ln>
          </p:spPr>
        </p:sp>
        <p:sp>
          <p:nvSpPr>
            <p:cNvPr name="AutoShape 43" id="43"/>
            <p:cNvSpPr/>
            <p:nvPr/>
          </p:nvSpPr>
          <p:spPr>
            <a:xfrm>
              <a:off x="784834" y="7041826"/>
              <a:ext cx="11451132" cy="0"/>
            </a:xfrm>
            <a:prstGeom prst="line">
              <a:avLst/>
            </a:prstGeom>
            <a:ln cap="flat" w="25400">
              <a:solidFill>
                <a:srgbClr val="002C7C"/>
              </a:solidFill>
              <a:prstDash val="solid"/>
              <a:headEnd type="none" len="sm" w="sm"/>
              <a:tailEnd type="none" len="sm" w="sm"/>
            </a:ln>
          </p:spPr>
        </p:sp>
        <p:sp>
          <p:nvSpPr>
            <p:cNvPr name="AutoShape 44" id="44"/>
            <p:cNvSpPr/>
            <p:nvPr/>
          </p:nvSpPr>
          <p:spPr>
            <a:xfrm>
              <a:off x="784834" y="1996191"/>
              <a:ext cx="11451132" cy="0"/>
            </a:xfrm>
            <a:prstGeom prst="line">
              <a:avLst/>
            </a:prstGeom>
            <a:ln cap="flat" w="25400">
              <a:solidFill>
                <a:srgbClr val="002C7C"/>
              </a:solidFill>
              <a:prstDash val="solid"/>
              <a:headEnd type="none" len="sm" w="sm"/>
              <a:tailEnd type="none" len="sm" w="sm"/>
            </a:ln>
          </p:spPr>
        </p:sp>
        <p:sp>
          <p:nvSpPr>
            <p:cNvPr name="AutoShape 45" id="45"/>
            <p:cNvSpPr/>
            <p:nvPr/>
          </p:nvSpPr>
          <p:spPr>
            <a:xfrm>
              <a:off x="784834" y="2707573"/>
              <a:ext cx="11451132" cy="0"/>
            </a:xfrm>
            <a:prstGeom prst="line">
              <a:avLst/>
            </a:prstGeom>
            <a:ln cap="flat" w="25400">
              <a:solidFill>
                <a:srgbClr val="002C7C"/>
              </a:solidFill>
              <a:prstDash val="solid"/>
              <a:headEnd type="none" len="sm" w="sm"/>
              <a:tailEnd type="none" len="sm" w="sm"/>
            </a:ln>
          </p:spPr>
        </p:sp>
        <p:sp>
          <p:nvSpPr>
            <p:cNvPr name="AutoShape 46" id="46"/>
            <p:cNvSpPr/>
            <p:nvPr/>
          </p:nvSpPr>
          <p:spPr>
            <a:xfrm>
              <a:off x="784834" y="3418956"/>
              <a:ext cx="11451132" cy="0"/>
            </a:xfrm>
            <a:prstGeom prst="line">
              <a:avLst/>
            </a:prstGeom>
            <a:ln cap="flat" w="25400">
              <a:solidFill>
                <a:srgbClr val="002C7C"/>
              </a:solidFill>
              <a:prstDash val="solid"/>
              <a:headEnd type="none" len="sm" w="sm"/>
              <a:tailEnd type="none" len="sm" w="sm"/>
            </a:ln>
          </p:spPr>
        </p:sp>
        <p:sp>
          <p:nvSpPr>
            <p:cNvPr name="AutoShape 47" id="47"/>
            <p:cNvSpPr/>
            <p:nvPr/>
          </p:nvSpPr>
          <p:spPr>
            <a:xfrm>
              <a:off x="784834" y="4130338"/>
              <a:ext cx="11451132" cy="0"/>
            </a:xfrm>
            <a:prstGeom prst="line">
              <a:avLst/>
            </a:prstGeom>
            <a:ln cap="flat" w="25400">
              <a:solidFill>
                <a:srgbClr val="002C7C"/>
              </a:solidFill>
              <a:prstDash val="solid"/>
              <a:headEnd type="none" len="sm" w="sm"/>
              <a:tailEnd type="none" len="sm" w="sm"/>
            </a:ln>
          </p:spPr>
        </p:sp>
        <p:sp>
          <p:nvSpPr>
            <p:cNvPr name="AutoShape 48" id="48"/>
            <p:cNvSpPr/>
            <p:nvPr/>
          </p:nvSpPr>
          <p:spPr>
            <a:xfrm>
              <a:off x="784834" y="7753209"/>
              <a:ext cx="11451132" cy="0"/>
            </a:xfrm>
            <a:prstGeom prst="line">
              <a:avLst/>
            </a:prstGeom>
            <a:ln cap="flat" w="25400">
              <a:solidFill>
                <a:srgbClr val="002C7C"/>
              </a:solidFill>
              <a:prstDash val="solid"/>
              <a:headEnd type="none" len="sm" w="sm"/>
              <a:tailEnd type="none" len="sm" w="sm"/>
            </a:ln>
          </p:spPr>
        </p:sp>
        <p:sp>
          <p:nvSpPr>
            <p:cNvPr name="AutoShape 49" id="49"/>
            <p:cNvSpPr/>
            <p:nvPr/>
          </p:nvSpPr>
          <p:spPr>
            <a:xfrm>
              <a:off x="784834" y="8464591"/>
              <a:ext cx="11451132" cy="0"/>
            </a:xfrm>
            <a:prstGeom prst="line">
              <a:avLst/>
            </a:prstGeom>
            <a:ln cap="flat" w="25400">
              <a:solidFill>
                <a:srgbClr val="002C7C"/>
              </a:solidFill>
              <a:prstDash val="solid"/>
              <a:headEnd type="none" len="sm" w="sm"/>
              <a:tailEnd type="none" len="sm" w="sm"/>
            </a:ln>
          </p:spPr>
        </p:sp>
        <p:sp>
          <p:nvSpPr>
            <p:cNvPr name="AutoShape 50" id="50"/>
            <p:cNvSpPr/>
            <p:nvPr/>
          </p:nvSpPr>
          <p:spPr>
            <a:xfrm>
              <a:off x="784834" y="1284809"/>
              <a:ext cx="11451132" cy="0"/>
            </a:xfrm>
            <a:prstGeom prst="line">
              <a:avLst/>
            </a:prstGeom>
            <a:ln cap="flat" w="25400">
              <a:solidFill>
                <a:srgbClr val="002C7C"/>
              </a:solidFill>
              <a:prstDash val="solid"/>
              <a:headEnd type="none" len="sm" w="sm"/>
              <a:tailEnd type="none" len="sm" w="sm"/>
            </a:ln>
          </p:spPr>
        </p:sp>
        <p:sp>
          <p:nvSpPr>
            <p:cNvPr name="AutoShape 51" id="51"/>
            <p:cNvSpPr/>
            <p:nvPr/>
          </p:nvSpPr>
          <p:spPr>
            <a:xfrm flipV="true">
              <a:off x="7218291" y="573427"/>
              <a:ext cx="0" cy="8615738"/>
            </a:xfrm>
            <a:prstGeom prst="line">
              <a:avLst/>
            </a:prstGeom>
            <a:ln cap="flat" w="25400">
              <a:solidFill>
                <a:srgbClr val="002C7C"/>
              </a:solidFill>
              <a:prstDash val="solid"/>
              <a:headEnd type="none" len="sm" w="sm"/>
              <a:tailEnd type="none" len="sm" w="sm"/>
            </a:ln>
          </p:spPr>
        </p:sp>
        <p:sp>
          <p:nvSpPr>
            <p:cNvPr name="AutoShape 52" id="52"/>
            <p:cNvSpPr/>
            <p:nvPr/>
          </p:nvSpPr>
          <p:spPr>
            <a:xfrm flipV="true">
              <a:off x="7928573" y="573427"/>
              <a:ext cx="0" cy="8615738"/>
            </a:xfrm>
            <a:prstGeom prst="line">
              <a:avLst/>
            </a:prstGeom>
            <a:ln cap="flat" w="25400">
              <a:solidFill>
                <a:srgbClr val="002C7C"/>
              </a:solidFill>
              <a:prstDash val="solid"/>
              <a:headEnd type="none" len="sm" w="sm"/>
              <a:tailEnd type="none" len="sm" w="sm"/>
            </a:ln>
          </p:spPr>
        </p:sp>
        <p:sp>
          <p:nvSpPr>
            <p:cNvPr name="AutoShape 53" id="53"/>
            <p:cNvSpPr/>
            <p:nvPr/>
          </p:nvSpPr>
          <p:spPr>
            <a:xfrm flipV="true">
              <a:off x="8638856" y="573427"/>
              <a:ext cx="0" cy="8615738"/>
            </a:xfrm>
            <a:prstGeom prst="line">
              <a:avLst/>
            </a:prstGeom>
            <a:ln cap="flat" w="25400">
              <a:solidFill>
                <a:srgbClr val="002C7C"/>
              </a:solidFill>
              <a:prstDash val="solid"/>
              <a:headEnd type="none" len="sm" w="sm"/>
              <a:tailEnd type="none" len="sm" w="sm"/>
            </a:ln>
          </p:spPr>
        </p:sp>
        <p:sp>
          <p:nvSpPr>
            <p:cNvPr name="AutoShape 54" id="54"/>
            <p:cNvSpPr/>
            <p:nvPr/>
          </p:nvSpPr>
          <p:spPr>
            <a:xfrm flipV="true">
              <a:off x="3600916" y="573427"/>
              <a:ext cx="0" cy="8615738"/>
            </a:xfrm>
            <a:prstGeom prst="line">
              <a:avLst/>
            </a:prstGeom>
            <a:ln cap="flat" w="25400">
              <a:solidFill>
                <a:srgbClr val="002C7C"/>
              </a:solidFill>
              <a:prstDash val="solid"/>
              <a:headEnd type="none" len="sm" w="sm"/>
              <a:tailEnd type="none" len="sm" w="sm"/>
            </a:ln>
          </p:spPr>
        </p:sp>
        <p:sp>
          <p:nvSpPr>
            <p:cNvPr name="AutoShape 55" id="55"/>
            <p:cNvSpPr/>
            <p:nvPr/>
          </p:nvSpPr>
          <p:spPr>
            <a:xfrm flipV="true">
              <a:off x="4311199" y="573427"/>
              <a:ext cx="0" cy="8615738"/>
            </a:xfrm>
            <a:prstGeom prst="line">
              <a:avLst/>
            </a:prstGeom>
            <a:ln cap="flat" w="25400">
              <a:solidFill>
                <a:srgbClr val="002C7C"/>
              </a:solidFill>
              <a:prstDash val="solid"/>
              <a:headEnd type="none" len="sm" w="sm"/>
              <a:tailEnd type="none" len="sm" w="sm"/>
            </a:ln>
          </p:spPr>
        </p:sp>
        <p:sp>
          <p:nvSpPr>
            <p:cNvPr name="AutoShape 56" id="56"/>
            <p:cNvSpPr/>
            <p:nvPr/>
          </p:nvSpPr>
          <p:spPr>
            <a:xfrm flipV="true">
              <a:off x="5021482" y="573427"/>
              <a:ext cx="0" cy="8615738"/>
            </a:xfrm>
            <a:prstGeom prst="line">
              <a:avLst/>
            </a:prstGeom>
            <a:ln cap="flat" w="25400">
              <a:solidFill>
                <a:srgbClr val="002C7C"/>
              </a:solidFill>
              <a:prstDash val="solid"/>
              <a:headEnd type="none" len="sm" w="sm"/>
              <a:tailEnd type="none" len="sm" w="sm"/>
            </a:ln>
          </p:spPr>
        </p:sp>
        <p:sp>
          <p:nvSpPr>
            <p:cNvPr name="AutoShape 57" id="57"/>
            <p:cNvSpPr/>
            <p:nvPr/>
          </p:nvSpPr>
          <p:spPr>
            <a:xfrm flipV="true">
              <a:off x="5731765" y="573427"/>
              <a:ext cx="0" cy="8615738"/>
            </a:xfrm>
            <a:prstGeom prst="line">
              <a:avLst/>
            </a:prstGeom>
            <a:ln cap="flat" w="25400">
              <a:solidFill>
                <a:srgbClr val="002C7C"/>
              </a:solidFill>
              <a:prstDash val="solid"/>
              <a:headEnd type="none" len="sm" w="sm"/>
              <a:tailEnd type="none" len="sm" w="sm"/>
            </a:ln>
          </p:spPr>
        </p:sp>
        <p:sp>
          <p:nvSpPr>
            <p:cNvPr name="AutoShape 58" id="58"/>
            <p:cNvSpPr/>
            <p:nvPr/>
          </p:nvSpPr>
          <p:spPr>
            <a:xfrm flipV="true">
              <a:off x="9349139" y="573427"/>
              <a:ext cx="0" cy="8615738"/>
            </a:xfrm>
            <a:prstGeom prst="line">
              <a:avLst/>
            </a:prstGeom>
            <a:ln cap="flat" w="25400">
              <a:solidFill>
                <a:srgbClr val="002C7C"/>
              </a:solidFill>
              <a:prstDash val="solid"/>
              <a:headEnd type="none" len="sm" w="sm"/>
              <a:tailEnd type="none" len="sm" w="sm"/>
            </a:ln>
          </p:spPr>
        </p:sp>
        <p:sp>
          <p:nvSpPr>
            <p:cNvPr name="AutoShape 59" id="59"/>
            <p:cNvSpPr/>
            <p:nvPr/>
          </p:nvSpPr>
          <p:spPr>
            <a:xfrm flipV="true">
              <a:off x="10059422" y="573427"/>
              <a:ext cx="0" cy="8615738"/>
            </a:xfrm>
            <a:prstGeom prst="line">
              <a:avLst/>
            </a:prstGeom>
            <a:ln cap="flat" w="25400">
              <a:solidFill>
                <a:srgbClr val="002C7C"/>
              </a:solidFill>
              <a:prstDash val="solid"/>
              <a:headEnd type="none" len="sm" w="sm"/>
              <a:tailEnd type="none" len="sm" w="sm"/>
            </a:ln>
          </p:spPr>
        </p:sp>
        <p:sp>
          <p:nvSpPr>
            <p:cNvPr name="AutoShape 60" id="60"/>
            <p:cNvSpPr/>
            <p:nvPr/>
          </p:nvSpPr>
          <p:spPr>
            <a:xfrm flipV="true">
              <a:off x="2890634" y="573427"/>
              <a:ext cx="0" cy="8615738"/>
            </a:xfrm>
            <a:prstGeom prst="line">
              <a:avLst/>
            </a:prstGeom>
            <a:ln cap="flat" w="25400">
              <a:solidFill>
                <a:srgbClr val="002C7C"/>
              </a:solidFill>
              <a:prstDash val="solid"/>
              <a:headEnd type="none" len="sm" w="sm"/>
              <a:tailEnd type="none" len="sm" w="sm"/>
            </a:ln>
          </p:spPr>
        </p:sp>
        <p:sp>
          <p:nvSpPr>
            <p:cNvPr name="AutoShape 61" id="61"/>
            <p:cNvSpPr/>
            <p:nvPr/>
          </p:nvSpPr>
          <p:spPr>
            <a:xfrm flipV="true">
              <a:off x="6475028" y="0"/>
              <a:ext cx="0" cy="9762592"/>
            </a:xfrm>
            <a:prstGeom prst="line">
              <a:avLst/>
            </a:prstGeom>
            <a:ln cap="flat" w="88900">
              <a:solidFill>
                <a:srgbClr val="002C7C"/>
              </a:solidFill>
              <a:prstDash val="solid"/>
              <a:headEnd type="arrow" len="sm" w="med"/>
              <a:tailEnd type="arrow" len="sm" w="med"/>
            </a:ln>
          </p:spPr>
        </p:sp>
        <p:sp>
          <p:nvSpPr>
            <p:cNvPr name="AutoShape 62" id="62"/>
            <p:cNvSpPr/>
            <p:nvPr/>
          </p:nvSpPr>
          <p:spPr>
            <a:xfrm flipH="true">
              <a:off x="0" y="4874700"/>
              <a:ext cx="13020800" cy="0"/>
            </a:xfrm>
            <a:prstGeom prst="line">
              <a:avLst/>
            </a:prstGeom>
            <a:ln cap="flat" w="76200">
              <a:solidFill>
                <a:srgbClr val="002C7C"/>
              </a:solidFill>
              <a:prstDash val="solid"/>
              <a:headEnd type="arrow" len="sm" w="med"/>
              <a:tailEnd type="arrow" len="sm" w="med"/>
            </a:ln>
          </p:spPr>
        </p:sp>
        <p:sp>
          <p:nvSpPr>
            <p:cNvPr name="AutoShape 63" id="63"/>
            <p:cNvSpPr/>
            <p:nvPr/>
          </p:nvSpPr>
          <p:spPr>
            <a:xfrm flipV="true">
              <a:off x="10770197" y="588335"/>
              <a:ext cx="0" cy="8615738"/>
            </a:xfrm>
            <a:prstGeom prst="line">
              <a:avLst/>
            </a:prstGeom>
            <a:ln cap="flat" w="25400">
              <a:solidFill>
                <a:srgbClr val="002C7C"/>
              </a:solidFill>
              <a:prstDash val="solid"/>
              <a:headEnd type="none" len="sm" w="sm"/>
              <a:tailEnd type="none" len="sm" w="sm"/>
            </a:ln>
          </p:spPr>
        </p:sp>
        <p:sp>
          <p:nvSpPr>
            <p:cNvPr name="AutoShape 64" id="64"/>
            <p:cNvSpPr/>
            <p:nvPr/>
          </p:nvSpPr>
          <p:spPr>
            <a:xfrm flipV="true">
              <a:off x="1486230" y="566831"/>
              <a:ext cx="0" cy="8615738"/>
            </a:xfrm>
            <a:prstGeom prst="line">
              <a:avLst/>
            </a:prstGeom>
            <a:ln cap="flat" w="25400">
              <a:solidFill>
                <a:srgbClr val="002C7C"/>
              </a:solidFill>
              <a:prstDash val="solid"/>
              <a:headEnd type="none" len="sm" w="sm"/>
              <a:tailEnd type="none" len="sm" w="sm"/>
            </a:ln>
          </p:spPr>
        </p:sp>
        <p:sp>
          <p:nvSpPr>
            <p:cNvPr name="AutoShape 65" id="65"/>
            <p:cNvSpPr/>
            <p:nvPr/>
          </p:nvSpPr>
          <p:spPr>
            <a:xfrm flipV="true">
              <a:off x="2196513" y="566831"/>
              <a:ext cx="0" cy="8615738"/>
            </a:xfrm>
            <a:prstGeom prst="line">
              <a:avLst/>
            </a:prstGeom>
            <a:ln cap="flat" w="25400">
              <a:solidFill>
                <a:srgbClr val="002C7C"/>
              </a:solidFill>
              <a:prstDash val="solid"/>
              <a:headEnd type="none" len="sm" w="sm"/>
              <a:tailEnd type="none" len="sm" w="sm"/>
            </a:ln>
          </p:spPr>
        </p:sp>
        <p:sp>
          <p:nvSpPr>
            <p:cNvPr name="AutoShape 66" id="66"/>
            <p:cNvSpPr/>
            <p:nvPr/>
          </p:nvSpPr>
          <p:spPr>
            <a:xfrm flipV="true">
              <a:off x="11455505" y="588335"/>
              <a:ext cx="0" cy="8615738"/>
            </a:xfrm>
            <a:prstGeom prst="line">
              <a:avLst/>
            </a:prstGeom>
            <a:ln cap="flat" w="25400">
              <a:solidFill>
                <a:srgbClr val="002C7C"/>
              </a:solidFill>
              <a:prstDash val="solid"/>
              <a:headEnd type="none" len="sm" w="sm"/>
              <a:tailEnd type="none" len="sm" w="sm"/>
            </a:ln>
          </p:spPr>
        </p:sp>
        <p:sp>
          <p:nvSpPr>
            <p:cNvPr name="AutoShape 67" id="67"/>
            <p:cNvSpPr/>
            <p:nvPr/>
          </p:nvSpPr>
          <p:spPr>
            <a:xfrm flipV="true">
              <a:off x="10745222" y="588335"/>
              <a:ext cx="0" cy="8615738"/>
            </a:xfrm>
            <a:prstGeom prst="line">
              <a:avLst/>
            </a:prstGeom>
            <a:ln cap="flat" w="25400">
              <a:solidFill>
                <a:srgbClr val="002C7C"/>
              </a:solidFill>
              <a:prstDash val="solid"/>
              <a:headEnd type="none" len="sm" w="sm"/>
              <a:tailEnd type="none" len="sm" w="sm"/>
            </a:ln>
          </p:spPr>
        </p:sp>
      </p:grpSp>
      <p:sp>
        <p:nvSpPr>
          <p:cNvPr name="AutoShape 68" id="68"/>
          <p:cNvSpPr/>
          <p:nvPr/>
        </p:nvSpPr>
        <p:spPr>
          <a:xfrm flipH="true">
            <a:off x="11536864" y="2916835"/>
            <a:ext cx="3149994" cy="6341465"/>
          </a:xfrm>
          <a:prstGeom prst="line">
            <a:avLst/>
          </a:prstGeom>
          <a:ln cap="flat" w="123825">
            <a:solidFill>
              <a:srgbClr val="FF9C00"/>
            </a:solidFill>
            <a:prstDash val="solid"/>
            <a:headEnd type="arrow" len="sm" w="med"/>
            <a:tailEnd type="arrow" len="sm" w="med"/>
          </a:ln>
        </p:spPr>
      </p:sp>
      <p:grpSp>
        <p:nvGrpSpPr>
          <p:cNvPr name="Group 69" id="69"/>
          <p:cNvGrpSpPr/>
          <p:nvPr/>
        </p:nvGrpSpPr>
        <p:grpSpPr>
          <a:xfrm rot="0">
            <a:off x="13118180" y="5621979"/>
            <a:ext cx="300273" cy="300273"/>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71" id="7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72" id="72"/>
          <p:cNvSpPr txBox="true"/>
          <p:nvPr/>
        </p:nvSpPr>
        <p:spPr>
          <a:xfrm rot="0">
            <a:off x="13639132" y="5603167"/>
            <a:ext cx="986774"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(0,1)</a:t>
            </a:r>
          </a:p>
        </p:txBody>
      </p:sp>
      <p:sp>
        <p:nvSpPr>
          <p:cNvPr name="AutoShape 73" id="73"/>
          <p:cNvSpPr/>
          <p:nvPr/>
        </p:nvSpPr>
        <p:spPr>
          <a:xfrm flipV="true">
            <a:off x="13268317" y="4706777"/>
            <a:ext cx="0" cy="915203"/>
          </a:xfrm>
          <a:prstGeom prst="line">
            <a:avLst/>
          </a:prstGeom>
          <a:ln cap="flat" w="66675">
            <a:solidFill>
              <a:srgbClr val="E87B69"/>
            </a:solidFill>
            <a:prstDash val="sysDash"/>
            <a:headEnd type="none" len="sm" w="sm"/>
            <a:tailEnd type="arrow" len="sm" w="med"/>
          </a:ln>
        </p:spPr>
      </p:sp>
      <p:grpSp>
        <p:nvGrpSpPr>
          <p:cNvPr name="Group 74" id="74"/>
          <p:cNvGrpSpPr/>
          <p:nvPr/>
        </p:nvGrpSpPr>
        <p:grpSpPr>
          <a:xfrm rot="0">
            <a:off x="13678886" y="4524542"/>
            <a:ext cx="300273" cy="300273"/>
            <a:chOff x="0" y="0"/>
            <a:chExt cx="812800" cy="812800"/>
          </a:xfrm>
        </p:grpSpPr>
        <p:sp>
          <p:nvSpPr>
            <p:cNvPr name="Freeform 75" id="7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76" id="7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77" id="77"/>
          <p:cNvSpPr/>
          <p:nvPr/>
        </p:nvSpPr>
        <p:spPr>
          <a:xfrm>
            <a:off x="13268317" y="4706777"/>
            <a:ext cx="536893" cy="0"/>
          </a:xfrm>
          <a:prstGeom prst="line">
            <a:avLst/>
          </a:prstGeom>
          <a:ln cap="flat" w="66675">
            <a:solidFill>
              <a:srgbClr val="E87B69"/>
            </a:solidFill>
            <a:prstDash val="sysDash"/>
            <a:headEnd type="none" len="sm" w="sm"/>
            <a:tailEnd type="arrow" len="sm" w="med"/>
          </a:ln>
        </p:spPr>
      </p:sp>
      <p:sp>
        <p:nvSpPr>
          <p:cNvPr name="AutoShape 78" id="78"/>
          <p:cNvSpPr/>
          <p:nvPr/>
        </p:nvSpPr>
        <p:spPr>
          <a:xfrm flipV="true">
            <a:off x="13829023" y="3622150"/>
            <a:ext cx="0" cy="902392"/>
          </a:xfrm>
          <a:prstGeom prst="line">
            <a:avLst/>
          </a:prstGeom>
          <a:ln cap="flat" w="66675">
            <a:solidFill>
              <a:srgbClr val="E87B69"/>
            </a:solidFill>
            <a:prstDash val="sysDash"/>
            <a:headEnd type="none" len="sm" w="sm"/>
            <a:tailEnd type="arrow" len="sm" w="med"/>
          </a:ln>
        </p:spPr>
      </p:sp>
      <p:grpSp>
        <p:nvGrpSpPr>
          <p:cNvPr name="Group 79" id="79"/>
          <p:cNvGrpSpPr/>
          <p:nvPr/>
        </p:nvGrpSpPr>
        <p:grpSpPr>
          <a:xfrm rot="0">
            <a:off x="14216156" y="3477997"/>
            <a:ext cx="300273" cy="300273"/>
            <a:chOff x="0" y="0"/>
            <a:chExt cx="812800" cy="812800"/>
          </a:xfrm>
        </p:grpSpPr>
        <p:sp>
          <p:nvSpPr>
            <p:cNvPr name="Freeform 80" id="8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81" id="8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82" id="82"/>
          <p:cNvSpPr/>
          <p:nvPr/>
        </p:nvSpPr>
        <p:spPr>
          <a:xfrm>
            <a:off x="13829023" y="3628134"/>
            <a:ext cx="569795" cy="0"/>
          </a:xfrm>
          <a:prstGeom prst="line">
            <a:avLst/>
          </a:prstGeom>
          <a:ln cap="flat" w="66675">
            <a:solidFill>
              <a:srgbClr val="E87B69"/>
            </a:solidFill>
            <a:prstDash val="sysDash"/>
            <a:headEnd type="none" len="sm" w="sm"/>
            <a:tailEnd type="arrow" len="sm" w="med"/>
          </a:ln>
        </p:spPr>
      </p:sp>
      <p:sp>
        <p:nvSpPr>
          <p:cNvPr name="TextBox 83" id="83"/>
          <p:cNvSpPr txBox="true"/>
          <p:nvPr/>
        </p:nvSpPr>
        <p:spPr>
          <a:xfrm rot="0">
            <a:off x="14193472" y="4486680"/>
            <a:ext cx="913134"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(1,3)</a:t>
            </a:r>
          </a:p>
        </p:txBody>
      </p:sp>
      <p:sp>
        <p:nvSpPr>
          <p:cNvPr name="TextBox 84" id="84"/>
          <p:cNvSpPr txBox="true"/>
          <p:nvPr/>
        </p:nvSpPr>
        <p:spPr>
          <a:xfrm rot="0">
            <a:off x="14686859" y="3440135"/>
            <a:ext cx="1054525"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(2,4)</a:t>
            </a:r>
          </a:p>
        </p:txBody>
      </p:sp>
      <p:sp>
        <p:nvSpPr>
          <p:cNvPr name="TextBox 85" id="85"/>
          <p:cNvSpPr txBox="true"/>
          <p:nvPr/>
        </p:nvSpPr>
        <p:spPr>
          <a:xfrm rot="0">
            <a:off x="2062549" y="7850643"/>
            <a:ext cx="4240402"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-x - 2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4096" y="-834321"/>
            <a:ext cx="8816525" cy="12541006"/>
            <a:chOff x="0" y="0"/>
            <a:chExt cx="2322048" cy="3302981"/>
          </a:xfrm>
        </p:grpSpPr>
        <p:sp>
          <p:nvSpPr>
            <p:cNvPr name="Freeform 3" id="3"/>
            <p:cNvSpPr/>
            <p:nvPr/>
          </p:nvSpPr>
          <p:spPr>
            <a:xfrm flipH="false" flipV="false" rot="0">
              <a:off x="0" y="0"/>
              <a:ext cx="2322048" cy="3302981"/>
            </a:xfrm>
            <a:custGeom>
              <a:avLst/>
              <a:gdLst/>
              <a:ahLst/>
              <a:cxnLst/>
              <a:rect r="r" b="b" t="t" l="l"/>
              <a:pathLst>
                <a:path h="3302981" w="2322048">
                  <a:moveTo>
                    <a:pt x="35125" y="0"/>
                  </a:moveTo>
                  <a:lnTo>
                    <a:pt x="2286923" y="0"/>
                  </a:lnTo>
                  <a:cubicBezTo>
                    <a:pt x="2306322" y="0"/>
                    <a:pt x="2322048" y="15726"/>
                    <a:pt x="2322048" y="35125"/>
                  </a:cubicBezTo>
                  <a:lnTo>
                    <a:pt x="2322048" y="3267856"/>
                  </a:lnTo>
                  <a:cubicBezTo>
                    <a:pt x="2322048" y="3287255"/>
                    <a:pt x="2306322" y="3302981"/>
                    <a:pt x="2286923" y="3302981"/>
                  </a:cubicBezTo>
                  <a:lnTo>
                    <a:pt x="35125" y="3302981"/>
                  </a:lnTo>
                  <a:cubicBezTo>
                    <a:pt x="15726" y="3302981"/>
                    <a:pt x="0" y="3287255"/>
                    <a:pt x="0" y="3267856"/>
                  </a:cubicBezTo>
                  <a:lnTo>
                    <a:pt x="0" y="35125"/>
                  </a:lnTo>
                  <a:cubicBezTo>
                    <a:pt x="0" y="15726"/>
                    <a:pt x="15726" y="0"/>
                    <a:pt x="35125" y="0"/>
                  </a:cubicBezTo>
                  <a:close/>
                </a:path>
              </a:pathLst>
            </a:custGeom>
            <a:solidFill>
              <a:srgbClr val="042560"/>
            </a:solidFill>
          </p:spPr>
        </p:sp>
        <p:sp>
          <p:nvSpPr>
            <p:cNvPr name="TextBox 4" id="4"/>
            <p:cNvSpPr txBox="true"/>
            <p:nvPr/>
          </p:nvSpPr>
          <p:spPr>
            <a:xfrm>
              <a:off x="0" y="-38100"/>
              <a:ext cx="2322048" cy="334108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13177" y="-2406488"/>
            <a:ext cx="4232540" cy="4468133"/>
          </a:xfrm>
          <a:custGeom>
            <a:avLst/>
            <a:gdLst/>
            <a:ahLst/>
            <a:cxnLst/>
            <a:rect r="r" b="b" t="t" l="l"/>
            <a:pathLst>
              <a:path h="4468133" w="4232540">
                <a:moveTo>
                  <a:pt x="0" y="0"/>
                </a:moveTo>
                <a:lnTo>
                  <a:pt x="4232540" y="0"/>
                </a:lnTo>
                <a:lnTo>
                  <a:pt x="4232540" y="4468133"/>
                </a:lnTo>
                <a:lnTo>
                  <a:pt x="0" y="4468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09158" y="6490202"/>
            <a:ext cx="6491879" cy="2549432"/>
            <a:chOff x="0" y="0"/>
            <a:chExt cx="1709795" cy="671455"/>
          </a:xfrm>
        </p:grpSpPr>
        <p:sp>
          <p:nvSpPr>
            <p:cNvPr name="Freeform 7" id="7"/>
            <p:cNvSpPr/>
            <p:nvPr/>
          </p:nvSpPr>
          <p:spPr>
            <a:xfrm flipH="false" flipV="false" rot="0">
              <a:off x="0" y="0"/>
              <a:ext cx="1709795" cy="671455"/>
            </a:xfrm>
            <a:custGeom>
              <a:avLst/>
              <a:gdLst/>
              <a:ahLst/>
              <a:cxnLst/>
              <a:rect r="r" b="b" t="t" l="l"/>
              <a:pathLst>
                <a:path h="671455" w="1709795">
                  <a:moveTo>
                    <a:pt x="60820" y="0"/>
                  </a:moveTo>
                  <a:lnTo>
                    <a:pt x="1648975" y="0"/>
                  </a:lnTo>
                  <a:cubicBezTo>
                    <a:pt x="1682565" y="0"/>
                    <a:pt x="1709795" y="27230"/>
                    <a:pt x="1709795" y="60820"/>
                  </a:cubicBezTo>
                  <a:lnTo>
                    <a:pt x="1709795" y="610635"/>
                  </a:lnTo>
                  <a:cubicBezTo>
                    <a:pt x="1709795" y="644225"/>
                    <a:pt x="1682565" y="671455"/>
                    <a:pt x="1648975" y="671455"/>
                  </a:cubicBezTo>
                  <a:lnTo>
                    <a:pt x="60820" y="671455"/>
                  </a:lnTo>
                  <a:cubicBezTo>
                    <a:pt x="27230" y="671455"/>
                    <a:pt x="0" y="644225"/>
                    <a:pt x="0" y="610635"/>
                  </a:cubicBezTo>
                  <a:lnTo>
                    <a:pt x="0" y="60820"/>
                  </a:lnTo>
                  <a:cubicBezTo>
                    <a:pt x="0" y="27230"/>
                    <a:pt x="27230" y="0"/>
                    <a:pt x="60820" y="0"/>
                  </a:cubicBezTo>
                  <a:close/>
                </a:path>
              </a:pathLst>
            </a:custGeom>
            <a:solidFill>
              <a:srgbClr val="A3DFFF"/>
            </a:solidFill>
          </p:spPr>
        </p:sp>
        <p:sp>
          <p:nvSpPr>
            <p:cNvPr name="TextBox 8" id="8"/>
            <p:cNvSpPr txBox="true"/>
            <p:nvPr/>
          </p:nvSpPr>
          <p:spPr>
            <a:xfrm>
              <a:off x="0" y="-38100"/>
              <a:ext cx="1709795" cy="709555"/>
            </a:xfrm>
            <a:prstGeom prst="rect">
              <a:avLst/>
            </a:prstGeom>
          </p:spPr>
          <p:txBody>
            <a:bodyPr anchor="ctr" rtlCol="false" tIns="50800" lIns="50800" bIns="50800" rIns="50800"/>
            <a:lstStyle/>
            <a:p>
              <a:pPr algn="ctr">
                <a:lnSpc>
                  <a:spcPts val="2660"/>
                </a:lnSpc>
              </a:pPr>
            </a:p>
          </p:txBody>
        </p:sp>
      </p:grpSp>
      <p:sp>
        <p:nvSpPr>
          <p:cNvPr name="TextBox 9" id="9"/>
          <p:cNvSpPr txBox="true"/>
          <p:nvPr/>
        </p:nvSpPr>
        <p:spPr>
          <a:xfrm rot="0">
            <a:off x="809158" y="4101251"/>
            <a:ext cx="6675755" cy="2004376"/>
          </a:xfrm>
          <a:prstGeom prst="rect">
            <a:avLst/>
          </a:prstGeom>
        </p:spPr>
        <p:txBody>
          <a:bodyPr anchor="t" rtlCol="false" tIns="0" lIns="0" bIns="0" rIns="0">
            <a:spAutoFit/>
          </a:bodyPr>
          <a:lstStyle/>
          <a:p>
            <a:pPr algn="l">
              <a:lnSpc>
                <a:spcPts val="5077"/>
              </a:lnSpc>
            </a:pPr>
            <a:r>
              <a:rPr lang="en-US" b="true" sz="5288">
                <a:solidFill>
                  <a:srgbClr val="FFFFFF"/>
                </a:solidFill>
                <a:latin typeface="Poppins Bold"/>
                <a:ea typeface="Poppins Bold"/>
                <a:cs typeface="Poppins Bold"/>
                <a:sym typeface="Poppins Bold"/>
              </a:rPr>
              <a:t>Solve the system of linear equations by graphing:</a:t>
            </a:r>
          </a:p>
        </p:txBody>
      </p:sp>
      <p:sp>
        <p:nvSpPr>
          <p:cNvPr name="TextBox 10" id="10"/>
          <p:cNvSpPr txBox="true"/>
          <p:nvPr/>
        </p:nvSpPr>
        <p:spPr>
          <a:xfrm rot="0">
            <a:off x="809158" y="2895913"/>
            <a:ext cx="5989013" cy="1077785"/>
          </a:xfrm>
          <a:prstGeom prst="rect">
            <a:avLst/>
          </a:prstGeom>
        </p:spPr>
        <p:txBody>
          <a:bodyPr anchor="t" rtlCol="false" tIns="0" lIns="0" bIns="0" rIns="0">
            <a:spAutoFit/>
          </a:bodyPr>
          <a:lstStyle/>
          <a:p>
            <a:pPr algn="l">
              <a:lnSpc>
                <a:spcPts val="7905"/>
              </a:lnSpc>
            </a:pPr>
            <a:r>
              <a:rPr lang="en-US" sz="8409">
                <a:solidFill>
                  <a:srgbClr val="FFFFFF"/>
                </a:solidFill>
                <a:latin typeface="Lovelo"/>
                <a:ea typeface="Lovelo"/>
                <a:cs typeface="Lovelo"/>
                <a:sym typeface="Lovelo"/>
              </a:rPr>
              <a:t>EXAMPLE 1</a:t>
            </a:r>
          </a:p>
        </p:txBody>
      </p:sp>
      <p:sp>
        <p:nvSpPr>
          <p:cNvPr name="TextBox 11" id="11"/>
          <p:cNvSpPr txBox="true"/>
          <p:nvPr/>
        </p:nvSpPr>
        <p:spPr>
          <a:xfrm rot="0">
            <a:off x="2062549" y="6771385"/>
            <a:ext cx="4735623"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2x + 1</a:t>
            </a:r>
          </a:p>
        </p:txBody>
      </p:sp>
      <p:sp>
        <p:nvSpPr>
          <p:cNvPr name="TextBox 12" id="12"/>
          <p:cNvSpPr txBox="true"/>
          <p:nvPr/>
        </p:nvSpPr>
        <p:spPr>
          <a:xfrm rot="0">
            <a:off x="1312024" y="7174929"/>
            <a:ext cx="574393" cy="1560641"/>
          </a:xfrm>
          <a:prstGeom prst="rect">
            <a:avLst/>
          </a:prstGeom>
        </p:spPr>
        <p:txBody>
          <a:bodyPr anchor="t" rtlCol="false" tIns="0" lIns="0" bIns="0" rIns="0">
            <a:spAutoFit/>
          </a:bodyPr>
          <a:lstStyle/>
          <a:p>
            <a:pPr algn="l">
              <a:lnSpc>
                <a:spcPts val="10811"/>
              </a:lnSpc>
            </a:pPr>
            <a:r>
              <a:rPr lang="en-US" sz="11261">
                <a:solidFill>
                  <a:srgbClr val="042560"/>
                </a:solidFill>
                <a:latin typeface="Poppins"/>
                <a:ea typeface="Poppins"/>
                <a:cs typeface="Poppins"/>
                <a:sym typeface="Poppins"/>
              </a:rPr>
              <a:t>{</a:t>
            </a:r>
          </a:p>
        </p:txBody>
      </p:sp>
      <p:sp>
        <p:nvSpPr>
          <p:cNvPr name="TextBox 13" id="13"/>
          <p:cNvSpPr txBox="true"/>
          <p:nvPr/>
        </p:nvSpPr>
        <p:spPr>
          <a:xfrm rot="0">
            <a:off x="8412348" y="428299"/>
            <a:ext cx="6030441" cy="723183"/>
          </a:xfrm>
          <a:prstGeom prst="rect">
            <a:avLst/>
          </a:prstGeom>
        </p:spPr>
        <p:txBody>
          <a:bodyPr anchor="t" rtlCol="false" tIns="0" lIns="0" bIns="0" rIns="0">
            <a:spAutoFit/>
          </a:bodyPr>
          <a:lstStyle/>
          <a:p>
            <a:pPr algn="l">
              <a:lnSpc>
                <a:spcPts val="5077"/>
              </a:lnSpc>
            </a:pPr>
            <a:r>
              <a:rPr lang="en-US" b="true" sz="5288">
                <a:solidFill>
                  <a:srgbClr val="042560"/>
                </a:solidFill>
                <a:latin typeface="Poppins Bold"/>
                <a:ea typeface="Poppins Bold"/>
                <a:cs typeface="Poppins Bold"/>
                <a:sym typeface="Poppins Bold"/>
              </a:rPr>
              <a:t>Graph y = -x - 2</a:t>
            </a:r>
          </a:p>
        </p:txBody>
      </p:sp>
      <p:grpSp>
        <p:nvGrpSpPr>
          <p:cNvPr name="Group 14" id="14"/>
          <p:cNvGrpSpPr/>
          <p:nvPr/>
        </p:nvGrpSpPr>
        <p:grpSpPr>
          <a:xfrm rot="0">
            <a:off x="8400921" y="1170532"/>
            <a:ext cx="5238211" cy="1354452"/>
            <a:chOff x="0" y="0"/>
            <a:chExt cx="6984281" cy="1805936"/>
          </a:xfrm>
        </p:grpSpPr>
        <p:grpSp>
          <p:nvGrpSpPr>
            <p:cNvPr name="Group 15" id="15"/>
            <p:cNvGrpSpPr/>
            <p:nvPr/>
          </p:nvGrpSpPr>
          <p:grpSpPr>
            <a:xfrm rot="0">
              <a:off x="383420" y="0"/>
              <a:ext cx="6600862" cy="1805936"/>
              <a:chOff x="0" y="0"/>
              <a:chExt cx="1419148" cy="388266"/>
            </a:xfrm>
          </p:grpSpPr>
          <p:sp>
            <p:nvSpPr>
              <p:cNvPr name="Freeform 16" id="16"/>
              <p:cNvSpPr/>
              <p:nvPr/>
            </p:nvSpPr>
            <p:spPr>
              <a:xfrm flipH="false" flipV="false" rot="0">
                <a:off x="0" y="0"/>
                <a:ext cx="1419148" cy="388266"/>
              </a:xfrm>
              <a:custGeom>
                <a:avLst/>
                <a:gdLst/>
                <a:ahLst/>
                <a:cxnLst/>
                <a:rect r="r" b="b" t="t" l="l"/>
                <a:pathLst>
                  <a:path h="388266" w="1419148">
                    <a:moveTo>
                      <a:pt x="60989" y="0"/>
                    </a:moveTo>
                    <a:lnTo>
                      <a:pt x="1358159" y="0"/>
                    </a:lnTo>
                    <a:cubicBezTo>
                      <a:pt x="1391843" y="0"/>
                      <a:pt x="1419148" y="27306"/>
                      <a:pt x="1419148" y="60989"/>
                    </a:cubicBezTo>
                    <a:lnTo>
                      <a:pt x="1419148" y="327277"/>
                    </a:lnTo>
                    <a:cubicBezTo>
                      <a:pt x="1419148" y="360960"/>
                      <a:pt x="1391843" y="388266"/>
                      <a:pt x="1358159" y="388266"/>
                    </a:cubicBezTo>
                    <a:lnTo>
                      <a:pt x="60989" y="388266"/>
                    </a:lnTo>
                    <a:cubicBezTo>
                      <a:pt x="27306" y="388266"/>
                      <a:pt x="0" y="360960"/>
                      <a:pt x="0" y="327277"/>
                    </a:cubicBezTo>
                    <a:lnTo>
                      <a:pt x="0" y="60989"/>
                    </a:lnTo>
                    <a:cubicBezTo>
                      <a:pt x="0" y="27306"/>
                      <a:pt x="27306" y="0"/>
                      <a:pt x="60989" y="0"/>
                    </a:cubicBezTo>
                    <a:close/>
                  </a:path>
                </a:pathLst>
              </a:custGeom>
              <a:solidFill>
                <a:srgbClr val="F8F3E6"/>
              </a:solidFill>
              <a:ln cap="rnd">
                <a:noFill/>
                <a:prstDash val="solid"/>
                <a:round/>
              </a:ln>
            </p:spPr>
          </p:sp>
          <p:sp>
            <p:nvSpPr>
              <p:cNvPr name="TextBox 17" id="17"/>
              <p:cNvSpPr txBox="true"/>
              <p:nvPr/>
            </p:nvSpPr>
            <p:spPr>
              <a:xfrm>
                <a:off x="0" y="-28575"/>
                <a:ext cx="1419148" cy="416841"/>
              </a:xfrm>
              <a:prstGeom prst="rect">
                <a:avLst/>
              </a:prstGeom>
            </p:spPr>
            <p:txBody>
              <a:bodyPr anchor="ctr" rtlCol="false" tIns="37299" lIns="37299" bIns="37299" rIns="37299"/>
              <a:lstStyle/>
              <a:p>
                <a:pPr algn="ctr" marL="0" indent="0" lvl="0">
                  <a:lnSpc>
                    <a:spcPts val="2230"/>
                  </a:lnSpc>
                  <a:spcBef>
                    <a:spcPct val="0"/>
                  </a:spcBef>
                </a:pPr>
              </a:p>
            </p:txBody>
          </p:sp>
        </p:grpSp>
        <p:grpSp>
          <p:nvGrpSpPr>
            <p:cNvPr name="Group 18" id="18"/>
            <p:cNvGrpSpPr/>
            <p:nvPr/>
          </p:nvGrpSpPr>
          <p:grpSpPr>
            <a:xfrm rot="0">
              <a:off x="0" y="271166"/>
              <a:ext cx="1263605" cy="1263605"/>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20" id="20"/>
              <p:cNvSpPr txBox="true"/>
              <p:nvPr/>
            </p:nvSpPr>
            <p:spPr>
              <a:xfrm>
                <a:off x="76200" y="38100"/>
                <a:ext cx="660400" cy="698500"/>
              </a:xfrm>
              <a:prstGeom prst="rect">
                <a:avLst/>
              </a:prstGeom>
            </p:spPr>
            <p:txBody>
              <a:bodyPr anchor="ctr" rtlCol="false" tIns="29954" lIns="29954" bIns="29954" rIns="29954"/>
              <a:lstStyle/>
              <a:p>
                <a:pPr algn="ctr">
                  <a:lnSpc>
                    <a:spcPts val="2659"/>
                  </a:lnSpc>
                  <a:spcBef>
                    <a:spcPct val="0"/>
                  </a:spcBef>
                </a:pPr>
              </a:p>
            </p:txBody>
          </p:sp>
        </p:grpSp>
        <p:sp>
          <p:nvSpPr>
            <p:cNvPr name="TextBox 21" id="21"/>
            <p:cNvSpPr txBox="true"/>
            <p:nvPr/>
          </p:nvSpPr>
          <p:spPr>
            <a:xfrm rot="0">
              <a:off x="214810" y="340065"/>
              <a:ext cx="833985" cy="1001981"/>
            </a:xfrm>
            <a:prstGeom prst="rect">
              <a:avLst/>
            </a:prstGeom>
          </p:spPr>
          <p:txBody>
            <a:bodyPr anchor="t" rtlCol="false" tIns="0" lIns="0" bIns="0" rIns="0">
              <a:spAutoFit/>
            </a:bodyPr>
            <a:lstStyle/>
            <a:p>
              <a:pPr algn="ctr">
                <a:lnSpc>
                  <a:spcPts val="6099"/>
                </a:lnSpc>
              </a:pPr>
              <a:r>
                <a:rPr lang="en-US" b="true" sz="4356">
                  <a:solidFill>
                    <a:srgbClr val="042560"/>
                  </a:solidFill>
                  <a:latin typeface="Poppins Bold"/>
                  <a:ea typeface="Poppins Bold"/>
                  <a:cs typeface="Poppins Bold"/>
                  <a:sym typeface="Poppins Bold"/>
                </a:rPr>
                <a:t>m</a:t>
              </a:r>
            </a:p>
          </p:txBody>
        </p:sp>
      </p:grpSp>
      <p:sp>
        <p:nvSpPr>
          <p:cNvPr name="TextBox 22" id="22"/>
          <p:cNvSpPr txBox="true"/>
          <p:nvPr/>
        </p:nvSpPr>
        <p:spPr>
          <a:xfrm rot="0">
            <a:off x="11339603" y="1389070"/>
            <a:ext cx="2014022" cy="524467"/>
          </a:xfrm>
          <a:prstGeom prst="rect">
            <a:avLst/>
          </a:prstGeom>
        </p:spPr>
        <p:txBody>
          <a:bodyPr anchor="t" rtlCol="false" tIns="0" lIns="0" bIns="0" rIns="0">
            <a:spAutoFit/>
          </a:bodyPr>
          <a:lstStyle/>
          <a:p>
            <a:pPr algn="l" marL="0" indent="0" lvl="0">
              <a:lnSpc>
                <a:spcPts val="3695"/>
              </a:lnSpc>
              <a:spcBef>
                <a:spcPct val="0"/>
              </a:spcBef>
            </a:pPr>
            <a:r>
              <a:rPr lang="en-US" b="true" sz="3771">
                <a:solidFill>
                  <a:srgbClr val="042560"/>
                </a:solidFill>
                <a:latin typeface="Poppins Bold"/>
                <a:ea typeface="Poppins Bold"/>
                <a:cs typeface="Poppins Bold"/>
                <a:sym typeface="Poppins Bold"/>
              </a:rPr>
              <a:t>rise = -1</a:t>
            </a:r>
          </a:p>
        </p:txBody>
      </p:sp>
      <p:grpSp>
        <p:nvGrpSpPr>
          <p:cNvPr name="Group 23" id="23"/>
          <p:cNvGrpSpPr/>
          <p:nvPr/>
        </p:nvGrpSpPr>
        <p:grpSpPr>
          <a:xfrm rot="0">
            <a:off x="9488727" y="1560792"/>
            <a:ext cx="1618375" cy="573931"/>
            <a:chOff x="0" y="0"/>
            <a:chExt cx="2157834" cy="765241"/>
          </a:xfrm>
        </p:grpSpPr>
        <p:sp>
          <p:nvSpPr>
            <p:cNvPr name="TextBox 24" id="24"/>
            <p:cNvSpPr txBox="true"/>
            <p:nvPr/>
          </p:nvSpPr>
          <p:spPr>
            <a:xfrm rot="0">
              <a:off x="0" y="51134"/>
              <a:ext cx="1278507" cy="710599"/>
            </a:xfrm>
            <a:prstGeom prst="rect">
              <a:avLst/>
            </a:prstGeom>
          </p:spPr>
          <p:txBody>
            <a:bodyPr anchor="t" rtlCol="false" tIns="0" lIns="0" bIns="0" rIns="0">
              <a:spAutoFit/>
            </a:bodyPr>
            <a:lstStyle/>
            <a:p>
              <a:pPr algn="ctr">
                <a:lnSpc>
                  <a:spcPts val="3695"/>
                </a:lnSpc>
              </a:pPr>
              <a:r>
                <a:rPr lang="en-US" b="true" sz="3771">
                  <a:solidFill>
                    <a:srgbClr val="042560"/>
                  </a:solidFill>
                  <a:latin typeface="Poppins Bold"/>
                  <a:ea typeface="Poppins Bold"/>
                  <a:cs typeface="Poppins Bold"/>
                  <a:sym typeface="Poppins Bold"/>
                </a:rPr>
                <a:t>m =</a:t>
              </a:r>
            </a:p>
          </p:txBody>
        </p:sp>
        <p:sp>
          <p:nvSpPr>
            <p:cNvPr name="TextBox 25" id="25"/>
            <p:cNvSpPr txBox="true"/>
            <p:nvPr/>
          </p:nvSpPr>
          <p:spPr>
            <a:xfrm rot="0">
              <a:off x="1316607" y="47625"/>
              <a:ext cx="841226" cy="717616"/>
            </a:xfrm>
            <a:prstGeom prst="rect">
              <a:avLst/>
            </a:prstGeom>
          </p:spPr>
          <p:txBody>
            <a:bodyPr anchor="t" rtlCol="false" tIns="0" lIns="0" bIns="0" rIns="0">
              <a:spAutoFit/>
            </a:bodyPr>
            <a:lstStyle/>
            <a:p>
              <a:pPr algn="ctr" marL="0" indent="0" lvl="0">
                <a:lnSpc>
                  <a:spcPts val="3695"/>
                </a:lnSpc>
                <a:spcBef>
                  <a:spcPct val="0"/>
                </a:spcBef>
              </a:pPr>
              <a:r>
                <a:rPr lang="en-US" b="true" sz="3771">
                  <a:solidFill>
                    <a:srgbClr val="042560"/>
                  </a:solidFill>
                  <a:latin typeface="Poppins Bold"/>
                  <a:ea typeface="Poppins Bold"/>
                  <a:cs typeface="Poppins Bold"/>
                  <a:sym typeface="Poppins Bold"/>
                </a:rPr>
                <a:t>-1</a:t>
              </a:r>
            </a:p>
          </p:txBody>
        </p:sp>
      </p:grpSp>
      <p:sp>
        <p:nvSpPr>
          <p:cNvPr name="TextBox 26" id="26"/>
          <p:cNvSpPr txBox="true"/>
          <p:nvPr/>
        </p:nvSpPr>
        <p:spPr>
          <a:xfrm rot="0">
            <a:off x="11339603" y="1829603"/>
            <a:ext cx="1928714" cy="524467"/>
          </a:xfrm>
          <a:prstGeom prst="rect">
            <a:avLst/>
          </a:prstGeom>
        </p:spPr>
        <p:txBody>
          <a:bodyPr anchor="t" rtlCol="false" tIns="0" lIns="0" bIns="0" rIns="0">
            <a:spAutoFit/>
          </a:bodyPr>
          <a:lstStyle/>
          <a:p>
            <a:pPr algn="l" marL="0" indent="0" lvl="0">
              <a:lnSpc>
                <a:spcPts val="3695"/>
              </a:lnSpc>
              <a:spcBef>
                <a:spcPct val="0"/>
              </a:spcBef>
            </a:pPr>
            <a:r>
              <a:rPr lang="en-US" b="true" sz="3771">
                <a:solidFill>
                  <a:srgbClr val="042560"/>
                </a:solidFill>
                <a:latin typeface="Poppins Bold"/>
                <a:ea typeface="Poppins Bold"/>
                <a:cs typeface="Poppins Bold"/>
                <a:sym typeface="Poppins Bold"/>
              </a:rPr>
              <a:t>run = 1</a:t>
            </a:r>
          </a:p>
        </p:txBody>
      </p:sp>
      <p:grpSp>
        <p:nvGrpSpPr>
          <p:cNvPr name="Group 27" id="27"/>
          <p:cNvGrpSpPr/>
          <p:nvPr/>
        </p:nvGrpSpPr>
        <p:grpSpPr>
          <a:xfrm rot="0">
            <a:off x="13902234" y="1170532"/>
            <a:ext cx="4056848" cy="1354452"/>
            <a:chOff x="0" y="0"/>
            <a:chExt cx="5409131" cy="1805936"/>
          </a:xfrm>
        </p:grpSpPr>
        <p:grpSp>
          <p:nvGrpSpPr>
            <p:cNvPr name="Group 28" id="28"/>
            <p:cNvGrpSpPr/>
            <p:nvPr/>
          </p:nvGrpSpPr>
          <p:grpSpPr>
            <a:xfrm rot="0">
              <a:off x="383420" y="0"/>
              <a:ext cx="5025711" cy="1805936"/>
              <a:chOff x="0" y="0"/>
              <a:chExt cx="1080500" cy="388266"/>
            </a:xfrm>
          </p:grpSpPr>
          <p:sp>
            <p:nvSpPr>
              <p:cNvPr name="Freeform 29" id="29"/>
              <p:cNvSpPr/>
              <p:nvPr/>
            </p:nvSpPr>
            <p:spPr>
              <a:xfrm flipH="false" flipV="false" rot="0">
                <a:off x="0" y="0"/>
                <a:ext cx="1080500" cy="388266"/>
              </a:xfrm>
              <a:custGeom>
                <a:avLst/>
                <a:gdLst/>
                <a:ahLst/>
                <a:cxnLst/>
                <a:rect r="r" b="b" t="t" l="l"/>
                <a:pathLst>
                  <a:path h="388266" w="1080500">
                    <a:moveTo>
                      <a:pt x="80104" y="0"/>
                    </a:moveTo>
                    <a:lnTo>
                      <a:pt x="1000396" y="0"/>
                    </a:lnTo>
                    <a:cubicBezTo>
                      <a:pt x="1044636" y="0"/>
                      <a:pt x="1080500" y="35864"/>
                      <a:pt x="1080500" y="80104"/>
                    </a:cubicBezTo>
                    <a:lnTo>
                      <a:pt x="1080500" y="308162"/>
                    </a:lnTo>
                    <a:cubicBezTo>
                      <a:pt x="1080500" y="352402"/>
                      <a:pt x="1044636" y="388266"/>
                      <a:pt x="1000396" y="388266"/>
                    </a:cubicBezTo>
                    <a:lnTo>
                      <a:pt x="80104" y="388266"/>
                    </a:lnTo>
                    <a:cubicBezTo>
                      <a:pt x="35864" y="388266"/>
                      <a:pt x="0" y="352402"/>
                      <a:pt x="0" y="308162"/>
                    </a:cubicBezTo>
                    <a:lnTo>
                      <a:pt x="0" y="80104"/>
                    </a:lnTo>
                    <a:cubicBezTo>
                      <a:pt x="0" y="35864"/>
                      <a:pt x="35864" y="0"/>
                      <a:pt x="80104" y="0"/>
                    </a:cubicBezTo>
                    <a:close/>
                  </a:path>
                </a:pathLst>
              </a:custGeom>
              <a:solidFill>
                <a:srgbClr val="F8F3E6"/>
              </a:solidFill>
              <a:ln cap="rnd">
                <a:noFill/>
                <a:prstDash val="solid"/>
                <a:round/>
              </a:ln>
            </p:spPr>
          </p:sp>
          <p:sp>
            <p:nvSpPr>
              <p:cNvPr name="TextBox 30" id="30"/>
              <p:cNvSpPr txBox="true"/>
              <p:nvPr/>
            </p:nvSpPr>
            <p:spPr>
              <a:xfrm>
                <a:off x="0" y="-28575"/>
                <a:ext cx="1080500" cy="416841"/>
              </a:xfrm>
              <a:prstGeom prst="rect">
                <a:avLst/>
              </a:prstGeom>
            </p:spPr>
            <p:txBody>
              <a:bodyPr anchor="ctr" rtlCol="false" tIns="37299" lIns="37299" bIns="37299" rIns="37299"/>
              <a:lstStyle/>
              <a:p>
                <a:pPr algn="ctr" marL="0" indent="0" lvl="0">
                  <a:lnSpc>
                    <a:spcPts val="2230"/>
                  </a:lnSpc>
                  <a:spcBef>
                    <a:spcPct val="0"/>
                  </a:spcBef>
                </a:pPr>
              </a:p>
            </p:txBody>
          </p:sp>
        </p:grpSp>
        <p:grpSp>
          <p:nvGrpSpPr>
            <p:cNvPr name="Group 31" id="31"/>
            <p:cNvGrpSpPr/>
            <p:nvPr/>
          </p:nvGrpSpPr>
          <p:grpSpPr>
            <a:xfrm rot="0">
              <a:off x="0" y="271166"/>
              <a:ext cx="1263605" cy="126360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FBC20"/>
              </a:solidFill>
            </p:spPr>
          </p:sp>
          <p:sp>
            <p:nvSpPr>
              <p:cNvPr name="TextBox 33" id="33"/>
              <p:cNvSpPr txBox="true"/>
              <p:nvPr/>
            </p:nvSpPr>
            <p:spPr>
              <a:xfrm>
                <a:off x="76200" y="38100"/>
                <a:ext cx="660400" cy="698500"/>
              </a:xfrm>
              <a:prstGeom prst="rect">
                <a:avLst/>
              </a:prstGeom>
            </p:spPr>
            <p:txBody>
              <a:bodyPr anchor="ctr" rtlCol="false" tIns="29954" lIns="29954" bIns="29954" rIns="29954"/>
              <a:lstStyle/>
              <a:p>
                <a:pPr algn="ctr">
                  <a:lnSpc>
                    <a:spcPts val="2659"/>
                  </a:lnSpc>
                  <a:spcBef>
                    <a:spcPct val="0"/>
                  </a:spcBef>
                </a:pPr>
              </a:p>
            </p:txBody>
          </p:sp>
        </p:grpSp>
        <p:sp>
          <p:nvSpPr>
            <p:cNvPr name="TextBox 34" id="34"/>
            <p:cNvSpPr txBox="true"/>
            <p:nvPr/>
          </p:nvSpPr>
          <p:spPr>
            <a:xfrm rot="0">
              <a:off x="214810" y="340065"/>
              <a:ext cx="833985" cy="1001981"/>
            </a:xfrm>
            <a:prstGeom prst="rect">
              <a:avLst/>
            </a:prstGeom>
          </p:spPr>
          <p:txBody>
            <a:bodyPr anchor="t" rtlCol="false" tIns="0" lIns="0" bIns="0" rIns="0">
              <a:spAutoFit/>
            </a:bodyPr>
            <a:lstStyle/>
            <a:p>
              <a:pPr algn="ctr">
                <a:lnSpc>
                  <a:spcPts val="6099"/>
                </a:lnSpc>
              </a:pPr>
              <a:r>
                <a:rPr lang="en-US" sz="4356" b="true">
                  <a:solidFill>
                    <a:srgbClr val="042560"/>
                  </a:solidFill>
                  <a:latin typeface="Poppins Bold"/>
                  <a:ea typeface="Poppins Bold"/>
                  <a:cs typeface="Poppins Bold"/>
                  <a:sym typeface="Poppins Bold"/>
                </a:rPr>
                <a:t>b</a:t>
              </a:r>
            </a:p>
          </p:txBody>
        </p:sp>
      </p:grpSp>
      <p:sp>
        <p:nvSpPr>
          <p:cNvPr name="TextBox 35" id="35"/>
          <p:cNvSpPr txBox="true"/>
          <p:nvPr/>
        </p:nvSpPr>
        <p:spPr>
          <a:xfrm rot="0">
            <a:off x="14943099" y="1340815"/>
            <a:ext cx="798285" cy="871011"/>
          </a:xfrm>
          <a:prstGeom prst="rect">
            <a:avLst/>
          </a:prstGeom>
        </p:spPr>
        <p:txBody>
          <a:bodyPr anchor="t" rtlCol="false" tIns="0" lIns="0" bIns="0" rIns="0">
            <a:spAutoFit/>
          </a:bodyPr>
          <a:lstStyle/>
          <a:p>
            <a:pPr algn="ctr">
              <a:lnSpc>
                <a:spcPts val="6743"/>
              </a:lnSpc>
            </a:pPr>
            <a:r>
              <a:rPr lang="en-US" sz="4816" b="true">
                <a:solidFill>
                  <a:srgbClr val="042560"/>
                </a:solidFill>
                <a:latin typeface="Poppins Bold"/>
                <a:ea typeface="Poppins Bold"/>
                <a:cs typeface="Poppins Bold"/>
                <a:sym typeface="Poppins Bold"/>
              </a:rPr>
              <a:t>-2</a:t>
            </a:r>
          </a:p>
        </p:txBody>
      </p:sp>
      <p:sp>
        <p:nvSpPr>
          <p:cNvPr name="TextBox 36" id="36"/>
          <p:cNvSpPr txBox="true"/>
          <p:nvPr/>
        </p:nvSpPr>
        <p:spPr>
          <a:xfrm rot="0">
            <a:off x="15930658" y="1340815"/>
            <a:ext cx="1884642" cy="871011"/>
          </a:xfrm>
          <a:prstGeom prst="rect">
            <a:avLst/>
          </a:prstGeom>
        </p:spPr>
        <p:txBody>
          <a:bodyPr anchor="t" rtlCol="false" tIns="0" lIns="0" bIns="0" rIns="0">
            <a:spAutoFit/>
          </a:bodyPr>
          <a:lstStyle/>
          <a:p>
            <a:pPr algn="ctr">
              <a:lnSpc>
                <a:spcPts val="6743"/>
              </a:lnSpc>
            </a:pPr>
            <a:r>
              <a:rPr lang="en-US" sz="4816" b="true">
                <a:solidFill>
                  <a:srgbClr val="042560"/>
                </a:solidFill>
                <a:latin typeface="Poppins Bold"/>
                <a:ea typeface="Poppins Bold"/>
                <a:cs typeface="Poppins Bold"/>
                <a:sym typeface="Poppins Bold"/>
              </a:rPr>
              <a:t>(0,-2)</a:t>
            </a:r>
          </a:p>
        </p:txBody>
      </p:sp>
      <p:grpSp>
        <p:nvGrpSpPr>
          <p:cNvPr name="Group 37" id="37"/>
          <p:cNvGrpSpPr/>
          <p:nvPr/>
        </p:nvGrpSpPr>
        <p:grpSpPr>
          <a:xfrm rot="0">
            <a:off x="8412348" y="2674435"/>
            <a:ext cx="9765600" cy="7321944"/>
            <a:chOff x="0" y="0"/>
            <a:chExt cx="13020800" cy="9762592"/>
          </a:xfrm>
        </p:grpSpPr>
        <p:grpSp>
          <p:nvGrpSpPr>
            <p:cNvPr name="Group 38" id="38"/>
            <p:cNvGrpSpPr/>
            <p:nvPr/>
          </p:nvGrpSpPr>
          <p:grpSpPr>
            <a:xfrm rot="0">
              <a:off x="772187" y="573427"/>
              <a:ext cx="11476426" cy="8615738"/>
              <a:chOff x="0" y="0"/>
              <a:chExt cx="1845144" cy="1385212"/>
            </a:xfrm>
          </p:grpSpPr>
          <p:sp>
            <p:nvSpPr>
              <p:cNvPr name="Freeform 39" id="39"/>
              <p:cNvSpPr/>
              <p:nvPr/>
            </p:nvSpPr>
            <p:spPr>
              <a:xfrm flipH="false" flipV="false" rot="0">
                <a:off x="0" y="0"/>
                <a:ext cx="1845144" cy="1385212"/>
              </a:xfrm>
              <a:custGeom>
                <a:avLst/>
                <a:gdLst/>
                <a:ahLst/>
                <a:cxnLst/>
                <a:rect r="r" b="b" t="t" l="l"/>
                <a:pathLst>
                  <a:path h="1385212" w="1845144">
                    <a:moveTo>
                      <a:pt x="45872" y="0"/>
                    </a:moveTo>
                    <a:lnTo>
                      <a:pt x="1799272" y="0"/>
                    </a:lnTo>
                    <a:cubicBezTo>
                      <a:pt x="1811438" y="0"/>
                      <a:pt x="1823106" y="4833"/>
                      <a:pt x="1831709" y="13436"/>
                    </a:cubicBezTo>
                    <a:cubicBezTo>
                      <a:pt x="1840311" y="22038"/>
                      <a:pt x="1845144" y="33706"/>
                      <a:pt x="1845144" y="45872"/>
                    </a:cubicBezTo>
                    <a:lnTo>
                      <a:pt x="1845144" y="1339340"/>
                    </a:lnTo>
                    <a:cubicBezTo>
                      <a:pt x="1845144" y="1364674"/>
                      <a:pt x="1824607" y="1385212"/>
                      <a:pt x="1799272" y="1385212"/>
                    </a:cubicBezTo>
                    <a:lnTo>
                      <a:pt x="45872" y="1385212"/>
                    </a:lnTo>
                    <a:cubicBezTo>
                      <a:pt x="33706" y="1385212"/>
                      <a:pt x="22038" y="1380379"/>
                      <a:pt x="13436" y="1371776"/>
                    </a:cubicBezTo>
                    <a:cubicBezTo>
                      <a:pt x="4833" y="1363173"/>
                      <a:pt x="0" y="1351506"/>
                      <a:pt x="0" y="1339340"/>
                    </a:cubicBezTo>
                    <a:lnTo>
                      <a:pt x="0" y="45872"/>
                    </a:lnTo>
                    <a:cubicBezTo>
                      <a:pt x="0" y="20538"/>
                      <a:pt x="20538" y="0"/>
                      <a:pt x="45872" y="0"/>
                    </a:cubicBezTo>
                    <a:close/>
                  </a:path>
                </a:pathLst>
              </a:custGeom>
              <a:solidFill>
                <a:srgbClr val="000000">
                  <a:alpha val="0"/>
                </a:srgbClr>
              </a:solidFill>
              <a:ln w="19050" cap="rnd">
                <a:solidFill>
                  <a:srgbClr val="002C7C"/>
                </a:solidFill>
                <a:prstDash val="solid"/>
                <a:round/>
              </a:ln>
            </p:spPr>
          </p:sp>
          <p:sp>
            <p:nvSpPr>
              <p:cNvPr name="TextBox 40" id="40"/>
              <p:cNvSpPr txBox="true"/>
              <p:nvPr/>
            </p:nvSpPr>
            <p:spPr>
              <a:xfrm>
                <a:off x="0" y="-38100"/>
                <a:ext cx="1845144" cy="1423312"/>
              </a:xfrm>
              <a:prstGeom prst="rect">
                <a:avLst/>
              </a:prstGeom>
            </p:spPr>
            <p:txBody>
              <a:bodyPr anchor="ctr" rtlCol="false" tIns="54662" lIns="54662" bIns="54662" rIns="54662"/>
              <a:lstStyle/>
              <a:p>
                <a:pPr algn="ctr">
                  <a:lnSpc>
                    <a:spcPts val="2660"/>
                  </a:lnSpc>
                </a:pPr>
              </a:p>
            </p:txBody>
          </p:sp>
        </p:grpSp>
        <p:sp>
          <p:nvSpPr>
            <p:cNvPr name="AutoShape 41" id="41"/>
            <p:cNvSpPr/>
            <p:nvPr/>
          </p:nvSpPr>
          <p:spPr>
            <a:xfrm>
              <a:off x="784834" y="5619062"/>
              <a:ext cx="11451132" cy="0"/>
            </a:xfrm>
            <a:prstGeom prst="line">
              <a:avLst/>
            </a:prstGeom>
            <a:ln cap="flat" w="25400">
              <a:solidFill>
                <a:srgbClr val="002C7C"/>
              </a:solidFill>
              <a:prstDash val="solid"/>
              <a:headEnd type="none" len="sm" w="sm"/>
              <a:tailEnd type="none" len="sm" w="sm"/>
            </a:ln>
          </p:spPr>
        </p:sp>
        <p:sp>
          <p:nvSpPr>
            <p:cNvPr name="AutoShape 42" id="42"/>
            <p:cNvSpPr/>
            <p:nvPr/>
          </p:nvSpPr>
          <p:spPr>
            <a:xfrm>
              <a:off x="784834" y="6330444"/>
              <a:ext cx="11451132" cy="0"/>
            </a:xfrm>
            <a:prstGeom prst="line">
              <a:avLst/>
            </a:prstGeom>
            <a:ln cap="flat" w="25400">
              <a:solidFill>
                <a:srgbClr val="002C7C"/>
              </a:solidFill>
              <a:prstDash val="solid"/>
              <a:headEnd type="none" len="sm" w="sm"/>
              <a:tailEnd type="none" len="sm" w="sm"/>
            </a:ln>
          </p:spPr>
        </p:sp>
        <p:sp>
          <p:nvSpPr>
            <p:cNvPr name="AutoShape 43" id="43"/>
            <p:cNvSpPr/>
            <p:nvPr/>
          </p:nvSpPr>
          <p:spPr>
            <a:xfrm>
              <a:off x="784834" y="7041826"/>
              <a:ext cx="11451132" cy="0"/>
            </a:xfrm>
            <a:prstGeom prst="line">
              <a:avLst/>
            </a:prstGeom>
            <a:ln cap="flat" w="25400">
              <a:solidFill>
                <a:srgbClr val="002C7C"/>
              </a:solidFill>
              <a:prstDash val="solid"/>
              <a:headEnd type="none" len="sm" w="sm"/>
              <a:tailEnd type="none" len="sm" w="sm"/>
            </a:ln>
          </p:spPr>
        </p:sp>
        <p:sp>
          <p:nvSpPr>
            <p:cNvPr name="AutoShape 44" id="44"/>
            <p:cNvSpPr/>
            <p:nvPr/>
          </p:nvSpPr>
          <p:spPr>
            <a:xfrm>
              <a:off x="784834" y="1996191"/>
              <a:ext cx="11451132" cy="0"/>
            </a:xfrm>
            <a:prstGeom prst="line">
              <a:avLst/>
            </a:prstGeom>
            <a:ln cap="flat" w="25400">
              <a:solidFill>
                <a:srgbClr val="002C7C"/>
              </a:solidFill>
              <a:prstDash val="solid"/>
              <a:headEnd type="none" len="sm" w="sm"/>
              <a:tailEnd type="none" len="sm" w="sm"/>
            </a:ln>
          </p:spPr>
        </p:sp>
        <p:sp>
          <p:nvSpPr>
            <p:cNvPr name="AutoShape 45" id="45"/>
            <p:cNvSpPr/>
            <p:nvPr/>
          </p:nvSpPr>
          <p:spPr>
            <a:xfrm>
              <a:off x="784834" y="2707573"/>
              <a:ext cx="11451132" cy="0"/>
            </a:xfrm>
            <a:prstGeom prst="line">
              <a:avLst/>
            </a:prstGeom>
            <a:ln cap="flat" w="25400">
              <a:solidFill>
                <a:srgbClr val="002C7C"/>
              </a:solidFill>
              <a:prstDash val="solid"/>
              <a:headEnd type="none" len="sm" w="sm"/>
              <a:tailEnd type="none" len="sm" w="sm"/>
            </a:ln>
          </p:spPr>
        </p:sp>
        <p:sp>
          <p:nvSpPr>
            <p:cNvPr name="AutoShape 46" id="46"/>
            <p:cNvSpPr/>
            <p:nvPr/>
          </p:nvSpPr>
          <p:spPr>
            <a:xfrm>
              <a:off x="784834" y="3418956"/>
              <a:ext cx="11451132" cy="0"/>
            </a:xfrm>
            <a:prstGeom prst="line">
              <a:avLst/>
            </a:prstGeom>
            <a:ln cap="flat" w="25400">
              <a:solidFill>
                <a:srgbClr val="002C7C"/>
              </a:solidFill>
              <a:prstDash val="solid"/>
              <a:headEnd type="none" len="sm" w="sm"/>
              <a:tailEnd type="none" len="sm" w="sm"/>
            </a:ln>
          </p:spPr>
        </p:sp>
        <p:sp>
          <p:nvSpPr>
            <p:cNvPr name="AutoShape 47" id="47"/>
            <p:cNvSpPr/>
            <p:nvPr/>
          </p:nvSpPr>
          <p:spPr>
            <a:xfrm>
              <a:off x="784834" y="4130338"/>
              <a:ext cx="11451132" cy="0"/>
            </a:xfrm>
            <a:prstGeom prst="line">
              <a:avLst/>
            </a:prstGeom>
            <a:ln cap="flat" w="25400">
              <a:solidFill>
                <a:srgbClr val="002C7C"/>
              </a:solidFill>
              <a:prstDash val="solid"/>
              <a:headEnd type="none" len="sm" w="sm"/>
              <a:tailEnd type="none" len="sm" w="sm"/>
            </a:ln>
          </p:spPr>
        </p:sp>
        <p:sp>
          <p:nvSpPr>
            <p:cNvPr name="AutoShape 48" id="48"/>
            <p:cNvSpPr/>
            <p:nvPr/>
          </p:nvSpPr>
          <p:spPr>
            <a:xfrm>
              <a:off x="784834" y="7753209"/>
              <a:ext cx="11451132" cy="0"/>
            </a:xfrm>
            <a:prstGeom prst="line">
              <a:avLst/>
            </a:prstGeom>
            <a:ln cap="flat" w="25400">
              <a:solidFill>
                <a:srgbClr val="002C7C"/>
              </a:solidFill>
              <a:prstDash val="solid"/>
              <a:headEnd type="none" len="sm" w="sm"/>
              <a:tailEnd type="none" len="sm" w="sm"/>
            </a:ln>
          </p:spPr>
        </p:sp>
        <p:sp>
          <p:nvSpPr>
            <p:cNvPr name="AutoShape 49" id="49"/>
            <p:cNvSpPr/>
            <p:nvPr/>
          </p:nvSpPr>
          <p:spPr>
            <a:xfrm>
              <a:off x="784834" y="8464591"/>
              <a:ext cx="11451132" cy="0"/>
            </a:xfrm>
            <a:prstGeom prst="line">
              <a:avLst/>
            </a:prstGeom>
            <a:ln cap="flat" w="25400">
              <a:solidFill>
                <a:srgbClr val="002C7C"/>
              </a:solidFill>
              <a:prstDash val="solid"/>
              <a:headEnd type="none" len="sm" w="sm"/>
              <a:tailEnd type="none" len="sm" w="sm"/>
            </a:ln>
          </p:spPr>
        </p:sp>
        <p:sp>
          <p:nvSpPr>
            <p:cNvPr name="AutoShape 50" id="50"/>
            <p:cNvSpPr/>
            <p:nvPr/>
          </p:nvSpPr>
          <p:spPr>
            <a:xfrm>
              <a:off x="784834" y="1284809"/>
              <a:ext cx="11451132" cy="0"/>
            </a:xfrm>
            <a:prstGeom prst="line">
              <a:avLst/>
            </a:prstGeom>
            <a:ln cap="flat" w="25400">
              <a:solidFill>
                <a:srgbClr val="002C7C"/>
              </a:solidFill>
              <a:prstDash val="solid"/>
              <a:headEnd type="none" len="sm" w="sm"/>
              <a:tailEnd type="none" len="sm" w="sm"/>
            </a:ln>
          </p:spPr>
        </p:sp>
        <p:sp>
          <p:nvSpPr>
            <p:cNvPr name="AutoShape 51" id="51"/>
            <p:cNvSpPr/>
            <p:nvPr/>
          </p:nvSpPr>
          <p:spPr>
            <a:xfrm flipV="true">
              <a:off x="7218291" y="573427"/>
              <a:ext cx="0" cy="8615738"/>
            </a:xfrm>
            <a:prstGeom prst="line">
              <a:avLst/>
            </a:prstGeom>
            <a:ln cap="flat" w="25400">
              <a:solidFill>
                <a:srgbClr val="002C7C"/>
              </a:solidFill>
              <a:prstDash val="solid"/>
              <a:headEnd type="none" len="sm" w="sm"/>
              <a:tailEnd type="none" len="sm" w="sm"/>
            </a:ln>
          </p:spPr>
        </p:sp>
        <p:sp>
          <p:nvSpPr>
            <p:cNvPr name="AutoShape 52" id="52"/>
            <p:cNvSpPr/>
            <p:nvPr/>
          </p:nvSpPr>
          <p:spPr>
            <a:xfrm flipV="true">
              <a:off x="7928573" y="573427"/>
              <a:ext cx="0" cy="8615738"/>
            </a:xfrm>
            <a:prstGeom prst="line">
              <a:avLst/>
            </a:prstGeom>
            <a:ln cap="flat" w="25400">
              <a:solidFill>
                <a:srgbClr val="002C7C"/>
              </a:solidFill>
              <a:prstDash val="solid"/>
              <a:headEnd type="none" len="sm" w="sm"/>
              <a:tailEnd type="none" len="sm" w="sm"/>
            </a:ln>
          </p:spPr>
        </p:sp>
        <p:sp>
          <p:nvSpPr>
            <p:cNvPr name="AutoShape 53" id="53"/>
            <p:cNvSpPr/>
            <p:nvPr/>
          </p:nvSpPr>
          <p:spPr>
            <a:xfrm flipV="true">
              <a:off x="8638856" y="573427"/>
              <a:ext cx="0" cy="8615738"/>
            </a:xfrm>
            <a:prstGeom prst="line">
              <a:avLst/>
            </a:prstGeom>
            <a:ln cap="flat" w="25400">
              <a:solidFill>
                <a:srgbClr val="002C7C"/>
              </a:solidFill>
              <a:prstDash val="solid"/>
              <a:headEnd type="none" len="sm" w="sm"/>
              <a:tailEnd type="none" len="sm" w="sm"/>
            </a:ln>
          </p:spPr>
        </p:sp>
        <p:sp>
          <p:nvSpPr>
            <p:cNvPr name="AutoShape 54" id="54"/>
            <p:cNvSpPr/>
            <p:nvPr/>
          </p:nvSpPr>
          <p:spPr>
            <a:xfrm flipV="true">
              <a:off x="3600916" y="573427"/>
              <a:ext cx="0" cy="8615738"/>
            </a:xfrm>
            <a:prstGeom prst="line">
              <a:avLst/>
            </a:prstGeom>
            <a:ln cap="flat" w="25400">
              <a:solidFill>
                <a:srgbClr val="002C7C"/>
              </a:solidFill>
              <a:prstDash val="solid"/>
              <a:headEnd type="none" len="sm" w="sm"/>
              <a:tailEnd type="none" len="sm" w="sm"/>
            </a:ln>
          </p:spPr>
        </p:sp>
        <p:sp>
          <p:nvSpPr>
            <p:cNvPr name="AutoShape 55" id="55"/>
            <p:cNvSpPr/>
            <p:nvPr/>
          </p:nvSpPr>
          <p:spPr>
            <a:xfrm flipV="true">
              <a:off x="4311199" y="573427"/>
              <a:ext cx="0" cy="8615738"/>
            </a:xfrm>
            <a:prstGeom prst="line">
              <a:avLst/>
            </a:prstGeom>
            <a:ln cap="flat" w="25400">
              <a:solidFill>
                <a:srgbClr val="002C7C"/>
              </a:solidFill>
              <a:prstDash val="solid"/>
              <a:headEnd type="none" len="sm" w="sm"/>
              <a:tailEnd type="none" len="sm" w="sm"/>
            </a:ln>
          </p:spPr>
        </p:sp>
        <p:sp>
          <p:nvSpPr>
            <p:cNvPr name="AutoShape 56" id="56"/>
            <p:cNvSpPr/>
            <p:nvPr/>
          </p:nvSpPr>
          <p:spPr>
            <a:xfrm flipV="true">
              <a:off x="5021482" y="573427"/>
              <a:ext cx="0" cy="8615738"/>
            </a:xfrm>
            <a:prstGeom prst="line">
              <a:avLst/>
            </a:prstGeom>
            <a:ln cap="flat" w="25400">
              <a:solidFill>
                <a:srgbClr val="002C7C"/>
              </a:solidFill>
              <a:prstDash val="solid"/>
              <a:headEnd type="none" len="sm" w="sm"/>
              <a:tailEnd type="none" len="sm" w="sm"/>
            </a:ln>
          </p:spPr>
        </p:sp>
        <p:sp>
          <p:nvSpPr>
            <p:cNvPr name="AutoShape 57" id="57"/>
            <p:cNvSpPr/>
            <p:nvPr/>
          </p:nvSpPr>
          <p:spPr>
            <a:xfrm flipV="true">
              <a:off x="5731765" y="573427"/>
              <a:ext cx="0" cy="8615738"/>
            </a:xfrm>
            <a:prstGeom prst="line">
              <a:avLst/>
            </a:prstGeom>
            <a:ln cap="flat" w="25400">
              <a:solidFill>
                <a:srgbClr val="002C7C"/>
              </a:solidFill>
              <a:prstDash val="solid"/>
              <a:headEnd type="none" len="sm" w="sm"/>
              <a:tailEnd type="none" len="sm" w="sm"/>
            </a:ln>
          </p:spPr>
        </p:sp>
        <p:sp>
          <p:nvSpPr>
            <p:cNvPr name="AutoShape 58" id="58"/>
            <p:cNvSpPr/>
            <p:nvPr/>
          </p:nvSpPr>
          <p:spPr>
            <a:xfrm flipV="true">
              <a:off x="9349139" y="573427"/>
              <a:ext cx="0" cy="8615738"/>
            </a:xfrm>
            <a:prstGeom prst="line">
              <a:avLst/>
            </a:prstGeom>
            <a:ln cap="flat" w="25400">
              <a:solidFill>
                <a:srgbClr val="002C7C"/>
              </a:solidFill>
              <a:prstDash val="solid"/>
              <a:headEnd type="none" len="sm" w="sm"/>
              <a:tailEnd type="none" len="sm" w="sm"/>
            </a:ln>
          </p:spPr>
        </p:sp>
        <p:sp>
          <p:nvSpPr>
            <p:cNvPr name="AutoShape 59" id="59"/>
            <p:cNvSpPr/>
            <p:nvPr/>
          </p:nvSpPr>
          <p:spPr>
            <a:xfrm flipV="true">
              <a:off x="10059422" y="573427"/>
              <a:ext cx="0" cy="8615738"/>
            </a:xfrm>
            <a:prstGeom prst="line">
              <a:avLst/>
            </a:prstGeom>
            <a:ln cap="flat" w="25400">
              <a:solidFill>
                <a:srgbClr val="002C7C"/>
              </a:solidFill>
              <a:prstDash val="solid"/>
              <a:headEnd type="none" len="sm" w="sm"/>
              <a:tailEnd type="none" len="sm" w="sm"/>
            </a:ln>
          </p:spPr>
        </p:sp>
        <p:sp>
          <p:nvSpPr>
            <p:cNvPr name="AutoShape 60" id="60"/>
            <p:cNvSpPr/>
            <p:nvPr/>
          </p:nvSpPr>
          <p:spPr>
            <a:xfrm flipV="true">
              <a:off x="2890634" y="573427"/>
              <a:ext cx="0" cy="8615738"/>
            </a:xfrm>
            <a:prstGeom prst="line">
              <a:avLst/>
            </a:prstGeom>
            <a:ln cap="flat" w="25400">
              <a:solidFill>
                <a:srgbClr val="002C7C"/>
              </a:solidFill>
              <a:prstDash val="solid"/>
              <a:headEnd type="none" len="sm" w="sm"/>
              <a:tailEnd type="none" len="sm" w="sm"/>
            </a:ln>
          </p:spPr>
        </p:sp>
        <p:sp>
          <p:nvSpPr>
            <p:cNvPr name="AutoShape 61" id="61"/>
            <p:cNvSpPr/>
            <p:nvPr/>
          </p:nvSpPr>
          <p:spPr>
            <a:xfrm flipV="true">
              <a:off x="6475028" y="0"/>
              <a:ext cx="0" cy="9762592"/>
            </a:xfrm>
            <a:prstGeom prst="line">
              <a:avLst/>
            </a:prstGeom>
            <a:ln cap="flat" w="88900">
              <a:solidFill>
                <a:srgbClr val="002C7C"/>
              </a:solidFill>
              <a:prstDash val="solid"/>
              <a:headEnd type="arrow" len="sm" w="med"/>
              <a:tailEnd type="arrow" len="sm" w="med"/>
            </a:ln>
          </p:spPr>
        </p:sp>
        <p:sp>
          <p:nvSpPr>
            <p:cNvPr name="AutoShape 62" id="62"/>
            <p:cNvSpPr/>
            <p:nvPr/>
          </p:nvSpPr>
          <p:spPr>
            <a:xfrm flipH="true">
              <a:off x="0" y="4874700"/>
              <a:ext cx="13020800" cy="0"/>
            </a:xfrm>
            <a:prstGeom prst="line">
              <a:avLst/>
            </a:prstGeom>
            <a:ln cap="flat" w="76200">
              <a:solidFill>
                <a:srgbClr val="002C7C"/>
              </a:solidFill>
              <a:prstDash val="solid"/>
              <a:headEnd type="arrow" len="sm" w="med"/>
              <a:tailEnd type="arrow" len="sm" w="med"/>
            </a:ln>
          </p:spPr>
        </p:sp>
        <p:sp>
          <p:nvSpPr>
            <p:cNvPr name="AutoShape 63" id="63"/>
            <p:cNvSpPr/>
            <p:nvPr/>
          </p:nvSpPr>
          <p:spPr>
            <a:xfrm flipV="true">
              <a:off x="10770197" y="588335"/>
              <a:ext cx="0" cy="8615738"/>
            </a:xfrm>
            <a:prstGeom prst="line">
              <a:avLst/>
            </a:prstGeom>
            <a:ln cap="flat" w="25400">
              <a:solidFill>
                <a:srgbClr val="002C7C"/>
              </a:solidFill>
              <a:prstDash val="solid"/>
              <a:headEnd type="none" len="sm" w="sm"/>
              <a:tailEnd type="none" len="sm" w="sm"/>
            </a:ln>
          </p:spPr>
        </p:sp>
        <p:sp>
          <p:nvSpPr>
            <p:cNvPr name="AutoShape 64" id="64"/>
            <p:cNvSpPr/>
            <p:nvPr/>
          </p:nvSpPr>
          <p:spPr>
            <a:xfrm flipV="true">
              <a:off x="1486230" y="566831"/>
              <a:ext cx="0" cy="8615738"/>
            </a:xfrm>
            <a:prstGeom prst="line">
              <a:avLst/>
            </a:prstGeom>
            <a:ln cap="flat" w="25400">
              <a:solidFill>
                <a:srgbClr val="002C7C"/>
              </a:solidFill>
              <a:prstDash val="solid"/>
              <a:headEnd type="none" len="sm" w="sm"/>
              <a:tailEnd type="none" len="sm" w="sm"/>
            </a:ln>
          </p:spPr>
        </p:sp>
        <p:sp>
          <p:nvSpPr>
            <p:cNvPr name="AutoShape 65" id="65"/>
            <p:cNvSpPr/>
            <p:nvPr/>
          </p:nvSpPr>
          <p:spPr>
            <a:xfrm flipV="true">
              <a:off x="2196513" y="566831"/>
              <a:ext cx="0" cy="8615738"/>
            </a:xfrm>
            <a:prstGeom prst="line">
              <a:avLst/>
            </a:prstGeom>
            <a:ln cap="flat" w="25400">
              <a:solidFill>
                <a:srgbClr val="002C7C"/>
              </a:solidFill>
              <a:prstDash val="solid"/>
              <a:headEnd type="none" len="sm" w="sm"/>
              <a:tailEnd type="none" len="sm" w="sm"/>
            </a:ln>
          </p:spPr>
        </p:sp>
        <p:sp>
          <p:nvSpPr>
            <p:cNvPr name="AutoShape 66" id="66"/>
            <p:cNvSpPr/>
            <p:nvPr/>
          </p:nvSpPr>
          <p:spPr>
            <a:xfrm flipV="true">
              <a:off x="11455505" y="588335"/>
              <a:ext cx="0" cy="8615738"/>
            </a:xfrm>
            <a:prstGeom prst="line">
              <a:avLst/>
            </a:prstGeom>
            <a:ln cap="flat" w="25400">
              <a:solidFill>
                <a:srgbClr val="002C7C"/>
              </a:solidFill>
              <a:prstDash val="solid"/>
              <a:headEnd type="none" len="sm" w="sm"/>
              <a:tailEnd type="none" len="sm" w="sm"/>
            </a:ln>
          </p:spPr>
        </p:sp>
        <p:sp>
          <p:nvSpPr>
            <p:cNvPr name="AutoShape 67" id="67"/>
            <p:cNvSpPr/>
            <p:nvPr/>
          </p:nvSpPr>
          <p:spPr>
            <a:xfrm flipV="true">
              <a:off x="10745222" y="588335"/>
              <a:ext cx="0" cy="8615738"/>
            </a:xfrm>
            <a:prstGeom prst="line">
              <a:avLst/>
            </a:prstGeom>
            <a:ln cap="flat" w="25400">
              <a:solidFill>
                <a:srgbClr val="002C7C"/>
              </a:solidFill>
              <a:prstDash val="solid"/>
              <a:headEnd type="none" len="sm" w="sm"/>
              <a:tailEnd type="none" len="sm" w="sm"/>
            </a:ln>
          </p:spPr>
        </p:sp>
      </p:grpSp>
      <p:sp>
        <p:nvSpPr>
          <p:cNvPr name="AutoShape 68" id="68"/>
          <p:cNvSpPr/>
          <p:nvPr/>
        </p:nvSpPr>
        <p:spPr>
          <a:xfrm flipH="true">
            <a:off x="11536864" y="2916835"/>
            <a:ext cx="3149994" cy="6341465"/>
          </a:xfrm>
          <a:prstGeom prst="line">
            <a:avLst/>
          </a:prstGeom>
          <a:ln cap="flat" w="123825">
            <a:solidFill>
              <a:srgbClr val="FF9C00"/>
            </a:solidFill>
            <a:prstDash val="solid"/>
            <a:headEnd type="arrow" len="sm" w="med"/>
            <a:tailEnd type="arrow" len="sm" w="med"/>
          </a:ln>
        </p:spPr>
      </p:sp>
      <p:grpSp>
        <p:nvGrpSpPr>
          <p:cNvPr name="Group 69" id="69"/>
          <p:cNvGrpSpPr/>
          <p:nvPr/>
        </p:nvGrpSpPr>
        <p:grpSpPr>
          <a:xfrm rot="0">
            <a:off x="13118180" y="5621979"/>
            <a:ext cx="300273" cy="300273"/>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71" id="7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2" id="72"/>
          <p:cNvGrpSpPr/>
          <p:nvPr/>
        </p:nvGrpSpPr>
        <p:grpSpPr>
          <a:xfrm rot="0">
            <a:off x="13678886" y="4524542"/>
            <a:ext cx="300273" cy="300273"/>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74" id="7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75" id="75"/>
          <p:cNvGrpSpPr/>
          <p:nvPr/>
        </p:nvGrpSpPr>
        <p:grpSpPr>
          <a:xfrm rot="0">
            <a:off x="14216156" y="3477997"/>
            <a:ext cx="300273" cy="300273"/>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77" id="7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78" id="78"/>
          <p:cNvSpPr/>
          <p:nvPr/>
        </p:nvSpPr>
        <p:spPr>
          <a:xfrm>
            <a:off x="11339603" y="5621979"/>
            <a:ext cx="3874519" cy="3636321"/>
          </a:xfrm>
          <a:prstGeom prst="line">
            <a:avLst/>
          </a:prstGeom>
          <a:ln cap="flat" w="123825">
            <a:solidFill>
              <a:srgbClr val="FF9C00"/>
            </a:solidFill>
            <a:prstDash val="solid"/>
            <a:headEnd type="arrow" len="sm" w="med"/>
            <a:tailEnd type="arrow" len="sm" w="med"/>
          </a:ln>
        </p:spPr>
      </p:sp>
      <p:sp>
        <p:nvSpPr>
          <p:cNvPr name="TextBox 79" id="79"/>
          <p:cNvSpPr txBox="true"/>
          <p:nvPr/>
        </p:nvSpPr>
        <p:spPr>
          <a:xfrm rot="0">
            <a:off x="2062549" y="7850643"/>
            <a:ext cx="4240402"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-x - 2</a:t>
            </a:r>
          </a:p>
        </p:txBody>
      </p:sp>
      <p:grpSp>
        <p:nvGrpSpPr>
          <p:cNvPr name="Group 80" id="80"/>
          <p:cNvGrpSpPr/>
          <p:nvPr/>
        </p:nvGrpSpPr>
        <p:grpSpPr>
          <a:xfrm rot="0">
            <a:off x="13118180" y="7262387"/>
            <a:ext cx="300273" cy="300273"/>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3" id="83"/>
          <p:cNvSpPr txBox="true"/>
          <p:nvPr/>
        </p:nvSpPr>
        <p:spPr>
          <a:xfrm rot="0">
            <a:off x="13593673" y="6941190"/>
            <a:ext cx="1349425"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(0,-2)</a:t>
            </a:r>
          </a:p>
        </p:txBody>
      </p:sp>
      <p:sp>
        <p:nvSpPr>
          <p:cNvPr name="AutoShape 84" id="84"/>
          <p:cNvSpPr/>
          <p:nvPr/>
        </p:nvSpPr>
        <p:spPr>
          <a:xfrm>
            <a:off x="13261811" y="7300805"/>
            <a:ext cx="0" cy="666586"/>
          </a:xfrm>
          <a:prstGeom prst="line">
            <a:avLst/>
          </a:prstGeom>
          <a:ln cap="flat" w="66675">
            <a:solidFill>
              <a:srgbClr val="E87B69"/>
            </a:solidFill>
            <a:prstDash val="sysDash"/>
            <a:headEnd type="none" len="sm" w="sm"/>
            <a:tailEnd type="arrow" len="sm" w="med"/>
          </a:ln>
        </p:spPr>
      </p:sp>
      <p:grpSp>
        <p:nvGrpSpPr>
          <p:cNvPr name="Group 85" id="85"/>
          <p:cNvGrpSpPr/>
          <p:nvPr/>
        </p:nvGrpSpPr>
        <p:grpSpPr>
          <a:xfrm rot="0">
            <a:off x="13672380" y="7783916"/>
            <a:ext cx="300273" cy="300273"/>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87" id="8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88" id="88"/>
          <p:cNvSpPr/>
          <p:nvPr/>
        </p:nvSpPr>
        <p:spPr>
          <a:xfrm>
            <a:off x="13822516" y="7850264"/>
            <a:ext cx="0" cy="666586"/>
          </a:xfrm>
          <a:prstGeom prst="line">
            <a:avLst/>
          </a:prstGeom>
          <a:ln cap="flat" w="66675">
            <a:solidFill>
              <a:srgbClr val="E87B69"/>
            </a:solidFill>
            <a:prstDash val="sysDash"/>
            <a:headEnd type="none" len="sm" w="sm"/>
            <a:tailEnd type="arrow" len="sm" w="med"/>
          </a:ln>
        </p:spPr>
      </p:sp>
      <p:sp>
        <p:nvSpPr>
          <p:cNvPr name="AutoShape 89" id="89"/>
          <p:cNvSpPr/>
          <p:nvPr/>
        </p:nvSpPr>
        <p:spPr>
          <a:xfrm>
            <a:off x="13292129" y="7934053"/>
            <a:ext cx="536893" cy="0"/>
          </a:xfrm>
          <a:prstGeom prst="line">
            <a:avLst/>
          </a:prstGeom>
          <a:ln cap="flat" w="66675">
            <a:solidFill>
              <a:srgbClr val="E87B69"/>
            </a:solidFill>
            <a:prstDash val="sysDash"/>
            <a:headEnd type="none" len="sm" w="sm"/>
            <a:tailEnd type="arrow" len="sm" w="med"/>
          </a:ln>
        </p:spPr>
      </p:sp>
      <p:grpSp>
        <p:nvGrpSpPr>
          <p:cNvPr name="Group 90" id="90"/>
          <p:cNvGrpSpPr/>
          <p:nvPr/>
        </p:nvGrpSpPr>
        <p:grpSpPr>
          <a:xfrm rot="0">
            <a:off x="14216156" y="8333376"/>
            <a:ext cx="300273" cy="300273"/>
            <a:chOff x="0" y="0"/>
            <a:chExt cx="812800" cy="812800"/>
          </a:xfrm>
        </p:grpSpPr>
        <p:sp>
          <p:nvSpPr>
            <p:cNvPr name="Freeform 91" id="9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92" id="9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93" id="93"/>
          <p:cNvSpPr/>
          <p:nvPr/>
        </p:nvSpPr>
        <p:spPr>
          <a:xfrm>
            <a:off x="13852835" y="8483513"/>
            <a:ext cx="536893" cy="0"/>
          </a:xfrm>
          <a:prstGeom prst="line">
            <a:avLst/>
          </a:prstGeom>
          <a:ln cap="flat" w="66675">
            <a:solidFill>
              <a:srgbClr val="E87B69"/>
            </a:solidFill>
            <a:prstDash val="sysDash"/>
            <a:headEnd type="none" len="sm" w="sm"/>
            <a:tailEnd type="arrow" len="sm" w="med"/>
          </a:ln>
        </p:spPr>
      </p:sp>
      <p:sp>
        <p:nvSpPr>
          <p:cNvPr name="TextBox 94" id="94"/>
          <p:cNvSpPr txBox="true"/>
          <p:nvPr/>
        </p:nvSpPr>
        <p:spPr>
          <a:xfrm rot="0">
            <a:off x="14581233" y="7662265"/>
            <a:ext cx="1349425"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(1,-3)</a:t>
            </a:r>
          </a:p>
        </p:txBody>
      </p:sp>
      <p:sp>
        <p:nvSpPr>
          <p:cNvPr name="TextBox 95" id="95"/>
          <p:cNvSpPr txBox="true"/>
          <p:nvPr/>
        </p:nvSpPr>
        <p:spPr>
          <a:xfrm rot="0">
            <a:off x="15342241" y="8381001"/>
            <a:ext cx="1349425"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(2,-4)</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74096" y="-834321"/>
            <a:ext cx="8816525" cy="12541006"/>
            <a:chOff x="0" y="0"/>
            <a:chExt cx="2322048" cy="3302981"/>
          </a:xfrm>
        </p:grpSpPr>
        <p:sp>
          <p:nvSpPr>
            <p:cNvPr name="Freeform 3" id="3"/>
            <p:cNvSpPr/>
            <p:nvPr/>
          </p:nvSpPr>
          <p:spPr>
            <a:xfrm flipH="false" flipV="false" rot="0">
              <a:off x="0" y="0"/>
              <a:ext cx="2322048" cy="3302981"/>
            </a:xfrm>
            <a:custGeom>
              <a:avLst/>
              <a:gdLst/>
              <a:ahLst/>
              <a:cxnLst/>
              <a:rect r="r" b="b" t="t" l="l"/>
              <a:pathLst>
                <a:path h="3302981" w="2322048">
                  <a:moveTo>
                    <a:pt x="35125" y="0"/>
                  </a:moveTo>
                  <a:lnTo>
                    <a:pt x="2286923" y="0"/>
                  </a:lnTo>
                  <a:cubicBezTo>
                    <a:pt x="2306322" y="0"/>
                    <a:pt x="2322048" y="15726"/>
                    <a:pt x="2322048" y="35125"/>
                  </a:cubicBezTo>
                  <a:lnTo>
                    <a:pt x="2322048" y="3267856"/>
                  </a:lnTo>
                  <a:cubicBezTo>
                    <a:pt x="2322048" y="3287255"/>
                    <a:pt x="2306322" y="3302981"/>
                    <a:pt x="2286923" y="3302981"/>
                  </a:cubicBezTo>
                  <a:lnTo>
                    <a:pt x="35125" y="3302981"/>
                  </a:lnTo>
                  <a:cubicBezTo>
                    <a:pt x="15726" y="3302981"/>
                    <a:pt x="0" y="3287255"/>
                    <a:pt x="0" y="3267856"/>
                  </a:cubicBezTo>
                  <a:lnTo>
                    <a:pt x="0" y="35125"/>
                  </a:lnTo>
                  <a:cubicBezTo>
                    <a:pt x="0" y="15726"/>
                    <a:pt x="15726" y="0"/>
                    <a:pt x="35125" y="0"/>
                  </a:cubicBezTo>
                  <a:close/>
                </a:path>
              </a:pathLst>
            </a:custGeom>
            <a:solidFill>
              <a:srgbClr val="042560"/>
            </a:solidFill>
          </p:spPr>
        </p:sp>
        <p:sp>
          <p:nvSpPr>
            <p:cNvPr name="TextBox 4" id="4"/>
            <p:cNvSpPr txBox="true"/>
            <p:nvPr/>
          </p:nvSpPr>
          <p:spPr>
            <a:xfrm>
              <a:off x="0" y="-38100"/>
              <a:ext cx="2322048" cy="3341081"/>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513177" y="-2406488"/>
            <a:ext cx="4232540" cy="4468133"/>
          </a:xfrm>
          <a:custGeom>
            <a:avLst/>
            <a:gdLst/>
            <a:ahLst/>
            <a:cxnLst/>
            <a:rect r="r" b="b" t="t" l="l"/>
            <a:pathLst>
              <a:path h="4468133" w="4232540">
                <a:moveTo>
                  <a:pt x="0" y="0"/>
                </a:moveTo>
                <a:lnTo>
                  <a:pt x="4232540" y="0"/>
                </a:lnTo>
                <a:lnTo>
                  <a:pt x="4232540" y="4468133"/>
                </a:lnTo>
                <a:lnTo>
                  <a:pt x="0" y="44681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6" id="6"/>
          <p:cNvGrpSpPr/>
          <p:nvPr/>
        </p:nvGrpSpPr>
        <p:grpSpPr>
          <a:xfrm rot="0">
            <a:off x="809158" y="6490202"/>
            <a:ext cx="6491879" cy="2549432"/>
            <a:chOff x="0" y="0"/>
            <a:chExt cx="1709795" cy="671455"/>
          </a:xfrm>
        </p:grpSpPr>
        <p:sp>
          <p:nvSpPr>
            <p:cNvPr name="Freeform 7" id="7"/>
            <p:cNvSpPr/>
            <p:nvPr/>
          </p:nvSpPr>
          <p:spPr>
            <a:xfrm flipH="false" flipV="false" rot="0">
              <a:off x="0" y="0"/>
              <a:ext cx="1709795" cy="671455"/>
            </a:xfrm>
            <a:custGeom>
              <a:avLst/>
              <a:gdLst/>
              <a:ahLst/>
              <a:cxnLst/>
              <a:rect r="r" b="b" t="t" l="l"/>
              <a:pathLst>
                <a:path h="671455" w="1709795">
                  <a:moveTo>
                    <a:pt x="60820" y="0"/>
                  </a:moveTo>
                  <a:lnTo>
                    <a:pt x="1648975" y="0"/>
                  </a:lnTo>
                  <a:cubicBezTo>
                    <a:pt x="1682565" y="0"/>
                    <a:pt x="1709795" y="27230"/>
                    <a:pt x="1709795" y="60820"/>
                  </a:cubicBezTo>
                  <a:lnTo>
                    <a:pt x="1709795" y="610635"/>
                  </a:lnTo>
                  <a:cubicBezTo>
                    <a:pt x="1709795" y="644225"/>
                    <a:pt x="1682565" y="671455"/>
                    <a:pt x="1648975" y="671455"/>
                  </a:cubicBezTo>
                  <a:lnTo>
                    <a:pt x="60820" y="671455"/>
                  </a:lnTo>
                  <a:cubicBezTo>
                    <a:pt x="27230" y="671455"/>
                    <a:pt x="0" y="644225"/>
                    <a:pt x="0" y="610635"/>
                  </a:cubicBezTo>
                  <a:lnTo>
                    <a:pt x="0" y="60820"/>
                  </a:lnTo>
                  <a:cubicBezTo>
                    <a:pt x="0" y="27230"/>
                    <a:pt x="27230" y="0"/>
                    <a:pt x="60820" y="0"/>
                  </a:cubicBezTo>
                  <a:close/>
                </a:path>
              </a:pathLst>
            </a:custGeom>
            <a:solidFill>
              <a:srgbClr val="A3DFFF"/>
            </a:solidFill>
          </p:spPr>
        </p:sp>
        <p:sp>
          <p:nvSpPr>
            <p:cNvPr name="TextBox 8" id="8"/>
            <p:cNvSpPr txBox="true"/>
            <p:nvPr/>
          </p:nvSpPr>
          <p:spPr>
            <a:xfrm>
              <a:off x="0" y="-38100"/>
              <a:ext cx="1709795" cy="709555"/>
            </a:xfrm>
            <a:prstGeom prst="rect">
              <a:avLst/>
            </a:prstGeom>
          </p:spPr>
          <p:txBody>
            <a:bodyPr anchor="ctr" rtlCol="false" tIns="50800" lIns="50800" bIns="50800" rIns="50800"/>
            <a:lstStyle/>
            <a:p>
              <a:pPr algn="ctr">
                <a:lnSpc>
                  <a:spcPts val="2660"/>
                </a:lnSpc>
              </a:pPr>
            </a:p>
          </p:txBody>
        </p:sp>
      </p:grpSp>
      <p:grpSp>
        <p:nvGrpSpPr>
          <p:cNvPr name="Group 9" id="9"/>
          <p:cNvGrpSpPr/>
          <p:nvPr/>
        </p:nvGrpSpPr>
        <p:grpSpPr>
          <a:xfrm rot="0">
            <a:off x="8412348" y="2674435"/>
            <a:ext cx="9765600" cy="7321944"/>
            <a:chOff x="0" y="0"/>
            <a:chExt cx="13020800" cy="9762592"/>
          </a:xfrm>
        </p:grpSpPr>
        <p:grpSp>
          <p:nvGrpSpPr>
            <p:cNvPr name="Group 10" id="10"/>
            <p:cNvGrpSpPr/>
            <p:nvPr/>
          </p:nvGrpSpPr>
          <p:grpSpPr>
            <a:xfrm rot="0">
              <a:off x="772187" y="573427"/>
              <a:ext cx="11476426" cy="8615738"/>
              <a:chOff x="0" y="0"/>
              <a:chExt cx="1845144" cy="1385212"/>
            </a:xfrm>
          </p:grpSpPr>
          <p:sp>
            <p:nvSpPr>
              <p:cNvPr name="Freeform 11" id="11"/>
              <p:cNvSpPr/>
              <p:nvPr/>
            </p:nvSpPr>
            <p:spPr>
              <a:xfrm flipH="false" flipV="false" rot="0">
                <a:off x="0" y="0"/>
                <a:ext cx="1845144" cy="1385212"/>
              </a:xfrm>
              <a:custGeom>
                <a:avLst/>
                <a:gdLst/>
                <a:ahLst/>
                <a:cxnLst/>
                <a:rect r="r" b="b" t="t" l="l"/>
                <a:pathLst>
                  <a:path h="1385212" w="1845144">
                    <a:moveTo>
                      <a:pt x="45872" y="0"/>
                    </a:moveTo>
                    <a:lnTo>
                      <a:pt x="1799272" y="0"/>
                    </a:lnTo>
                    <a:cubicBezTo>
                      <a:pt x="1811438" y="0"/>
                      <a:pt x="1823106" y="4833"/>
                      <a:pt x="1831709" y="13436"/>
                    </a:cubicBezTo>
                    <a:cubicBezTo>
                      <a:pt x="1840311" y="22038"/>
                      <a:pt x="1845144" y="33706"/>
                      <a:pt x="1845144" y="45872"/>
                    </a:cubicBezTo>
                    <a:lnTo>
                      <a:pt x="1845144" y="1339340"/>
                    </a:lnTo>
                    <a:cubicBezTo>
                      <a:pt x="1845144" y="1364674"/>
                      <a:pt x="1824607" y="1385212"/>
                      <a:pt x="1799272" y="1385212"/>
                    </a:cubicBezTo>
                    <a:lnTo>
                      <a:pt x="45872" y="1385212"/>
                    </a:lnTo>
                    <a:cubicBezTo>
                      <a:pt x="33706" y="1385212"/>
                      <a:pt x="22038" y="1380379"/>
                      <a:pt x="13436" y="1371776"/>
                    </a:cubicBezTo>
                    <a:cubicBezTo>
                      <a:pt x="4833" y="1363173"/>
                      <a:pt x="0" y="1351506"/>
                      <a:pt x="0" y="1339340"/>
                    </a:cubicBezTo>
                    <a:lnTo>
                      <a:pt x="0" y="45872"/>
                    </a:lnTo>
                    <a:cubicBezTo>
                      <a:pt x="0" y="20538"/>
                      <a:pt x="20538" y="0"/>
                      <a:pt x="45872" y="0"/>
                    </a:cubicBezTo>
                    <a:close/>
                  </a:path>
                </a:pathLst>
              </a:custGeom>
              <a:solidFill>
                <a:srgbClr val="000000">
                  <a:alpha val="0"/>
                </a:srgbClr>
              </a:solidFill>
              <a:ln w="19050" cap="rnd">
                <a:solidFill>
                  <a:srgbClr val="002C7C"/>
                </a:solidFill>
                <a:prstDash val="solid"/>
                <a:round/>
              </a:ln>
            </p:spPr>
          </p:sp>
          <p:sp>
            <p:nvSpPr>
              <p:cNvPr name="TextBox 12" id="12"/>
              <p:cNvSpPr txBox="true"/>
              <p:nvPr/>
            </p:nvSpPr>
            <p:spPr>
              <a:xfrm>
                <a:off x="0" y="-38100"/>
                <a:ext cx="1845144" cy="1423312"/>
              </a:xfrm>
              <a:prstGeom prst="rect">
                <a:avLst/>
              </a:prstGeom>
            </p:spPr>
            <p:txBody>
              <a:bodyPr anchor="ctr" rtlCol="false" tIns="54662" lIns="54662" bIns="54662" rIns="54662"/>
              <a:lstStyle/>
              <a:p>
                <a:pPr algn="ctr">
                  <a:lnSpc>
                    <a:spcPts val="2660"/>
                  </a:lnSpc>
                </a:pPr>
              </a:p>
            </p:txBody>
          </p:sp>
        </p:grpSp>
        <p:sp>
          <p:nvSpPr>
            <p:cNvPr name="AutoShape 13" id="13"/>
            <p:cNvSpPr/>
            <p:nvPr/>
          </p:nvSpPr>
          <p:spPr>
            <a:xfrm>
              <a:off x="784834" y="5619062"/>
              <a:ext cx="11451132" cy="0"/>
            </a:xfrm>
            <a:prstGeom prst="line">
              <a:avLst/>
            </a:prstGeom>
            <a:ln cap="flat" w="25400">
              <a:solidFill>
                <a:srgbClr val="002C7C"/>
              </a:solidFill>
              <a:prstDash val="solid"/>
              <a:headEnd type="none" len="sm" w="sm"/>
              <a:tailEnd type="none" len="sm" w="sm"/>
            </a:ln>
          </p:spPr>
        </p:sp>
        <p:sp>
          <p:nvSpPr>
            <p:cNvPr name="AutoShape 14" id="14"/>
            <p:cNvSpPr/>
            <p:nvPr/>
          </p:nvSpPr>
          <p:spPr>
            <a:xfrm>
              <a:off x="784834" y="6330444"/>
              <a:ext cx="11451132" cy="0"/>
            </a:xfrm>
            <a:prstGeom prst="line">
              <a:avLst/>
            </a:prstGeom>
            <a:ln cap="flat" w="25400">
              <a:solidFill>
                <a:srgbClr val="002C7C"/>
              </a:solidFill>
              <a:prstDash val="solid"/>
              <a:headEnd type="none" len="sm" w="sm"/>
              <a:tailEnd type="none" len="sm" w="sm"/>
            </a:ln>
          </p:spPr>
        </p:sp>
        <p:sp>
          <p:nvSpPr>
            <p:cNvPr name="AutoShape 15" id="15"/>
            <p:cNvSpPr/>
            <p:nvPr/>
          </p:nvSpPr>
          <p:spPr>
            <a:xfrm>
              <a:off x="784834" y="7041826"/>
              <a:ext cx="11451132" cy="0"/>
            </a:xfrm>
            <a:prstGeom prst="line">
              <a:avLst/>
            </a:prstGeom>
            <a:ln cap="flat" w="25400">
              <a:solidFill>
                <a:srgbClr val="002C7C"/>
              </a:solidFill>
              <a:prstDash val="solid"/>
              <a:headEnd type="none" len="sm" w="sm"/>
              <a:tailEnd type="none" len="sm" w="sm"/>
            </a:ln>
          </p:spPr>
        </p:sp>
        <p:sp>
          <p:nvSpPr>
            <p:cNvPr name="AutoShape 16" id="16"/>
            <p:cNvSpPr/>
            <p:nvPr/>
          </p:nvSpPr>
          <p:spPr>
            <a:xfrm>
              <a:off x="784834" y="1996191"/>
              <a:ext cx="11451132" cy="0"/>
            </a:xfrm>
            <a:prstGeom prst="line">
              <a:avLst/>
            </a:prstGeom>
            <a:ln cap="flat" w="25400">
              <a:solidFill>
                <a:srgbClr val="002C7C"/>
              </a:solidFill>
              <a:prstDash val="solid"/>
              <a:headEnd type="none" len="sm" w="sm"/>
              <a:tailEnd type="none" len="sm" w="sm"/>
            </a:ln>
          </p:spPr>
        </p:sp>
        <p:sp>
          <p:nvSpPr>
            <p:cNvPr name="AutoShape 17" id="17"/>
            <p:cNvSpPr/>
            <p:nvPr/>
          </p:nvSpPr>
          <p:spPr>
            <a:xfrm>
              <a:off x="784834" y="2707573"/>
              <a:ext cx="11451132" cy="0"/>
            </a:xfrm>
            <a:prstGeom prst="line">
              <a:avLst/>
            </a:prstGeom>
            <a:ln cap="flat" w="25400">
              <a:solidFill>
                <a:srgbClr val="002C7C"/>
              </a:solidFill>
              <a:prstDash val="solid"/>
              <a:headEnd type="none" len="sm" w="sm"/>
              <a:tailEnd type="none" len="sm" w="sm"/>
            </a:ln>
          </p:spPr>
        </p:sp>
        <p:sp>
          <p:nvSpPr>
            <p:cNvPr name="AutoShape 18" id="18"/>
            <p:cNvSpPr/>
            <p:nvPr/>
          </p:nvSpPr>
          <p:spPr>
            <a:xfrm>
              <a:off x="784834" y="3418956"/>
              <a:ext cx="11451132" cy="0"/>
            </a:xfrm>
            <a:prstGeom prst="line">
              <a:avLst/>
            </a:prstGeom>
            <a:ln cap="flat" w="25400">
              <a:solidFill>
                <a:srgbClr val="002C7C"/>
              </a:solidFill>
              <a:prstDash val="solid"/>
              <a:headEnd type="none" len="sm" w="sm"/>
              <a:tailEnd type="none" len="sm" w="sm"/>
            </a:ln>
          </p:spPr>
        </p:sp>
        <p:sp>
          <p:nvSpPr>
            <p:cNvPr name="AutoShape 19" id="19"/>
            <p:cNvSpPr/>
            <p:nvPr/>
          </p:nvSpPr>
          <p:spPr>
            <a:xfrm>
              <a:off x="784834" y="4130338"/>
              <a:ext cx="11451132" cy="0"/>
            </a:xfrm>
            <a:prstGeom prst="line">
              <a:avLst/>
            </a:prstGeom>
            <a:ln cap="flat" w="25400">
              <a:solidFill>
                <a:srgbClr val="002C7C"/>
              </a:solidFill>
              <a:prstDash val="solid"/>
              <a:headEnd type="none" len="sm" w="sm"/>
              <a:tailEnd type="none" len="sm" w="sm"/>
            </a:ln>
          </p:spPr>
        </p:sp>
        <p:sp>
          <p:nvSpPr>
            <p:cNvPr name="AutoShape 20" id="20"/>
            <p:cNvSpPr/>
            <p:nvPr/>
          </p:nvSpPr>
          <p:spPr>
            <a:xfrm>
              <a:off x="784834" y="7753209"/>
              <a:ext cx="11451132" cy="0"/>
            </a:xfrm>
            <a:prstGeom prst="line">
              <a:avLst/>
            </a:prstGeom>
            <a:ln cap="flat" w="25400">
              <a:solidFill>
                <a:srgbClr val="002C7C"/>
              </a:solidFill>
              <a:prstDash val="solid"/>
              <a:headEnd type="none" len="sm" w="sm"/>
              <a:tailEnd type="none" len="sm" w="sm"/>
            </a:ln>
          </p:spPr>
        </p:sp>
        <p:sp>
          <p:nvSpPr>
            <p:cNvPr name="AutoShape 21" id="21"/>
            <p:cNvSpPr/>
            <p:nvPr/>
          </p:nvSpPr>
          <p:spPr>
            <a:xfrm>
              <a:off x="784834" y="8464591"/>
              <a:ext cx="11451132" cy="0"/>
            </a:xfrm>
            <a:prstGeom prst="line">
              <a:avLst/>
            </a:prstGeom>
            <a:ln cap="flat" w="25400">
              <a:solidFill>
                <a:srgbClr val="002C7C"/>
              </a:solidFill>
              <a:prstDash val="solid"/>
              <a:headEnd type="none" len="sm" w="sm"/>
              <a:tailEnd type="none" len="sm" w="sm"/>
            </a:ln>
          </p:spPr>
        </p:sp>
        <p:sp>
          <p:nvSpPr>
            <p:cNvPr name="AutoShape 22" id="22"/>
            <p:cNvSpPr/>
            <p:nvPr/>
          </p:nvSpPr>
          <p:spPr>
            <a:xfrm>
              <a:off x="784834" y="1284809"/>
              <a:ext cx="11451132" cy="0"/>
            </a:xfrm>
            <a:prstGeom prst="line">
              <a:avLst/>
            </a:prstGeom>
            <a:ln cap="flat" w="25400">
              <a:solidFill>
                <a:srgbClr val="002C7C"/>
              </a:solidFill>
              <a:prstDash val="solid"/>
              <a:headEnd type="none" len="sm" w="sm"/>
              <a:tailEnd type="none" len="sm" w="sm"/>
            </a:ln>
          </p:spPr>
        </p:sp>
        <p:sp>
          <p:nvSpPr>
            <p:cNvPr name="AutoShape 23" id="23"/>
            <p:cNvSpPr/>
            <p:nvPr/>
          </p:nvSpPr>
          <p:spPr>
            <a:xfrm flipV="true">
              <a:off x="7218291" y="573427"/>
              <a:ext cx="0" cy="8615738"/>
            </a:xfrm>
            <a:prstGeom prst="line">
              <a:avLst/>
            </a:prstGeom>
            <a:ln cap="flat" w="25400">
              <a:solidFill>
                <a:srgbClr val="002C7C"/>
              </a:solidFill>
              <a:prstDash val="solid"/>
              <a:headEnd type="none" len="sm" w="sm"/>
              <a:tailEnd type="none" len="sm" w="sm"/>
            </a:ln>
          </p:spPr>
        </p:sp>
        <p:sp>
          <p:nvSpPr>
            <p:cNvPr name="AutoShape 24" id="24"/>
            <p:cNvSpPr/>
            <p:nvPr/>
          </p:nvSpPr>
          <p:spPr>
            <a:xfrm flipV="true">
              <a:off x="7928573" y="573427"/>
              <a:ext cx="0" cy="8615738"/>
            </a:xfrm>
            <a:prstGeom prst="line">
              <a:avLst/>
            </a:prstGeom>
            <a:ln cap="flat" w="25400">
              <a:solidFill>
                <a:srgbClr val="002C7C"/>
              </a:solidFill>
              <a:prstDash val="solid"/>
              <a:headEnd type="none" len="sm" w="sm"/>
              <a:tailEnd type="none" len="sm" w="sm"/>
            </a:ln>
          </p:spPr>
        </p:sp>
        <p:sp>
          <p:nvSpPr>
            <p:cNvPr name="AutoShape 25" id="25"/>
            <p:cNvSpPr/>
            <p:nvPr/>
          </p:nvSpPr>
          <p:spPr>
            <a:xfrm flipV="true">
              <a:off x="8638856" y="573427"/>
              <a:ext cx="0" cy="8615738"/>
            </a:xfrm>
            <a:prstGeom prst="line">
              <a:avLst/>
            </a:prstGeom>
            <a:ln cap="flat" w="25400">
              <a:solidFill>
                <a:srgbClr val="002C7C"/>
              </a:solidFill>
              <a:prstDash val="solid"/>
              <a:headEnd type="none" len="sm" w="sm"/>
              <a:tailEnd type="none" len="sm" w="sm"/>
            </a:ln>
          </p:spPr>
        </p:sp>
        <p:sp>
          <p:nvSpPr>
            <p:cNvPr name="AutoShape 26" id="26"/>
            <p:cNvSpPr/>
            <p:nvPr/>
          </p:nvSpPr>
          <p:spPr>
            <a:xfrm flipV="true">
              <a:off x="3600916" y="573427"/>
              <a:ext cx="0" cy="8615738"/>
            </a:xfrm>
            <a:prstGeom prst="line">
              <a:avLst/>
            </a:prstGeom>
            <a:ln cap="flat" w="25400">
              <a:solidFill>
                <a:srgbClr val="002C7C"/>
              </a:solidFill>
              <a:prstDash val="solid"/>
              <a:headEnd type="none" len="sm" w="sm"/>
              <a:tailEnd type="none" len="sm" w="sm"/>
            </a:ln>
          </p:spPr>
        </p:sp>
        <p:sp>
          <p:nvSpPr>
            <p:cNvPr name="AutoShape 27" id="27"/>
            <p:cNvSpPr/>
            <p:nvPr/>
          </p:nvSpPr>
          <p:spPr>
            <a:xfrm flipV="true">
              <a:off x="4311199" y="573427"/>
              <a:ext cx="0" cy="8615738"/>
            </a:xfrm>
            <a:prstGeom prst="line">
              <a:avLst/>
            </a:prstGeom>
            <a:ln cap="flat" w="25400">
              <a:solidFill>
                <a:srgbClr val="002C7C"/>
              </a:solidFill>
              <a:prstDash val="solid"/>
              <a:headEnd type="none" len="sm" w="sm"/>
              <a:tailEnd type="none" len="sm" w="sm"/>
            </a:ln>
          </p:spPr>
        </p:sp>
        <p:sp>
          <p:nvSpPr>
            <p:cNvPr name="AutoShape 28" id="28"/>
            <p:cNvSpPr/>
            <p:nvPr/>
          </p:nvSpPr>
          <p:spPr>
            <a:xfrm flipV="true">
              <a:off x="5021482" y="573427"/>
              <a:ext cx="0" cy="8615738"/>
            </a:xfrm>
            <a:prstGeom prst="line">
              <a:avLst/>
            </a:prstGeom>
            <a:ln cap="flat" w="25400">
              <a:solidFill>
                <a:srgbClr val="002C7C"/>
              </a:solidFill>
              <a:prstDash val="solid"/>
              <a:headEnd type="none" len="sm" w="sm"/>
              <a:tailEnd type="none" len="sm" w="sm"/>
            </a:ln>
          </p:spPr>
        </p:sp>
        <p:sp>
          <p:nvSpPr>
            <p:cNvPr name="AutoShape 29" id="29"/>
            <p:cNvSpPr/>
            <p:nvPr/>
          </p:nvSpPr>
          <p:spPr>
            <a:xfrm flipV="true">
              <a:off x="5731765" y="573427"/>
              <a:ext cx="0" cy="8615738"/>
            </a:xfrm>
            <a:prstGeom prst="line">
              <a:avLst/>
            </a:prstGeom>
            <a:ln cap="flat" w="25400">
              <a:solidFill>
                <a:srgbClr val="002C7C"/>
              </a:solidFill>
              <a:prstDash val="solid"/>
              <a:headEnd type="none" len="sm" w="sm"/>
              <a:tailEnd type="none" len="sm" w="sm"/>
            </a:ln>
          </p:spPr>
        </p:sp>
        <p:sp>
          <p:nvSpPr>
            <p:cNvPr name="AutoShape 30" id="30"/>
            <p:cNvSpPr/>
            <p:nvPr/>
          </p:nvSpPr>
          <p:spPr>
            <a:xfrm flipV="true">
              <a:off x="9349139" y="573427"/>
              <a:ext cx="0" cy="8615738"/>
            </a:xfrm>
            <a:prstGeom prst="line">
              <a:avLst/>
            </a:prstGeom>
            <a:ln cap="flat" w="25400">
              <a:solidFill>
                <a:srgbClr val="002C7C"/>
              </a:solidFill>
              <a:prstDash val="solid"/>
              <a:headEnd type="none" len="sm" w="sm"/>
              <a:tailEnd type="none" len="sm" w="sm"/>
            </a:ln>
          </p:spPr>
        </p:sp>
        <p:sp>
          <p:nvSpPr>
            <p:cNvPr name="AutoShape 31" id="31"/>
            <p:cNvSpPr/>
            <p:nvPr/>
          </p:nvSpPr>
          <p:spPr>
            <a:xfrm flipV="true">
              <a:off x="10059422" y="573427"/>
              <a:ext cx="0" cy="8615738"/>
            </a:xfrm>
            <a:prstGeom prst="line">
              <a:avLst/>
            </a:prstGeom>
            <a:ln cap="flat" w="25400">
              <a:solidFill>
                <a:srgbClr val="002C7C"/>
              </a:solidFill>
              <a:prstDash val="solid"/>
              <a:headEnd type="none" len="sm" w="sm"/>
              <a:tailEnd type="none" len="sm" w="sm"/>
            </a:ln>
          </p:spPr>
        </p:sp>
        <p:sp>
          <p:nvSpPr>
            <p:cNvPr name="AutoShape 32" id="32"/>
            <p:cNvSpPr/>
            <p:nvPr/>
          </p:nvSpPr>
          <p:spPr>
            <a:xfrm flipV="true">
              <a:off x="2890634" y="573427"/>
              <a:ext cx="0" cy="8615738"/>
            </a:xfrm>
            <a:prstGeom prst="line">
              <a:avLst/>
            </a:prstGeom>
            <a:ln cap="flat" w="25400">
              <a:solidFill>
                <a:srgbClr val="002C7C"/>
              </a:solidFill>
              <a:prstDash val="solid"/>
              <a:headEnd type="none" len="sm" w="sm"/>
              <a:tailEnd type="none" len="sm" w="sm"/>
            </a:ln>
          </p:spPr>
        </p:sp>
        <p:sp>
          <p:nvSpPr>
            <p:cNvPr name="AutoShape 33" id="33"/>
            <p:cNvSpPr/>
            <p:nvPr/>
          </p:nvSpPr>
          <p:spPr>
            <a:xfrm flipV="true">
              <a:off x="6475028" y="0"/>
              <a:ext cx="0" cy="9762592"/>
            </a:xfrm>
            <a:prstGeom prst="line">
              <a:avLst/>
            </a:prstGeom>
            <a:ln cap="flat" w="88900">
              <a:solidFill>
                <a:srgbClr val="002C7C"/>
              </a:solidFill>
              <a:prstDash val="solid"/>
              <a:headEnd type="arrow" len="sm" w="med"/>
              <a:tailEnd type="arrow" len="sm" w="med"/>
            </a:ln>
          </p:spPr>
        </p:sp>
        <p:sp>
          <p:nvSpPr>
            <p:cNvPr name="AutoShape 34" id="34"/>
            <p:cNvSpPr/>
            <p:nvPr/>
          </p:nvSpPr>
          <p:spPr>
            <a:xfrm flipH="true">
              <a:off x="0" y="4874700"/>
              <a:ext cx="13020800" cy="0"/>
            </a:xfrm>
            <a:prstGeom prst="line">
              <a:avLst/>
            </a:prstGeom>
            <a:ln cap="flat" w="76200">
              <a:solidFill>
                <a:srgbClr val="002C7C"/>
              </a:solidFill>
              <a:prstDash val="solid"/>
              <a:headEnd type="arrow" len="sm" w="med"/>
              <a:tailEnd type="arrow" len="sm" w="med"/>
            </a:ln>
          </p:spPr>
        </p:sp>
        <p:sp>
          <p:nvSpPr>
            <p:cNvPr name="AutoShape 35" id="35"/>
            <p:cNvSpPr/>
            <p:nvPr/>
          </p:nvSpPr>
          <p:spPr>
            <a:xfrm flipV="true">
              <a:off x="10770197" y="588335"/>
              <a:ext cx="0" cy="8615738"/>
            </a:xfrm>
            <a:prstGeom prst="line">
              <a:avLst/>
            </a:prstGeom>
            <a:ln cap="flat" w="25400">
              <a:solidFill>
                <a:srgbClr val="002C7C"/>
              </a:solidFill>
              <a:prstDash val="solid"/>
              <a:headEnd type="none" len="sm" w="sm"/>
              <a:tailEnd type="none" len="sm" w="sm"/>
            </a:ln>
          </p:spPr>
        </p:sp>
        <p:sp>
          <p:nvSpPr>
            <p:cNvPr name="AutoShape 36" id="36"/>
            <p:cNvSpPr/>
            <p:nvPr/>
          </p:nvSpPr>
          <p:spPr>
            <a:xfrm flipV="true">
              <a:off x="1486230" y="566831"/>
              <a:ext cx="0" cy="8615738"/>
            </a:xfrm>
            <a:prstGeom prst="line">
              <a:avLst/>
            </a:prstGeom>
            <a:ln cap="flat" w="25400">
              <a:solidFill>
                <a:srgbClr val="002C7C"/>
              </a:solidFill>
              <a:prstDash val="solid"/>
              <a:headEnd type="none" len="sm" w="sm"/>
              <a:tailEnd type="none" len="sm" w="sm"/>
            </a:ln>
          </p:spPr>
        </p:sp>
        <p:sp>
          <p:nvSpPr>
            <p:cNvPr name="AutoShape 37" id="37"/>
            <p:cNvSpPr/>
            <p:nvPr/>
          </p:nvSpPr>
          <p:spPr>
            <a:xfrm flipV="true">
              <a:off x="2196513" y="566831"/>
              <a:ext cx="0" cy="8615738"/>
            </a:xfrm>
            <a:prstGeom prst="line">
              <a:avLst/>
            </a:prstGeom>
            <a:ln cap="flat" w="25400">
              <a:solidFill>
                <a:srgbClr val="002C7C"/>
              </a:solidFill>
              <a:prstDash val="solid"/>
              <a:headEnd type="none" len="sm" w="sm"/>
              <a:tailEnd type="none" len="sm" w="sm"/>
            </a:ln>
          </p:spPr>
        </p:sp>
        <p:sp>
          <p:nvSpPr>
            <p:cNvPr name="AutoShape 38" id="38"/>
            <p:cNvSpPr/>
            <p:nvPr/>
          </p:nvSpPr>
          <p:spPr>
            <a:xfrm flipV="true">
              <a:off x="11455505" y="588335"/>
              <a:ext cx="0" cy="8615738"/>
            </a:xfrm>
            <a:prstGeom prst="line">
              <a:avLst/>
            </a:prstGeom>
            <a:ln cap="flat" w="25400">
              <a:solidFill>
                <a:srgbClr val="002C7C"/>
              </a:solidFill>
              <a:prstDash val="solid"/>
              <a:headEnd type="none" len="sm" w="sm"/>
              <a:tailEnd type="none" len="sm" w="sm"/>
            </a:ln>
          </p:spPr>
        </p:sp>
        <p:sp>
          <p:nvSpPr>
            <p:cNvPr name="AutoShape 39" id="39"/>
            <p:cNvSpPr/>
            <p:nvPr/>
          </p:nvSpPr>
          <p:spPr>
            <a:xfrm flipV="true">
              <a:off x="10745222" y="588335"/>
              <a:ext cx="0" cy="8615738"/>
            </a:xfrm>
            <a:prstGeom prst="line">
              <a:avLst/>
            </a:prstGeom>
            <a:ln cap="flat" w="25400">
              <a:solidFill>
                <a:srgbClr val="002C7C"/>
              </a:solidFill>
              <a:prstDash val="solid"/>
              <a:headEnd type="none" len="sm" w="sm"/>
              <a:tailEnd type="none" len="sm" w="sm"/>
            </a:ln>
          </p:spPr>
        </p:sp>
      </p:grpSp>
      <p:sp>
        <p:nvSpPr>
          <p:cNvPr name="AutoShape 40" id="40"/>
          <p:cNvSpPr/>
          <p:nvPr/>
        </p:nvSpPr>
        <p:spPr>
          <a:xfrm flipH="true">
            <a:off x="11536864" y="2916835"/>
            <a:ext cx="3149994" cy="6341465"/>
          </a:xfrm>
          <a:prstGeom prst="line">
            <a:avLst/>
          </a:prstGeom>
          <a:ln cap="flat" w="123825">
            <a:solidFill>
              <a:srgbClr val="FF9C00"/>
            </a:solidFill>
            <a:prstDash val="solid"/>
            <a:headEnd type="arrow" len="sm" w="med"/>
            <a:tailEnd type="arrow" len="sm" w="med"/>
          </a:ln>
        </p:spPr>
      </p:sp>
      <p:grpSp>
        <p:nvGrpSpPr>
          <p:cNvPr name="Group 41" id="41"/>
          <p:cNvGrpSpPr/>
          <p:nvPr/>
        </p:nvGrpSpPr>
        <p:grpSpPr>
          <a:xfrm rot="0">
            <a:off x="13118180" y="5621979"/>
            <a:ext cx="300273" cy="300273"/>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3" id="4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4" id="44"/>
          <p:cNvGrpSpPr/>
          <p:nvPr/>
        </p:nvGrpSpPr>
        <p:grpSpPr>
          <a:xfrm rot="0">
            <a:off x="13678886" y="4524542"/>
            <a:ext cx="300273" cy="300273"/>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6" id="4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47" id="47"/>
          <p:cNvGrpSpPr/>
          <p:nvPr/>
        </p:nvGrpSpPr>
        <p:grpSpPr>
          <a:xfrm rot="0">
            <a:off x="14216156" y="3477997"/>
            <a:ext cx="300273" cy="300273"/>
            <a:chOff x="0" y="0"/>
            <a:chExt cx="812800" cy="812800"/>
          </a:xfrm>
        </p:grpSpPr>
        <p:sp>
          <p:nvSpPr>
            <p:cNvPr name="Freeform 48"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49" id="4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AutoShape 50" id="50"/>
          <p:cNvSpPr/>
          <p:nvPr/>
        </p:nvSpPr>
        <p:spPr>
          <a:xfrm>
            <a:off x="11339603" y="5621979"/>
            <a:ext cx="3874519" cy="3636321"/>
          </a:xfrm>
          <a:prstGeom prst="line">
            <a:avLst/>
          </a:prstGeom>
          <a:ln cap="flat" w="123825">
            <a:solidFill>
              <a:srgbClr val="FF9C00"/>
            </a:solidFill>
            <a:prstDash val="solid"/>
            <a:headEnd type="arrow" len="sm" w="med"/>
            <a:tailEnd type="arrow" len="sm" w="med"/>
          </a:ln>
        </p:spPr>
      </p:sp>
      <p:grpSp>
        <p:nvGrpSpPr>
          <p:cNvPr name="Group 51" id="51"/>
          <p:cNvGrpSpPr/>
          <p:nvPr/>
        </p:nvGrpSpPr>
        <p:grpSpPr>
          <a:xfrm rot="0">
            <a:off x="13118180" y="7262387"/>
            <a:ext cx="300273" cy="300273"/>
            <a:chOff x="0" y="0"/>
            <a:chExt cx="812800" cy="812800"/>
          </a:xfrm>
        </p:grpSpPr>
        <p:sp>
          <p:nvSpPr>
            <p:cNvPr name="Freeform 52" id="5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53" id="53"/>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4" id="54"/>
          <p:cNvGrpSpPr/>
          <p:nvPr/>
        </p:nvGrpSpPr>
        <p:grpSpPr>
          <a:xfrm rot="0">
            <a:off x="13672380" y="7783916"/>
            <a:ext cx="300273" cy="300273"/>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56" id="56"/>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7" id="57"/>
          <p:cNvGrpSpPr/>
          <p:nvPr/>
        </p:nvGrpSpPr>
        <p:grpSpPr>
          <a:xfrm rot="0">
            <a:off x="14216156" y="8333376"/>
            <a:ext cx="300273" cy="300273"/>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58B0"/>
            </a:solidFill>
          </p:spPr>
        </p:sp>
        <p:sp>
          <p:nvSpPr>
            <p:cNvPr name="TextBox 59" id="59"/>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60" id="60"/>
          <p:cNvGrpSpPr/>
          <p:nvPr/>
        </p:nvGrpSpPr>
        <p:grpSpPr>
          <a:xfrm rot="0">
            <a:off x="12513605" y="6685660"/>
            <a:ext cx="420532" cy="420532"/>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62" id="62"/>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63" id="63"/>
          <p:cNvSpPr txBox="true"/>
          <p:nvPr/>
        </p:nvSpPr>
        <p:spPr>
          <a:xfrm rot="0">
            <a:off x="809158" y="4101251"/>
            <a:ext cx="6675755" cy="2004376"/>
          </a:xfrm>
          <a:prstGeom prst="rect">
            <a:avLst/>
          </a:prstGeom>
        </p:spPr>
        <p:txBody>
          <a:bodyPr anchor="t" rtlCol="false" tIns="0" lIns="0" bIns="0" rIns="0">
            <a:spAutoFit/>
          </a:bodyPr>
          <a:lstStyle/>
          <a:p>
            <a:pPr algn="l">
              <a:lnSpc>
                <a:spcPts val="5077"/>
              </a:lnSpc>
            </a:pPr>
            <a:r>
              <a:rPr lang="en-US" b="true" sz="5288">
                <a:solidFill>
                  <a:srgbClr val="FFFFFF"/>
                </a:solidFill>
                <a:latin typeface="Poppins Bold"/>
                <a:ea typeface="Poppins Bold"/>
                <a:cs typeface="Poppins Bold"/>
                <a:sym typeface="Poppins Bold"/>
              </a:rPr>
              <a:t>Solve the system of linear equations by graphing:</a:t>
            </a:r>
          </a:p>
        </p:txBody>
      </p:sp>
      <p:sp>
        <p:nvSpPr>
          <p:cNvPr name="TextBox 64" id="64"/>
          <p:cNvSpPr txBox="true"/>
          <p:nvPr/>
        </p:nvSpPr>
        <p:spPr>
          <a:xfrm rot="0">
            <a:off x="809158" y="2895913"/>
            <a:ext cx="5493792" cy="1077785"/>
          </a:xfrm>
          <a:prstGeom prst="rect">
            <a:avLst/>
          </a:prstGeom>
        </p:spPr>
        <p:txBody>
          <a:bodyPr anchor="t" rtlCol="false" tIns="0" lIns="0" bIns="0" rIns="0">
            <a:spAutoFit/>
          </a:bodyPr>
          <a:lstStyle/>
          <a:p>
            <a:pPr algn="l">
              <a:lnSpc>
                <a:spcPts val="7905"/>
              </a:lnSpc>
            </a:pPr>
            <a:r>
              <a:rPr lang="en-US" sz="8409">
                <a:solidFill>
                  <a:srgbClr val="FFFFFF"/>
                </a:solidFill>
                <a:latin typeface="Lovelo"/>
                <a:ea typeface="Lovelo"/>
                <a:cs typeface="Lovelo"/>
                <a:sym typeface="Lovelo"/>
              </a:rPr>
              <a:t>EXAMPLE 1</a:t>
            </a:r>
          </a:p>
        </p:txBody>
      </p:sp>
      <p:sp>
        <p:nvSpPr>
          <p:cNvPr name="TextBox 65" id="65"/>
          <p:cNvSpPr txBox="true"/>
          <p:nvPr/>
        </p:nvSpPr>
        <p:spPr>
          <a:xfrm rot="0">
            <a:off x="2062549" y="6771385"/>
            <a:ext cx="4735623"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2x + 1</a:t>
            </a:r>
          </a:p>
        </p:txBody>
      </p:sp>
      <p:sp>
        <p:nvSpPr>
          <p:cNvPr name="TextBox 66" id="66"/>
          <p:cNvSpPr txBox="true"/>
          <p:nvPr/>
        </p:nvSpPr>
        <p:spPr>
          <a:xfrm rot="0">
            <a:off x="1312024" y="7174929"/>
            <a:ext cx="574393" cy="1560641"/>
          </a:xfrm>
          <a:prstGeom prst="rect">
            <a:avLst/>
          </a:prstGeom>
        </p:spPr>
        <p:txBody>
          <a:bodyPr anchor="t" rtlCol="false" tIns="0" lIns="0" bIns="0" rIns="0">
            <a:spAutoFit/>
          </a:bodyPr>
          <a:lstStyle/>
          <a:p>
            <a:pPr algn="l">
              <a:lnSpc>
                <a:spcPts val="10811"/>
              </a:lnSpc>
            </a:pPr>
            <a:r>
              <a:rPr lang="en-US" sz="11261">
                <a:solidFill>
                  <a:srgbClr val="042560"/>
                </a:solidFill>
                <a:latin typeface="Poppins"/>
                <a:ea typeface="Poppins"/>
                <a:cs typeface="Poppins"/>
                <a:sym typeface="Poppins"/>
              </a:rPr>
              <a:t>{</a:t>
            </a:r>
          </a:p>
        </p:txBody>
      </p:sp>
      <p:sp>
        <p:nvSpPr>
          <p:cNvPr name="TextBox 67" id="67"/>
          <p:cNvSpPr txBox="true"/>
          <p:nvPr/>
        </p:nvSpPr>
        <p:spPr>
          <a:xfrm rot="0">
            <a:off x="8412348" y="428299"/>
            <a:ext cx="7711067" cy="723183"/>
          </a:xfrm>
          <a:prstGeom prst="rect">
            <a:avLst/>
          </a:prstGeom>
        </p:spPr>
        <p:txBody>
          <a:bodyPr anchor="t" rtlCol="false" tIns="0" lIns="0" bIns="0" rIns="0">
            <a:spAutoFit/>
          </a:bodyPr>
          <a:lstStyle/>
          <a:p>
            <a:pPr algn="l">
              <a:lnSpc>
                <a:spcPts val="5077"/>
              </a:lnSpc>
            </a:pPr>
            <a:r>
              <a:rPr lang="en-US" sz="5288" b="true">
                <a:solidFill>
                  <a:srgbClr val="042560"/>
                </a:solidFill>
                <a:latin typeface="Poppins Bold"/>
                <a:ea typeface="Poppins Bold"/>
                <a:cs typeface="Poppins Bold"/>
                <a:sym typeface="Poppins Bold"/>
              </a:rPr>
              <a:t>Find the intersection.</a:t>
            </a:r>
          </a:p>
        </p:txBody>
      </p:sp>
      <p:sp>
        <p:nvSpPr>
          <p:cNvPr name="TextBox 68" id="68"/>
          <p:cNvSpPr txBox="true"/>
          <p:nvPr/>
        </p:nvSpPr>
        <p:spPr>
          <a:xfrm rot="0">
            <a:off x="2062549" y="7850643"/>
            <a:ext cx="4240402" cy="993533"/>
          </a:xfrm>
          <a:prstGeom prst="rect">
            <a:avLst/>
          </a:prstGeom>
        </p:spPr>
        <p:txBody>
          <a:bodyPr anchor="t" rtlCol="false" tIns="0" lIns="0" bIns="0" rIns="0">
            <a:spAutoFit/>
          </a:bodyPr>
          <a:lstStyle/>
          <a:p>
            <a:pPr algn="l">
              <a:lnSpc>
                <a:spcPts val="6841"/>
              </a:lnSpc>
            </a:pPr>
            <a:r>
              <a:rPr lang="en-US" b="true" sz="7126">
                <a:solidFill>
                  <a:srgbClr val="042560"/>
                </a:solidFill>
                <a:latin typeface="Poppins Bold"/>
                <a:ea typeface="Poppins Bold"/>
                <a:cs typeface="Poppins Bold"/>
                <a:sym typeface="Poppins Bold"/>
              </a:rPr>
              <a:t>y = -x - 2</a:t>
            </a:r>
          </a:p>
        </p:txBody>
      </p:sp>
      <p:sp>
        <p:nvSpPr>
          <p:cNvPr name="TextBox 69" id="69"/>
          <p:cNvSpPr txBox="true"/>
          <p:nvPr/>
        </p:nvSpPr>
        <p:spPr>
          <a:xfrm rot="0">
            <a:off x="10538050" y="6773681"/>
            <a:ext cx="1673527" cy="423623"/>
          </a:xfrm>
          <a:prstGeom prst="rect">
            <a:avLst/>
          </a:prstGeom>
        </p:spPr>
        <p:txBody>
          <a:bodyPr anchor="t" rtlCol="false" tIns="0" lIns="0" bIns="0" rIns="0">
            <a:spAutoFit/>
          </a:bodyPr>
          <a:lstStyle/>
          <a:p>
            <a:pPr algn="l" marL="0" indent="0" lvl="1">
              <a:lnSpc>
                <a:spcPts val="3089"/>
              </a:lnSpc>
              <a:spcBef>
                <a:spcPct val="0"/>
              </a:spcBef>
            </a:pPr>
            <a:r>
              <a:rPr lang="en-US" b="true" sz="3152" strike="noStrike" u="none">
                <a:solidFill>
                  <a:srgbClr val="042560"/>
                </a:solidFill>
                <a:latin typeface="Poppins Bold"/>
                <a:ea typeface="Poppins Bold"/>
                <a:cs typeface="Poppins Bold"/>
                <a:sym typeface="Poppins Bold"/>
              </a:rPr>
              <a:t>(-1, -1</a:t>
            </a:r>
            <a:r>
              <a:rPr lang="en-US" b="true" sz="3152" strike="noStrike" u="none">
                <a:solidFill>
                  <a:srgbClr val="042560"/>
                </a:solidFill>
                <a:latin typeface="Poppins Bold"/>
                <a:ea typeface="Poppins Bold"/>
                <a:cs typeface="Poppins Bold"/>
                <a:sym typeface="Poppins Bold"/>
              </a:rPr>
              <a:t>)</a:t>
            </a:r>
          </a:p>
        </p:txBody>
      </p:sp>
      <p:sp>
        <p:nvSpPr>
          <p:cNvPr name="TextBox 70" id="70"/>
          <p:cNvSpPr txBox="true"/>
          <p:nvPr/>
        </p:nvSpPr>
        <p:spPr>
          <a:xfrm rot="0">
            <a:off x="8412348" y="1338462"/>
            <a:ext cx="8846952" cy="801154"/>
          </a:xfrm>
          <a:prstGeom prst="rect">
            <a:avLst/>
          </a:prstGeom>
        </p:spPr>
        <p:txBody>
          <a:bodyPr anchor="t" rtlCol="false" tIns="0" lIns="0" bIns="0" rIns="0">
            <a:spAutoFit/>
          </a:bodyPr>
          <a:lstStyle/>
          <a:p>
            <a:pPr algn="l">
              <a:lnSpc>
                <a:spcPts val="5572"/>
              </a:lnSpc>
            </a:pPr>
            <a:r>
              <a:rPr lang="en-US" b="true" sz="5804">
                <a:solidFill>
                  <a:srgbClr val="1B93B0"/>
                </a:solidFill>
                <a:latin typeface="Poppins Bold"/>
                <a:ea typeface="Poppins Bold"/>
                <a:cs typeface="Poppins Bold"/>
                <a:sym typeface="Poppins Bold"/>
              </a:rPr>
              <a:t>The solution is (-1,-1).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470358" y="3005970"/>
            <a:ext cx="7433097" cy="3566612"/>
            <a:chOff x="0" y="0"/>
            <a:chExt cx="761393" cy="365338"/>
          </a:xfrm>
        </p:grpSpPr>
        <p:sp>
          <p:nvSpPr>
            <p:cNvPr name="Freeform 12" id="12"/>
            <p:cNvSpPr/>
            <p:nvPr/>
          </p:nvSpPr>
          <p:spPr>
            <a:xfrm flipH="false" flipV="false" rot="0">
              <a:off x="0" y="0"/>
              <a:ext cx="761393" cy="365338"/>
            </a:xfrm>
            <a:custGeom>
              <a:avLst/>
              <a:gdLst/>
              <a:ahLst/>
              <a:cxnLst/>
              <a:rect r="r" b="b" t="t" l="l"/>
              <a:pathLst>
                <a:path h="365338" w="761393">
                  <a:moveTo>
                    <a:pt x="40620" y="0"/>
                  </a:moveTo>
                  <a:lnTo>
                    <a:pt x="720772" y="0"/>
                  </a:lnTo>
                  <a:cubicBezTo>
                    <a:pt x="743206" y="0"/>
                    <a:pt x="761393" y="18186"/>
                    <a:pt x="761393" y="40620"/>
                  </a:cubicBezTo>
                  <a:lnTo>
                    <a:pt x="761393" y="324718"/>
                  </a:lnTo>
                  <a:cubicBezTo>
                    <a:pt x="761393" y="347152"/>
                    <a:pt x="743206" y="365338"/>
                    <a:pt x="720772" y="365338"/>
                  </a:cubicBezTo>
                  <a:lnTo>
                    <a:pt x="40620" y="365338"/>
                  </a:lnTo>
                  <a:cubicBezTo>
                    <a:pt x="18186" y="365338"/>
                    <a:pt x="0" y="347152"/>
                    <a:pt x="0" y="324718"/>
                  </a:cubicBezTo>
                  <a:lnTo>
                    <a:pt x="0" y="40620"/>
                  </a:lnTo>
                  <a:cubicBezTo>
                    <a:pt x="0" y="18186"/>
                    <a:pt x="18186" y="0"/>
                    <a:pt x="40620" y="0"/>
                  </a:cubicBezTo>
                  <a:close/>
                </a:path>
              </a:pathLst>
            </a:custGeom>
            <a:solidFill>
              <a:srgbClr val="F8F3E6"/>
            </a:solidFill>
            <a:ln cap="rnd">
              <a:noFill/>
              <a:prstDash val="solid"/>
              <a:round/>
            </a:ln>
          </p:spPr>
        </p:sp>
        <p:sp>
          <p:nvSpPr>
            <p:cNvPr name="TextBox 13" id="13"/>
            <p:cNvSpPr txBox="true"/>
            <p:nvPr/>
          </p:nvSpPr>
          <p:spPr>
            <a:xfrm>
              <a:off x="0" y="-38100"/>
              <a:ext cx="761393" cy="40343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4" id="14"/>
          <p:cNvGrpSpPr/>
          <p:nvPr/>
        </p:nvGrpSpPr>
        <p:grpSpPr>
          <a:xfrm rot="0">
            <a:off x="8591082" y="3005970"/>
            <a:ext cx="9226560" cy="3494667"/>
            <a:chOff x="0" y="0"/>
            <a:chExt cx="945102" cy="357968"/>
          </a:xfrm>
        </p:grpSpPr>
        <p:sp>
          <p:nvSpPr>
            <p:cNvPr name="Freeform 15" id="15"/>
            <p:cNvSpPr/>
            <p:nvPr/>
          </p:nvSpPr>
          <p:spPr>
            <a:xfrm flipH="false" flipV="false" rot="0">
              <a:off x="0" y="0"/>
              <a:ext cx="945102" cy="357968"/>
            </a:xfrm>
            <a:custGeom>
              <a:avLst/>
              <a:gdLst/>
              <a:ahLst/>
              <a:cxnLst/>
              <a:rect r="r" b="b" t="t" l="l"/>
              <a:pathLst>
                <a:path h="357968" w="945102">
                  <a:moveTo>
                    <a:pt x="32725" y="0"/>
                  </a:moveTo>
                  <a:lnTo>
                    <a:pt x="912378" y="0"/>
                  </a:lnTo>
                  <a:cubicBezTo>
                    <a:pt x="921057" y="0"/>
                    <a:pt x="929380" y="3448"/>
                    <a:pt x="935517" y="9585"/>
                  </a:cubicBezTo>
                  <a:cubicBezTo>
                    <a:pt x="941654" y="15722"/>
                    <a:pt x="945102" y="24045"/>
                    <a:pt x="945102" y="32725"/>
                  </a:cubicBezTo>
                  <a:lnTo>
                    <a:pt x="945102" y="325244"/>
                  </a:lnTo>
                  <a:cubicBezTo>
                    <a:pt x="945102" y="333923"/>
                    <a:pt x="941654" y="342247"/>
                    <a:pt x="935517" y="348384"/>
                  </a:cubicBezTo>
                  <a:cubicBezTo>
                    <a:pt x="929380" y="354521"/>
                    <a:pt x="921057" y="357968"/>
                    <a:pt x="912378" y="357968"/>
                  </a:cubicBezTo>
                  <a:lnTo>
                    <a:pt x="32725" y="357968"/>
                  </a:lnTo>
                  <a:cubicBezTo>
                    <a:pt x="24045" y="357968"/>
                    <a:pt x="15722" y="354521"/>
                    <a:pt x="9585" y="348384"/>
                  </a:cubicBezTo>
                  <a:cubicBezTo>
                    <a:pt x="3448" y="342247"/>
                    <a:pt x="0" y="333923"/>
                    <a:pt x="0" y="325244"/>
                  </a:cubicBezTo>
                  <a:lnTo>
                    <a:pt x="0" y="32725"/>
                  </a:lnTo>
                  <a:cubicBezTo>
                    <a:pt x="0" y="24045"/>
                    <a:pt x="3448" y="15722"/>
                    <a:pt x="9585" y="9585"/>
                  </a:cubicBezTo>
                  <a:cubicBezTo>
                    <a:pt x="15722" y="3448"/>
                    <a:pt x="24045" y="0"/>
                    <a:pt x="32725" y="0"/>
                  </a:cubicBezTo>
                  <a:close/>
                </a:path>
              </a:pathLst>
            </a:custGeom>
            <a:solidFill>
              <a:srgbClr val="F8F3E6"/>
            </a:solidFill>
            <a:ln cap="rnd">
              <a:noFill/>
              <a:prstDash val="solid"/>
              <a:round/>
            </a:ln>
          </p:spPr>
        </p:sp>
        <p:sp>
          <p:nvSpPr>
            <p:cNvPr name="TextBox 16" id="16"/>
            <p:cNvSpPr txBox="true"/>
            <p:nvPr/>
          </p:nvSpPr>
          <p:spPr>
            <a:xfrm>
              <a:off x="0" y="-38100"/>
              <a:ext cx="945102" cy="396068"/>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7" id="17"/>
          <p:cNvSpPr txBox="true"/>
          <p:nvPr/>
        </p:nvSpPr>
        <p:spPr>
          <a:xfrm rot="0">
            <a:off x="707656" y="3248147"/>
            <a:ext cx="7195799" cy="2562904"/>
          </a:xfrm>
          <a:prstGeom prst="rect">
            <a:avLst/>
          </a:prstGeom>
        </p:spPr>
        <p:txBody>
          <a:bodyPr anchor="t" rtlCol="false" tIns="0" lIns="0" bIns="0" rIns="0">
            <a:spAutoFit/>
          </a:bodyPr>
          <a:lstStyle/>
          <a:p>
            <a:pPr algn="l" marL="0" indent="0" lvl="0">
              <a:lnSpc>
                <a:spcPts val="3364"/>
              </a:lnSpc>
              <a:spcBef>
                <a:spcPct val="0"/>
              </a:spcBef>
            </a:pPr>
            <a:r>
              <a:rPr lang="en-US" b="true" sz="3433">
                <a:solidFill>
                  <a:srgbClr val="042560"/>
                </a:solidFill>
                <a:latin typeface="Poppins Bold"/>
                <a:ea typeface="Poppins Bold"/>
                <a:cs typeface="Poppins Bold"/>
                <a:sym typeface="Poppins Bold"/>
              </a:rPr>
              <a:t>D</a:t>
            </a:r>
            <a:r>
              <a:rPr lang="en-US" b="true" sz="3433" strike="noStrike" u="none">
                <a:solidFill>
                  <a:srgbClr val="042560"/>
                </a:solidFill>
                <a:latin typeface="Poppins Bold"/>
                <a:ea typeface="Poppins Bold"/>
                <a:cs typeface="Poppins Bold"/>
                <a:sym typeface="Poppins Bold"/>
              </a:rPr>
              <a:t>e</a:t>
            </a:r>
            <a:r>
              <a:rPr lang="en-US" b="true" sz="3433" strike="noStrike" u="none">
                <a:solidFill>
                  <a:srgbClr val="042560"/>
                </a:solidFill>
                <a:latin typeface="Poppins Bold"/>
                <a:ea typeface="Poppins Bold"/>
                <a:cs typeface="Poppins Bold"/>
                <a:sym typeface="Poppins Bold"/>
              </a:rPr>
              <a:t>fini</a:t>
            </a:r>
            <a:r>
              <a:rPr lang="en-US" b="true" sz="3433" strike="noStrike" u="none">
                <a:solidFill>
                  <a:srgbClr val="042560"/>
                </a:solidFill>
                <a:latin typeface="Poppins Bold"/>
                <a:ea typeface="Poppins Bold"/>
                <a:cs typeface="Poppins Bold"/>
                <a:sym typeface="Poppins Bold"/>
              </a:rPr>
              <a:t>t</a:t>
            </a:r>
            <a:r>
              <a:rPr lang="en-US" b="true" sz="3433" strike="noStrike" u="none">
                <a:solidFill>
                  <a:srgbClr val="042560"/>
                </a:solidFill>
                <a:latin typeface="Poppins Bold"/>
                <a:ea typeface="Poppins Bold"/>
                <a:cs typeface="Poppins Bold"/>
                <a:sym typeface="Poppins Bold"/>
              </a:rPr>
              <a:t>ion:</a:t>
            </a:r>
          </a:p>
          <a:p>
            <a:pPr algn="l" marL="0" indent="0" lvl="0">
              <a:lnSpc>
                <a:spcPts val="3364"/>
              </a:lnSpc>
              <a:spcBef>
                <a:spcPct val="0"/>
              </a:spcBef>
            </a:pPr>
          </a:p>
          <a:p>
            <a:pPr algn="l" marL="0" indent="0" lvl="0">
              <a:lnSpc>
                <a:spcPts val="3364"/>
              </a:lnSpc>
              <a:spcBef>
                <a:spcPct val="0"/>
              </a:spcBef>
            </a:pPr>
            <a:r>
              <a:rPr lang="en-US" sz="3433" strike="noStrike" u="none">
                <a:solidFill>
                  <a:srgbClr val="042560"/>
                </a:solidFill>
                <a:latin typeface="Poppins"/>
                <a:ea typeface="Poppins"/>
                <a:cs typeface="Poppins"/>
                <a:sym typeface="Poppins"/>
              </a:rPr>
              <a:t>A s</a:t>
            </a:r>
            <a:r>
              <a:rPr lang="en-US" sz="3433" strike="noStrike" u="none">
                <a:solidFill>
                  <a:srgbClr val="042560"/>
                </a:solidFill>
                <a:latin typeface="Poppins"/>
                <a:ea typeface="Poppins"/>
                <a:cs typeface="Poppins"/>
                <a:sym typeface="Poppins"/>
              </a:rPr>
              <a:t>yst</a:t>
            </a:r>
            <a:r>
              <a:rPr lang="en-US" sz="3433" strike="noStrike" u="none">
                <a:solidFill>
                  <a:srgbClr val="042560"/>
                </a:solidFill>
                <a:latin typeface="Poppins"/>
                <a:ea typeface="Poppins"/>
                <a:cs typeface="Poppins"/>
                <a:sym typeface="Poppins"/>
              </a:rPr>
              <a:t>em of </a:t>
            </a:r>
            <a:r>
              <a:rPr lang="en-US" sz="3433" strike="noStrike" u="none">
                <a:solidFill>
                  <a:srgbClr val="042560"/>
                </a:solidFill>
                <a:latin typeface="Poppins"/>
                <a:ea typeface="Poppins"/>
                <a:cs typeface="Poppins"/>
                <a:sym typeface="Poppins"/>
              </a:rPr>
              <a:t>line</a:t>
            </a:r>
            <a:r>
              <a:rPr lang="en-US" sz="3433" strike="noStrike" u="none">
                <a:solidFill>
                  <a:srgbClr val="042560"/>
                </a:solidFill>
                <a:latin typeface="Poppins"/>
                <a:ea typeface="Poppins"/>
                <a:cs typeface="Poppins"/>
                <a:sym typeface="Poppins"/>
              </a:rPr>
              <a:t>a</a:t>
            </a:r>
            <a:r>
              <a:rPr lang="en-US" sz="3433" strike="noStrike" u="none">
                <a:solidFill>
                  <a:srgbClr val="042560"/>
                </a:solidFill>
                <a:latin typeface="Poppins"/>
                <a:ea typeface="Poppins"/>
                <a:cs typeface="Poppins"/>
                <a:sym typeface="Poppins"/>
              </a:rPr>
              <a:t>r</a:t>
            </a:r>
            <a:r>
              <a:rPr lang="en-US" sz="3433" strike="noStrike" u="none">
                <a:solidFill>
                  <a:srgbClr val="042560"/>
                </a:solidFill>
                <a:latin typeface="Poppins"/>
                <a:ea typeface="Poppins"/>
                <a:cs typeface="Poppins"/>
                <a:sym typeface="Poppins"/>
              </a:rPr>
              <a:t> equation</a:t>
            </a:r>
            <a:r>
              <a:rPr lang="en-US" sz="3433" strike="noStrike" u="none">
                <a:solidFill>
                  <a:srgbClr val="042560"/>
                </a:solidFill>
                <a:latin typeface="Poppins"/>
                <a:ea typeface="Poppins"/>
                <a:cs typeface="Poppins"/>
                <a:sym typeface="Poppins"/>
              </a:rPr>
              <a:t>s consists</a:t>
            </a:r>
            <a:r>
              <a:rPr lang="en-US" sz="3433" strike="noStrike" u="none">
                <a:solidFill>
                  <a:srgbClr val="042560"/>
                </a:solidFill>
                <a:latin typeface="Poppins"/>
                <a:ea typeface="Poppins"/>
                <a:cs typeface="Poppins"/>
                <a:sym typeface="Poppins"/>
              </a:rPr>
              <a:t> of </a:t>
            </a:r>
            <a:r>
              <a:rPr lang="en-US" sz="3433" strike="noStrike" u="none">
                <a:solidFill>
                  <a:srgbClr val="042560"/>
                </a:solidFill>
                <a:latin typeface="Poppins"/>
                <a:ea typeface="Poppins"/>
                <a:cs typeface="Poppins"/>
                <a:sym typeface="Poppins"/>
              </a:rPr>
              <a:t>mult</a:t>
            </a:r>
            <a:r>
              <a:rPr lang="en-US" sz="3433" strike="noStrike" u="none">
                <a:solidFill>
                  <a:srgbClr val="042560"/>
                </a:solidFill>
                <a:latin typeface="Poppins"/>
                <a:ea typeface="Poppins"/>
                <a:cs typeface="Poppins"/>
                <a:sym typeface="Poppins"/>
              </a:rPr>
              <a:t>i</a:t>
            </a:r>
            <a:r>
              <a:rPr lang="en-US" sz="3433" strike="noStrike" u="none">
                <a:solidFill>
                  <a:srgbClr val="042560"/>
                </a:solidFill>
                <a:latin typeface="Poppins"/>
                <a:ea typeface="Poppins"/>
                <a:cs typeface="Poppins"/>
                <a:sym typeface="Poppins"/>
              </a:rPr>
              <a:t>ple equa</a:t>
            </a:r>
            <a:r>
              <a:rPr lang="en-US" sz="3433" strike="noStrike" u="none">
                <a:solidFill>
                  <a:srgbClr val="042560"/>
                </a:solidFill>
                <a:latin typeface="Poppins"/>
                <a:ea typeface="Poppins"/>
                <a:cs typeface="Poppins"/>
                <a:sym typeface="Poppins"/>
              </a:rPr>
              <a:t>tions that c</a:t>
            </a:r>
            <a:r>
              <a:rPr lang="en-US" sz="3433" strike="noStrike" u="none">
                <a:solidFill>
                  <a:srgbClr val="042560"/>
                </a:solidFill>
                <a:latin typeface="Poppins"/>
                <a:ea typeface="Poppins"/>
                <a:cs typeface="Poppins"/>
                <a:sym typeface="Poppins"/>
              </a:rPr>
              <a:t>an</a:t>
            </a:r>
            <a:r>
              <a:rPr lang="en-US" sz="3433" strike="noStrike" u="none">
                <a:solidFill>
                  <a:srgbClr val="042560"/>
                </a:solidFill>
                <a:latin typeface="Poppins"/>
                <a:ea typeface="Poppins"/>
                <a:cs typeface="Poppins"/>
                <a:sym typeface="Poppins"/>
              </a:rPr>
              <a:t> be written in </a:t>
            </a:r>
            <a:r>
              <a:rPr lang="en-US" sz="3433" strike="noStrike" u="none">
                <a:solidFill>
                  <a:srgbClr val="042560"/>
                </a:solidFill>
                <a:latin typeface="Poppins"/>
                <a:ea typeface="Poppins"/>
                <a:cs typeface="Poppins"/>
                <a:sym typeface="Poppins"/>
              </a:rPr>
              <a:t>m</a:t>
            </a:r>
            <a:r>
              <a:rPr lang="en-US" sz="3433" strike="noStrike" u="none">
                <a:solidFill>
                  <a:srgbClr val="042560"/>
                </a:solidFill>
                <a:latin typeface="Poppins"/>
                <a:ea typeface="Poppins"/>
                <a:cs typeface="Poppins"/>
                <a:sym typeface="Poppins"/>
              </a:rPr>
              <a:t>a</a:t>
            </a:r>
            <a:r>
              <a:rPr lang="en-US" sz="3433" strike="noStrike" u="none">
                <a:solidFill>
                  <a:srgbClr val="042560"/>
                </a:solidFill>
                <a:latin typeface="Poppins"/>
                <a:ea typeface="Poppins"/>
                <a:cs typeface="Poppins"/>
                <a:sym typeface="Poppins"/>
              </a:rPr>
              <a:t>tri</a:t>
            </a:r>
            <a:r>
              <a:rPr lang="en-US" sz="3433" strike="noStrike" u="none">
                <a:solidFill>
                  <a:srgbClr val="042560"/>
                </a:solidFill>
                <a:latin typeface="Poppins"/>
                <a:ea typeface="Poppins"/>
                <a:cs typeface="Poppins"/>
                <a:sym typeface="Poppins"/>
              </a:rPr>
              <a:t>x </a:t>
            </a:r>
            <a:r>
              <a:rPr lang="en-US" sz="3433" strike="noStrike" u="none">
                <a:solidFill>
                  <a:srgbClr val="042560"/>
                </a:solidFill>
                <a:latin typeface="Poppins"/>
                <a:ea typeface="Poppins"/>
                <a:cs typeface="Poppins"/>
                <a:sym typeface="Poppins"/>
              </a:rPr>
              <a:t>f</a:t>
            </a:r>
            <a:r>
              <a:rPr lang="en-US" sz="3433" strike="noStrike" u="none">
                <a:solidFill>
                  <a:srgbClr val="042560"/>
                </a:solidFill>
                <a:latin typeface="Poppins"/>
                <a:ea typeface="Poppins"/>
                <a:cs typeface="Poppins"/>
                <a:sym typeface="Poppins"/>
              </a:rPr>
              <a:t>orm </a:t>
            </a:r>
            <a:r>
              <a:rPr lang="en-US" sz="3433" strike="noStrike" u="none">
                <a:solidFill>
                  <a:srgbClr val="042560"/>
                </a:solidFill>
                <a:latin typeface="Poppins"/>
                <a:ea typeface="Poppins"/>
                <a:cs typeface="Poppins"/>
                <a:sym typeface="Poppins"/>
              </a:rPr>
              <a:t>a</a:t>
            </a:r>
            <a:r>
              <a:rPr lang="en-US" sz="3433" strike="noStrike" u="none">
                <a:solidFill>
                  <a:srgbClr val="042560"/>
                </a:solidFill>
                <a:latin typeface="Poppins"/>
                <a:ea typeface="Poppins"/>
                <a:cs typeface="Poppins"/>
                <a:sym typeface="Poppins"/>
              </a:rPr>
              <a:t>s </a:t>
            </a:r>
            <a:r>
              <a:rPr lang="en-US" sz="3433" strike="noStrike" u="none">
                <a:solidFill>
                  <a:srgbClr val="042560"/>
                </a:solidFill>
                <a:latin typeface="Poppins"/>
                <a:ea typeface="Poppins"/>
                <a:cs typeface="Poppins"/>
                <a:sym typeface="Poppins"/>
              </a:rPr>
              <a:t>Ax=b.</a:t>
            </a:r>
          </a:p>
        </p:txBody>
      </p:sp>
      <p:sp>
        <p:nvSpPr>
          <p:cNvPr name="TextBox 18" id="18"/>
          <p:cNvSpPr txBox="true"/>
          <p:nvPr/>
        </p:nvSpPr>
        <p:spPr>
          <a:xfrm rot="0">
            <a:off x="8824174" y="3390329"/>
            <a:ext cx="8435126" cy="1724609"/>
          </a:xfrm>
          <a:prstGeom prst="rect">
            <a:avLst/>
          </a:prstGeom>
        </p:spPr>
        <p:txBody>
          <a:bodyPr anchor="t" rtlCol="false" tIns="0" lIns="0" bIns="0" rIns="0">
            <a:spAutoFit/>
          </a:bodyPr>
          <a:lstStyle/>
          <a:p>
            <a:pPr algn="l" marL="0" indent="0" lvl="0">
              <a:lnSpc>
                <a:spcPts val="3361"/>
              </a:lnSpc>
              <a:spcBef>
                <a:spcPct val="0"/>
              </a:spcBef>
            </a:pPr>
            <a:r>
              <a:rPr lang="en-US" b="true" sz="3429">
                <a:solidFill>
                  <a:srgbClr val="042560"/>
                </a:solidFill>
                <a:latin typeface="Poppins Bold"/>
                <a:ea typeface="Poppins Bold"/>
                <a:cs typeface="Poppins Bold"/>
                <a:sym typeface="Poppins Bold"/>
              </a:rPr>
              <a:t>Obj</a:t>
            </a:r>
            <a:r>
              <a:rPr lang="en-US" b="true" sz="3429" strike="noStrike" u="none">
                <a:solidFill>
                  <a:srgbClr val="042560"/>
                </a:solidFill>
                <a:latin typeface="Poppins Bold"/>
                <a:ea typeface="Poppins Bold"/>
                <a:cs typeface="Poppins Bold"/>
                <a:sym typeface="Poppins Bold"/>
              </a:rPr>
              <a:t>ective: </a:t>
            </a:r>
          </a:p>
          <a:p>
            <a:pPr algn="l" marL="0" indent="0" lvl="0">
              <a:lnSpc>
                <a:spcPts val="3361"/>
              </a:lnSpc>
              <a:spcBef>
                <a:spcPct val="0"/>
              </a:spcBef>
            </a:pPr>
          </a:p>
          <a:p>
            <a:pPr algn="l" marL="0" indent="0" lvl="0">
              <a:lnSpc>
                <a:spcPts val="3361"/>
              </a:lnSpc>
              <a:spcBef>
                <a:spcPct val="0"/>
              </a:spcBef>
            </a:pPr>
            <a:r>
              <a:rPr lang="en-US" sz="3429" strike="noStrike" u="none">
                <a:solidFill>
                  <a:srgbClr val="042560"/>
                </a:solidFill>
                <a:latin typeface="Poppins"/>
                <a:ea typeface="Poppins"/>
                <a:cs typeface="Poppins"/>
                <a:sym typeface="Poppins"/>
              </a:rPr>
              <a:t>Find the vector xxx that satisfies all equations simultaneously.</a:t>
            </a:r>
          </a:p>
        </p:txBody>
      </p:sp>
      <p:grpSp>
        <p:nvGrpSpPr>
          <p:cNvPr name="Group 19" id="19"/>
          <p:cNvGrpSpPr/>
          <p:nvPr/>
        </p:nvGrpSpPr>
        <p:grpSpPr>
          <a:xfrm rot="0">
            <a:off x="282710" y="292637"/>
            <a:ext cx="7163153" cy="1495107"/>
            <a:chOff x="0" y="0"/>
            <a:chExt cx="9550871" cy="1993476"/>
          </a:xfrm>
        </p:grpSpPr>
        <p:grpSp>
          <p:nvGrpSpPr>
            <p:cNvPr name="Group 20" id="20"/>
            <p:cNvGrpSpPr/>
            <p:nvPr/>
          </p:nvGrpSpPr>
          <p:grpSpPr>
            <a:xfrm rot="0">
              <a:off x="0" y="0"/>
              <a:ext cx="9550871" cy="1993476"/>
              <a:chOff x="0" y="0"/>
              <a:chExt cx="965104" cy="201438"/>
            </a:xfrm>
          </p:grpSpPr>
          <p:sp>
            <p:nvSpPr>
              <p:cNvPr name="Freeform 21" id="21"/>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22" id="22"/>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23" id="23"/>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SOLUT</a:t>
              </a:r>
              <a:r>
                <a:rPr lang="en-US" sz="3999">
                  <a:solidFill>
                    <a:srgbClr val="0B2F70"/>
                  </a:solidFill>
                  <a:latin typeface="Lovelo"/>
                  <a:ea typeface="Lovelo"/>
                  <a:cs typeface="Lovelo"/>
                  <a:sym typeface="Lovelo"/>
                </a:rPr>
                <a:t>IONS TO SYSTEMS OF LINEAR EQUATIONS</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SOLUT</a:t>
              </a:r>
              <a:r>
                <a:rPr lang="en-US" sz="3999">
                  <a:solidFill>
                    <a:srgbClr val="0B2F70"/>
                  </a:solidFill>
                  <a:latin typeface="Lovelo"/>
                  <a:ea typeface="Lovelo"/>
                  <a:cs typeface="Lovelo"/>
                  <a:sym typeface="Lovelo"/>
                </a:rPr>
                <a:t>IONS TO SYSTEMS OF LINEAR EQUATIONS</a:t>
              </a:r>
            </a:p>
          </p:txBody>
        </p:sp>
      </p:grpSp>
      <p:grpSp>
        <p:nvGrpSpPr>
          <p:cNvPr name="Group 16" id="16"/>
          <p:cNvGrpSpPr/>
          <p:nvPr/>
        </p:nvGrpSpPr>
        <p:grpSpPr>
          <a:xfrm rot="0">
            <a:off x="282710" y="2913808"/>
            <a:ext cx="17762192" cy="6344492"/>
            <a:chOff x="0" y="0"/>
            <a:chExt cx="1819431" cy="649884"/>
          </a:xfrm>
        </p:grpSpPr>
        <p:sp>
          <p:nvSpPr>
            <p:cNvPr name="Freeform 17" id="17"/>
            <p:cNvSpPr/>
            <p:nvPr/>
          </p:nvSpPr>
          <p:spPr>
            <a:xfrm flipH="false" flipV="false" rot="0">
              <a:off x="0" y="0"/>
              <a:ext cx="1819431" cy="649884"/>
            </a:xfrm>
            <a:custGeom>
              <a:avLst/>
              <a:gdLst/>
              <a:ahLst/>
              <a:cxnLst/>
              <a:rect r="r" b="b" t="t" l="l"/>
              <a:pathLst>
                <a:path h="649884" w="1819431">
                  <a:moveTo>
                    <a:pt x="16999" y="0"/>
                  </a:moveTo>
                  <a:lnTo>
                    <a:pt x="1802432" y="0"/>
                  </a:lnTo>
                  <a:cubicBezTo>
                    <a:pt x="1806940" y="0"/>
                    <a:pt x="1811264" y="1791"/>
                    <a:pt x="1814452" y="4979"/>
                  </a:cubicBezTo>
                  <a:cubicBezTo>
                    <a:pt x="1817640" y="8167"/>
                    <a:pt x="1819431" y="12490"/>
                    <a:pt x="1819431" y="16999"/>
                  </a:cubicBezTo>
                  <a:lnTo>
                    <a:pt x="1819431" y="632885"/>
                  </a:lnTo>
                  <a:cubicBezTo>
                    <a:pt x="1819431" y="637394"/>
                    <a:pt x="1817640" y="641717"/>
                    <a:pt x="1814452" y="644905"/>
                  </a:cubicBezTo>
                  <a:cubicBezTo>
                    <a:pt x="1811264" y="648093"/>
                    <a:pt x="1806940" y="649884"/>
                    <a:pt x="1802432" y="649884"/>
                  </a:cubicBezTo>
                  <a:lnTo>
                    <a:pt x="16999" y="649884"/>
                  </a:lnTo>
                  <a:cubicBezTo>
                    <a:pt x="12490" y="649884"/>
                    <a:pt x="8167" y="648093"/>
                    <a:pt x="4979" y="644905"/>
                  </a:cubicBezTo>
                  <a:cubicBezTo>
                    <a:pt x="1791" y="641717"/>
                    <a:pt x="0" y="637394"/>
                    <a:pt x="0" y="632885"/>
                  </a:cubicBezTo>
                  <a:lnTo>
                    <a:pt x="0" y="16999"/>
                  </a:lnTo>
                  <a:cubicBezTo>
                    <a:pt x="0" y="12490"/>
                    <a:pt x="1791" y="8167"/>
                    <a:pt x="4979" y="4979"/>
                  </a:cubicBezTo>
                  <a:cubicBezTo>
                    <a:pt x="8167" y="1791"/>
                    <a:pt x="12490" y="0"/>
                    <a:pt x="16999" y="0"/>
                  </a:cubicBezTo>
                  <a:close/>
                </a:path>
              </a:pathLst>
            </a:custGeom>
            <a:solidFill>
              <a:srgbClr val="F8F3E6"/>
            </a:solidFill>
            <a:ln cap="rnd">
              <a:noFill/>
              <a:prstDash val="solid"/>
              <a:round/>
            </a:ln>
          </p:spPr>
        </p:sp>
        <p:sp>
          <p:nvSpPr>
            <p:cNvPr name="TextBox 18" id="18"/>
            <p:cNvSpPr txBox="true"/>
            <p:nvPr/>
          </p:nvSpPr>
          <p:spPr>
            <a:xfrm>
              <a:off x="0" y="-38100"/>
              <a:ext cx="1819431" cy="68798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2028571" y="4195258"/>
            <a:ext cx="8207913" cy="1896484"/>
          </a:xfrm>
          <a:custGeom>
            <a:avLst/>
            <a:gdLst/>
            <a:ahLst/>
            <a:cxnLst/>
            <a:rect r="r" b="b" t="t" l="l"/>
            <a:pathLst>
              <a:path h="1896484" w="8207913">
                <a:moveTo>
                  <a:pt x="0" y="0"/>
                </a:moveTo>
                <a:lnTo>
                  <a:pt x="8207913" y="0"/>
                </a:lnTo>
                <a:lnTo>
                  <a:pt x="8207913" y="1896484"/>
                </a:lnTo>
                <a:lnTo>
                  <a:pt x="0" y="1896484"/>
                </a:lnTo>
                <a:lnTo>
                  <a:pt x="0" y="0"/>
                </a:lnTo>
                <a:close/>
              </a:path>
            </a:pathLst>
          </a:custGeom>
          <a:blipFill>
            <a:blip r:embed="rId7"/>
            <a:stretch>
              <a:fillRect l="0" t="0" r="0" b="-131546"/>
            </a:stretch>
          </a:blipFill>
        </p:spPr>
      </p:sp>
      <p:sp>
        <p:nvSpPr>
          <p:cNvPr name="Freeform 20" id="20"/>
          <p:cNvSpPr/>
          <p:nvPr/>
        </p:nvSpPr>
        <p:spPr>
          <a:xfrm flipH="false" flipV="false" rot="0">
            <a:off x="5480656" y="4289986"/>
            <a:ext cx="6436057" cy="1881988"/>
          </a:xfrm>
          <a:custGeom>
            <a:avLst/>
            <a:gdLst/>
            <a:ahLst/>
            <a:cxnLst/>
            <a:rect r="r" b="b" t="t" l="l"/>
            <a:pathLst>
              <a:path h="1881988" w="6436057">
                <a:moveTo>
                  <a:pt x="0" y="0"/>
                </a:moveTo>
                <a:lnTo>
                  <a:pt x="6436057" y="0"/>
                </a:lnTo>
                <a:lnTo>
                  <a:pt x="6436057" y="1881988"/>
                </a:lnTo>
                <a:lnTo>
                  <a:pt x="0" y="1881988"/>
                </a:lnTo>
                <a:lnTo>
                  <a:pt x="0" y="0"/>
                </a:lnTo>
                <a:close/>
              </a:path>
            </a:pathLst>
          </a:custGeom>
          <a:blipFill>
            <a:blip r:embed="rId7"/>
            <a:stretch>
              <a:fillRect l="0" t="-82885" r="0" b="0"/>
            </a:stretch>
          </a:blipFill>
        </p:spPr>
      </p:sp>
      <p:sp>
        <p:nvSpPr>
          <p:cNvPr name="TextBox 21" id="21"/>
          <p:cNvSpPr txBox="true"/>
          <p:nvPr/>
        </p:nvSpPr>
        <p:spPr>
          <a:xfrm rot="0">
            <a:off x="477863" y="3072189"/>
            <a:ext cx="13281744" cy="1891358"/>
          </a:xfrm>
          <a:prstGeom prst="rect">
            <a:avLst/>
          </a:prstGeom>
        </p:spPr>
        <p:txBody>
          <a:bodyPr anchor="t" rtlCol="false" tIns="0" lIns="0" bIns="0" rIns="0">
            <a:spAutoFit/>
          </a:bodyPr>
          <a:lstStyle/>
          <a:p>
            <a:pPr algn="l">
              <a:lnSpc>
                <a:spcPts val="2455"/>
              </a:lnSpc>
            </a:pPr>
            <a:r>
              <a:rPr lang="en-US" sz="2506" b="true">
                <a:solidFill>
                  <a:srgbClr val="042560"/>
                </a:solidFill>
                <a:latin typeface="Poppins Bold"/>
                <a:ea typeface="Poppins Bold"/>
                <a:cs typeface="Poppins Bold"/>
                <a:sym typeface="Poppins Bold"/>
              </a:rPr>
              <a:t>Direct Methods</a:t>
            </a:r>
          </a:p>
          <a:p>
            <a:pPr algn="l">
              <a:lnSpc>
                <a:spcPts val="2455"/>
              </a:lnSpc>
            </a:pPr>
            <a:r>
              <a:rPr lang="en-US" sz="2506">
                <a:solidFill>
                  <a:srgbClr val="042560"/>
                </a:solidFill>
                <a:latin typeface="Poppins"/>
                <a:ea typeface="Poppins"/>
                <a:cs typeface="Poppins"/>
                <a:sym typeface="Poppins"/>
              </a:rPr>
              <a:t>Compute the exact solution.</a:t>
            </a:r>
          </a:p>
          <a:p>
            <a:pPr algn="l">
              <a:lnSpc>
                <a:spcPts val="2455"/>
              </a:lnSpc>
            </a:pPr>
          </a:p>
          <a:p>
            <a:pPr algn="l" marL="541050" indent="-270525" lvl="1">
              <a:lnSpc>
                <a:spcPts val="2455"/>
              </a:lnSpc>
              <a:buAutoNum type="arabicPeriod" startAt="1"/>
            </a:pPr>
            <a:r>
              <a:rPr lang="en-US" sz="2506">
                <a:solidFill>
                  <a:srgbClr val="042560"/>
                </a:solidFill>
                <a:latin typeface="Poppins"/>
                <a:ea typeface="Poppins"/>
                <a:cs typeface="Poppins"/>
                <a:sym typeface="Poppins"/>
              </a:rPr>
              <a:t>Gaussian Elimination: transforms the matrix into an upper triangular form.</a:t>
            </a:r>
          </a:p>
          <a:p>
            <a:pPr algn="l">
              <a:lnSpc>
                <a:spcPts val="2455"/>
              </a:lnSpc>
            </a:pPr>
          </a:p>
          <a:p>
            <a:pPr algn="l" marL="0" indent="0" lvl="0">
              <a:lnSpc>
                <a:spcPts val="2455"/>
              </a:lnSpc>
              <a:spcBef>
                <a:spcPct val="0"/>
              </a:spcBef>
            </a:pPr>
          </a:p>
        </p:txBody>
      </p:sp>
      <p:sp>
        <p:nvSpPr>
          <p:cNvPr name="TextBox 22" id="22"/>
          <p:cNvSpPr txBox="true"/>
          <p:nvPr/>
        </p:nvSpPr>
        <p:spPr>
          <a:xfrm rot="0">
            <a:off x="282710" y="2028513"/>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Methods for Solving</a:t>
            </a:r>
          </a:p>
        </p:txBody>
      </p:sp>
      <p:sp>
        <p:nvSpPr>
          <p:cNvPr name="TextBox 23" id="23"/>
          <p:cNvSpPr txBox="true"/>
          <p:nvPr/>
        </p:nvSpPr>
        <p:spPr>
          <a:xfrm rot="0">
            <a:off x="804991" y="6197039"/>
            <a:ext cx="13281744" cy="346243"/>
          </a:xfrm>
          <a:prstGeom prst="rect">
            <a:avLst/>
          </a:prstGeom>
        </p:spPr>
        <p:txBody>
          <a:bodyPr anchor="t" rtlCol="false" tIns="0" lIns="0" bIns="0" rIns="0">
            <a:spAutoFit/>
          </a:bodyPr>
          <a:lstStyle/>
          <a:p>
            <a:pPr algn="l">
              <a:lnSpc>
                <a:spcPts val="2455"/>
              </a:lnSpc>
            </a:pPr>
            <a:r>
              <a:rPr lang="en-US" sz="2506">
                <a:solidFill>
                  <a:srgbClr val="042560"/>
                </a:solidFill>
                <a:latin typeface="Poppins"/>
                <a:ea typeface="Poppins"/>
                <a:cs typeface="Poppins"/>
                <a:sym typeface="Poppins"/>
              </a:rPr>
              <a:t> 2. Gauss-Jordan Elimination: reduces the matrix further to diagonal form.</a:t>
            </a:r>
          </a:p>
        </p:txBody>
      </p:sp>
      <p:sp>
        <p:nvSpPr>
          <p:cNvPr name="Freeform 24" id="24"/>
          <p:cNvSpPr/>
          <p:nvPr/>
        </p:nvSpPr>
        <p:spPr>
          <a:xfrm flipH="false" flipV="false" rot="0">
            <a:off x="-3394297" y="6543283"/>
            <a:ext cx="9797780" cy="2526579"/>
          </a:xfrm>
          <a:custGeom>
            <a:avLst/>
            <a:gdLst/>
            <a:ahLst/>
            <a:cxnLst/>
            <a:rect r="r" b="b" t="t" l="l"/>
            <a:pathLst>
              <a:path h="2526579" w="9797780">
                <a:moveTo>
                  <a:pt x="0" y="0"/>
                </a:moveTo>
                <a:lnTo>
                  <a:pt x="9797780" y="0"/>
                </a:lnTo>
                <a:lnTo>
                  <a:pt x="9797780" y="2526578"/>
                </a:lnTo>
                <a:lnTo>
                  <a:pt x="0" y="2526578"/>
                </a:lnTo>
                <a:lnTo>
                  <a:pt x="0" y="0"/>
                </a:lnTo>
                <a:close/>
              </a:path>
            </a:pathLst>
          </a:custGeom>
          <a:blipFill>
            <a:blip r:embed="rId8"/>
            <a:stretch>
              <a:fillRect l="0" t="0" r="0" b="-125886"/>
            </a:stretch>
          </a:blipFill>
        </p:spPr>
      </p:sp>
      <p:sp>
        <p:nvSpPr>
          <p:cNvPr name="Freeform 25" id="25"/>
          <p:cNvSpPr/>
          <p:nvPr/>
        </p:nvSpPr>
        <p:spPr>
          <a:xfrm flipH="false" flipV="false" rot="0">
            <a:off x="7626192" y="6464259"/>
            <a:ext cx="8082171" cy="2684626"/>
          </a:xfrm>
          <a:custGeom>
            <a:avLst/>
            <a:gdLst/>
            <a:ahLst/>
            <a:cxnLst/>
            <a:rect r="r" b="b" t="t" l="l"/>
            <a:pathLst>
              <a:path h="2684626" w="8082171">
                <a:moveTo>
                  <a:pt x="0" y="0"/>
                </a:moveTo>
                <a:lnTo>
                  <a:pt x="8082171" y="0"/>
                </a:lnTo>
                <a:lnTo>
                  <a:pt x="8082171" y="2684626"/>
                </a:lnTo>
                <a:lnTo>
                  <a:pt x="0" y="2684626"/>
                </a:lnTo>
                <a:lnTo>
                  <a:pt x="0" y="0"/>
                </a:lnTo>
                <a:close/>
              </a:path>
            </a:pathLst>
          </a:custGeom>
          <a:blipFill>
            <a:blip r:embed="rId8"/>
            <a:stretch>
              <a:fillRect l="0" t="-75523"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SOLUT</a:t>
              </a:r>
              <a:r>
                <a:rPr lang="en-US" sz="3999">
                  <a:solidFill>
                    <a:srgbClr val="0B2F70"/>
                  </a:solidFill>
                  <a:latin typeface="Lovelo"/>
                  <a:ea typeface="Lovelo"/>
                  <a:cs typeface="Lovelo"/>
                  <a:sym typeface="Lovelo"/>
                </a:rPr>
                <a:t>IONS TO SYSTEMS OF LINEAR EQUATIONS</a:t>
              </a:r>
            </a:p>
          </p:txBody>
        </p:sp>
      </p:grpSp>
      <p:grpSp>
        <p:nvGrpSpPr>
          <p:cNvPr name="Group 16" id="16"/>
          <p:cNvGrpSpPr/>
          <p:nvPr/>
        </p:nvGrpSpPr>
        <p:grpSpPr>
          <a:xfrm rot="0">
            <a:off x="282710" y="2913808"/>
            <a:ext cx="17762192" cy="6344492"/>
            <a:chOff x="0" y="0"/>
            <a:chExt cx="1819431" cy="649884"/>
          </a:xfrm>
        </p:grpSpPr>
        <p:sp>
          <p:nvSpPr>
            <p:cNvPr name="Freeform 17" id="17"/>
            <p:cNvSpPr/>
            <p:nvPr/>
          </p:nvSpPr>
          <p:spPr>
            <a:xfrm flipH="false" flipV="false" rot="0">
              <a:off x="0" y="0"/>
              <a:ext cx="1819431" cy="649884"/>
            </a:xfrm>
            <a:custGeom>
              <a:avLst/>
              <a:gdLst/>
              <a:ahLst/>
              <a:cxnLst/>
              <a:rect r="r" b="b" t="t" l="l"/>
              <a:pathLst>
                <a:path h="649884" w="1819431">
                  <a:moveTo>
                    <a:pt x="16999" y="0"/>
                  </a:moveTo>
                  <a:lnTo>
                    <a:pt x="1802432" y="0"/>
                  </a:lnTo>
                  <a:cubicBezTo>
                    <a:pt x="1806940" y="0"/>
                    <a:pt x="1811264" y="1791"/>
                    <a:pt x="1814452" y="4979"/>
                  </a:cubicBezTo>
                  <a:cubicBezTo>
                    <a:pt x="1817640" y="8167"/>
                    <a:pt x="1819431" y="12490"/>
                    <a:pt x="1819431" y="16999"/>
                  </a:cubicBezTo>
                  <a:lnTo>
                    <a:pt x="1819431" y="632885"/>
                  </a:lnTo>
                  <a:cubicBezTo>
                    <a:pt x="1819431" y="637394"/>
                    <a:pt x="1817640" y="641717"/>
                    <a:pt x="1814452" y="644905"/>
                  </a:cubicBezTo>
                  <a:cubicBezTo>
                    <a:pt x="1811264" y="648093"/>
                    <a:pt x="1806940" y="649884"/>
                    <a:pt x="1802432" y="649884"/>
                  </a:cubicBezTo>
                  <a:lnTo>
                    <a:pt x="16999" y="649884"/>
                  </a:lnTo>
                  <a:cubicBezTo>
                    <a:pt x="12490" y="649884"/>
                    <a:pt x="8167" y="648093"/>
                    <a:pt x="4979" y="644905"/>
                  </a:cubicBezTo>
                  <a:cubicBezTo>
                    <a:pt x="1791" y="641717"/>
                    <a:pt x="0" y="637394"/>
                    <a:pt x="0" y="632885"/>
                  </a:cubicBezTo>
                  <a:lnTo>
                    <a:pt x="0" y="16999"/>
                  </a:lnTo>
                  <a:cubicBezTo>
                    <a:pt x="0" y="12490"/>
                    <a:pt x="1791" y="8167"/>
                    <a:pt x="4979" y="4979"/>
                  </a:cubicBezTo>
                  <a:cubicBezTo>
                    <a:pt x="8167" y="1791"/>
                    <a:pt x="12490" y="0"/>
                    <a:pt x="16999" y="0"/>
                  </a:cubicBezTo>
                  <a:close/>
                </a:path>
              </a:pathLst>
            </a:custGeom>
            <a:solidFill>
              <a:srgbClr val="F8F3E6"/>
            </a:solidFill>
            <a:ln cap="rnd">
              <a:noFill/>
              <a:prstDash val="solid"/>
              <a:round/>
            </a:ln>
          </p:spPr>
        </p:sp>
        <p:sp>
          <p:nvSpPr>
            <p:cNvPr name="TextBox 18" id="18"/>
            <p:cNvSpPr txBox="true"/>
            <p:nvPr/>
          </p:nvSpPr>
          <p:spPr>
            <a:xfrm>
              <a:off x="0" y="-38100"/>
              <a:ext cx="1819431" cy="68798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19" id="19"/>
          <p:cNvSpPr txBox="true"/>
          <p:nvPr/>
        </p:nvSpPr>
        <p:spPr>
          <a:xfrm rot="0">
            <a:off x="594734" y="3178597"/>
            <a:ext cx="17098531" cy="651154"/>
          </a:xfrm>
          <a:prstGeom prst="rect">
            <a:avLst/>
          </a:prstGeom>
        </p:spPr>
        <p:txBody>
          <a:bodyPr anchor="t" rtlCol="false" tIns="0" lIns="0" bIns="0" rIns="0">
            <a:spAutoFit/>
          </a:bodyPr>
          <a:lstStyle/>
          <a:p>
            <a:pPr algn="l">
              <a:lnSpc>
                <a:spcPts val="2459"/>
              </a:lnSpc>
            </a:pPr>
            <a:r>
              <a:rPr lang="en-US" sz="2510">
                <a:solidFill>
                  <a:srgbClr val="042560"/>
                </a:solidFill>
                <a:latin typeface="Poppins"/>
                <a:ea typeface="Poppins"/>
                <a:cs typeface="Poppins"/>
                <a:sym typeface="Poppins"/>
              </a:rPr>
              <a:t> 3. LU </a:t>
            </a:r>
            <a:r>
              <a:rPr lang="en-US" sz="2510">
                <a:solidFill>
                  <a:srgbClr val="042560"/>
                </a:solidFill>
                <a:latin typeface="Poppins"/>
                <a:ea typeface="Poppins"/>
                <a:cs typeface="Poppins"/>
                <a:sym typeface="Poppins"/>
              </a:rPr>
              <a:t>Decomposition: factors A into L (lower) and U (upper) matrices for</a:t>
            </a:r>
          </a:p>
          <a:p>
            <a:pPr algn="l" marL="0" indent="0" lvl="0">
              <a:lnSpc>
                <a:spcPts val="2459"/>
              </a:lnSpc>
              <a:spcBef>
                <a:spcPct val="0"/>
              </a:spcBef>
            </a:pPr>
            <a:r>
              <a:rPr lang="en-US" sz="2510">
                <a:solidFill>
                  <a:srgbClr val="042560"/>
                </a:solidFill>
                <a:latin typeface="Poppins"/>
                <a:ea typeface="Poppins"/>
                <a:cs typeface="Poppins"/>
                <a:sym typeface="Poppins"/>
              </a:rPr>
              <a:t> efficient solving.</a:t>
            </a:r>
          </a:p>
        </p:txBody>
      </p:sp>
      <p:sp>
        <p:nvSpPr>
          <p:cNvPr name="TextBox 20" id="20"/>
          <p:cNvSpPr txBox="true"/>
          <p:nvPr/>
        </p:nvSpPr>
        <p:spPr>
          <a:xfrm rot="0">
            <a:off x="282710" y="2028513"/>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Methods for Solving</a:t>
            </a:r>
          </a:p>
        </p:txBody>
      </p:sp>
      <p:sp>
        <p:nvSpPr>
          <p:cNvPr name="Freeform 21" id="21"/>
          <p:cNvSpPr/>
          <p:nvPr/>
        </p:nvSpPr>
        <p:spPr>
          <a:xfrm flipH="false" flipV="false" rot="0">
            <a:off x="-428243" y="3974380"/>
            <a:ext cx="10389775" cy="2031318"/>
          </a:xfrm>
          <a:custGeom>
            <a:avLst/>
            <a:gdLst/>
            <a:ahLst/>
            <a:cxnLst/>
            <a:rect r="r" b="b" t="t" l="l"/>
            <a:pathLst>
              <a:path h="2031318" w="10389775">
                <a:moveTo>
                  <a:pt x="0" y="0"/>
                </a:moveTo>
                <a:lnTo>
                  <a:pt x="10389774" y="0"/>
                </a:lnTo>
                <a:lnTo>
                  <a:pt x="10389774" y="2031318"/>
                </a:lnTo>
                <a:lnTo>
                  <a:pt x="0" y="2031318"/>
                </a:lnTo>
                <a:lnTo>
                  <a:pt x="0" y="0"/>
                </a:lnTo>
                <a:close/>
              </a:path>
            </a:pathLst>
          </a:custGeom>
          <a:blipFill>
            <a:blip r:embed="rId7"/>
            <a:stretch>
              <a:fillRect l="0" t="0" r="0" b="-282970"/>
            </a:stretch>
          </a:blipFill>
        </p:spPr>
      </p:sp>
      <p:sp>
        <p:nvSpPr>
          <p:cNvPr name="Freeform 22" id="22"/>
          <p:cNvSpPr/>
          <p:nvPr/>
        </p:nvSpPr>
        <p:spPr>
          <a:xfrm flipH="false" flipV="false" rot="0">
            <a:off x="10685974" y="3974380"/>
            <a:ext cx="9539795" cy="2412014"/>
          </a:xfrm>
          <a:custGeom>
            <a:avLst/>
            <a:gdLst/>
            <a:ahLst/>
            <a:cxnLst/>
            <a:rect r="r" b="b" t="t" l="l"/>
            <a:pathLst>
              <a:path h="2412014" w="9539795">
                <a:moveTo>
                  <a:pt x="0" y="0"/>
                </a:moveTo>
                <a:lnTo>
                  <a:pt x="9539794" y="0"/>
                </a:lnTo>
                <a:lnTo>
                  <a:pt x="9539794" y="2412014"/>
                </a:lnTo>
                <a:lnTo>
                  <a:pt x="0" y="2412014"/>
                </a:lnTo>
                <a:lnTo>
                  <a:pt x="0" y="0"/>
                </a:lnTo>
                <a:close/>
              </a:path>
            </a:pathLst>
          </a:custGeom>
          <a:blipFill>
            <a:blip r:embed="rId7"/>
            <a:stretch>
              <a:fillRect l="0" t="-73507" r="0" b="-122471"/>
            </a:stretch>
          </a:blipFill>
        </p:spPr>
      </p:sp>
      <p:sp>
        <p:nvSpPr>
          <p:cNvPr name="Freeform 23" id="23"/>
          <p:cNvSpPr/>
          <p:nvPr/>
        </p:nvSpPr>
        <p:spPr>
          <a:xfrm flipH="false" flipV="false" rot="0">
            <a:off x="4449826" y="6529269"/>
            <a:ext cx="12472295" cy="2160810"/>
          </a:xfrm>
          <a:custGeom>
            <a:avLst/>
            <a:gdLst/>
            <a:ahLst/>
            <a:cxnLst/>
            <a:rect r="r" b="b" t="t" l="l"/>
            <a:pathLst>
              <a:path h="2160810" w="12472295">
                <a:moveTo>
                  <a:pt x="0" y="0"/>
                </a:moveTo>
                <a:lnTo>
                  <a:pt x="12472296" y="0"/>
                </a:lnTo>
                <a:lnTo>
                  <a:pt x="12472296" y="2160810"/>
                </a:lnTo>
                <a:lnTo>
                  <a:pt x="0" y="2160810"/>
                </a:lnTo>
                <a:lnTo>
                  <a:pt x="0" y="0"/>
                </a:lnTo>
                <a:close/>
              </a:path>
            </a:pathLst>
          </a:custGeom>
          <a:blipFill>
            <a:blip r:embed="rId7"/>
            <a:stretch>
              <a:fillRect l="0" t="-331947" r="0" b="0"/>
            </a:stretch>
          </a:blipFill>
        </p:spPr>
      </p:sp>
      <p:sp>
        <p:nvSpPr>
          <p:cNvPr name="AutoShape 24" id="24"/>
          <p:cNvSpPr/>
          <p:nvPr/>
        </p:nvSpPr>
        <p:spPr>
          <a:xfrm flipV="true">
            <a:off x="10246308" y="5199434"/>
            <a:ext cx="1071736" cy="19050"/>
          </a:xfrm>
          <a:prstGeom prst="line">
            <a:avLst/>
          </a:prstGeom>
          <a:ln cap="flat" w="38100">
            <a:solidFill>
              <a:srgbClr val="000000"/>
            </a:solidFill>
            <a:prstDash val="solid"/>
            <a:headEnd type="none" len="sm" w="sm"/>
            <a:tailEnd type="arrow" len="sm" w="med"/>
          </a:ln>
        </p:spPr>
      </p:sp>
      <p:sp>
        <p:nvSpPr>
          <p:cNvPr name="AutoShape 25" id="25"/>
          <p:cNvSpPr/>
          <p:nvPr/>
        </p:nvSpPr>
        <p:spPr>
          <a:xfrm flipV="true">
            <a:off x="6096226" y="7571577"/>
            <a:ext cx="1071736" cy="19050"/>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SOLUT</a:t>
              </a:r>
              <a:r>
                <a:rPr lang="en-US" sz="3999">
                  <a:solidFill>
                    <a:srgbClr val="0B2F70"/>
                  </a:solidFill>
                  <a:latin typeface="Lovelo"/>
                  <a:ea typeface="Lovelo"/>
                  <a:cs typeface="Lovelo"/>
                  <a:sym typeface="Lovelo"/>
                </a:rPr>
                <a:t>IONS TO SYSTEMS OF LINEAR EQUATIONS</a:t>
              </a:r>
            </a:p>
          </p:txBody>
        </p:sp>
      </p:grpSp>
      <p:grpSp>
        <p:nvGrpSpPr>
          <p:cNvPr name="Group 16" id="16"/>
          <p:cNvGrpSpPr/>
          <p:nvPr/>
        </p:nvGrpSpPr>
        <p:grpSpPr>
          <a:xfrm rot="0">
            <a:off x="282710" y="2913808"/>
            <a:ext cx="17762192" cy="6344492"/>
            <a:chOff x="0" y="0"/>
            <a:chExt cx="1819431" cy="649884"/>
          </a:xfrm>
        </p:grpSpPr>
        <p:sp>
          <p:nvSpPr>
            <p:cNvPr name="Freeform 17" id="17"/>
            <p:cNvSpPr/>
            <p:nvPr/>
          </p:nvSpPr>
          <p:spPr>
            <a:xfrm flipH="false" flipV="false" rot="0">
              <a:off x="0" y="0"/>
              <a:ext cx="1819431" cy="649884"/>
            </a:xfrm>
            <a:custGeom>
              <a:avLst/>
              <a:gdLst/>
              <a:ahLst/>
              <a:cxnLst/>
              <a:rect r="r" b="b" t="t" l="l"/>
              <a:pathLst>
                <a:path h="649884" w="1819431">
                  <a:moveTo>
                    <a:pt x="16999" y="0"/>
                  </a:moveTo>
                  <a:lnTo>
                    <a:pt x="1802432" y="0"/>
                  </a:lnTo>
                  <a:cubicBezTo>
                    <a:pt x="1806940" y="0"/>
                    <a:pt x="1811264" y="1791"/>
                    <a:pt x="1814452" y="4979"/>
                  </a:cubicBezTo>
                  <a:cubicBezTo>
                    <a:pt x="1817640" y="8167"/>
                    <a:pt x="1819431" y="12490"/>
                    <a:pt x="1819431" y="16999"/>
                  </a:cubicBezTo>
                  <a:lnTo>
                    <a:pt x="1819431" y="632885"/>
                  </a:lnTo>
                  <a:cubicBezTo>
                    <a:pt x="1819431" y="637394"/>
                    <a:pt x="1817640" y="641717"/>
                    <a:pt x="1814452" y="644905"/>
                  </a:cubicBezTo>
                  <a:cubicBezTo>
                    <a:pt x="1811264" y="648093"/>
                    <a:pt x="1806940" y="649884"/>
                    <a:pt x="1802432" y="649884"/>
                  </a:cubicBezTo>
                  <a:lnTo>
                    <a:pt x="16999" y="649884"/>
                  </a:lnTo>
                  <a:cubicBezTo>
                    <a:pt x="12490" y="649884"/>
                    <a:pt x="8167" y="648093"/>
                    <a:pt x="4979" y="644905"/>
                  </a:cubicBezTo>
                  <a:cubicBezTo>
                    <a:pt x="1791" y="641717"/>
                    <a:pt x="0" y="637394"/>
                    <a:pt x="0" y="632885"/>
                  </a:cubicBezTo>
                  <a:lnTo>
                    <a:pt x="0" y="16999"/>
                  </a:lnTo>
                  <a:cubicBezTo>
                    <a:pt x="0" y="12490"/>
                    <a:pt x="1791" y="8167"/>
                    <a:pt x="4979" y="4979"/>
                  </a:cubicBezTo>
                  <a:cubicBezTo>
                    <a:pt x="8167" y="1791"/>
                    <a:pt x="12490" y="0"/>
                    <a:pt x="16999" y="0"/>
                  </a:cubicBezTo>
                  <a:close/>
                </a:path>
              </a:pathLst>
            </a:custGeom>
            <a:solidFill>
              <a:srgbClr val="F8F3E6"/>
            </a:solidFill>
            <a:ln cap="rnd">
              <a:noFill/>
              <a:prstDash val="solid"/>
              <a:round/>
            </a:ln>
          </p:spPr>
        </p:sp>
        <p:sp>
          <p:nvSpPr>
            <p:cNvPr name="TextBox 18" id="18"/>
            <p:cNvSpPr txBox="true"/>
            <p:nvPr/>
          </p:nvSpPr>
          <p:spPr>
            <a:xfrm>
              <a:off x="0" y="-38100"/>
              <a:ext cx="1819431" cy="68798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AutoShape 19" id="19"/>
          <p:cNvSpPr/>
          <p:nvPr/>
        </p:nvSpPr>
        <p:spPr>
          <a:xfrm flipV="true">
            <a:off x="3088374" y="4201505"/>
            <a:ext cx="1071736" cy="19050"/>
          </a:xfrm>
          <a:prstGeom prst="line">
            <a:avLst/>
          </a:prstGeom>
          <a:ln cap="flat" w="38100">
            <a:solidFill>
              <a:srgbClr val="000000"/>
            </a:solidFill>
            <a:prstDash val="solid"/>
            <a:headEnd type="none" len="sm" w="sm"/>
            <a:tailEnd type="arrow" len="sm" w="med"/>
          </a:ln>
        </p:spPr>
      </p:sp>
      <p:sp>
        <p:nvSpPr>
          <p:cNvPr name="Freeform 20" id="20"/>
          <p:cNvSpPr/>
          <p:nvPr/>
        </p:nvSpPr>
        <p:spPr>
          <a:xfrm flipH="false" flipV="false" rot="0">
            <a:off x="4316113" y="3457437"/>
            <a:ext cx="3423335" cy="1526237"/>
          </a:xfrm>
          <a:custGeom>
            <a:avLst/>
            <a:gdLst/>
            <a:ahLst/>
            <a:cxnLst/>
            <a:rect r="r" b="b" t="t" l="l"/>
            <a:pathLst>
              <a:path h="1526237" w="3423335">
                <a:moveTo>
                  <a:pt x="0" y="0"/>
                </a:moveTo>
                <a:lnTo>
                  <a:pt x="3423335" y="0"/>
                </a:lnTo>
                <a:lnTo>
                  <a:pt x="3423335" y="1526236"/>
                </a:lnTo>
                <a:lnTo>
                  <a:pt x="0" y="1526236"/>
                </a:lnTo>
                <a:lnTo>
                  <a:pt x="0" y="0"/>
                </a:lnTo>
                <a:close/>
              </a:path>
            </a:pathLst>
          </a:custGeom>
          <a:blipFill>
            <a:blip r:embed="rId7"/>
            <a:stretch>
              <a:fillRect l="0" t="0" r="0" b="0"/>
            </a:stretch>
          </a:blipFill>
        </p:spPr>
      </p:sp>
      <p:sp>
        <p:nvSpPr>
          <p:cNvPr name="AutoShape 21" id="21"/>
          <p:cNvSpPr/>
          <p:nvPr/>
        </p:nvSpPr>
        <p:spPr>
          <a:xfrm flipV="true">
            <a:off x="9072806" y="4191980"/>
            <a:ext cx="1071736" cy="19050"/>
          </a:xfrm>
          <a:prstGeom prst="line">
            <a:avLst/>
          </a:prstGeom>
          <a:ln cap="flat" w="38100">
            <a:solidFill>
              <a:srgbClr val="000000"/>
            </a:solidFill>
            <a:prstDash val="solid"/>
            <a:headEnd type="none" len="sm" w="sm"/>
            <a:tailEnd type="arrow" len="sm" w="med"/>
          </a:ln>
        </p:spPr>
      </p:sp>
      <p:sp>
        <p:nvSpPr>
          <p:cNvPr name="Freeform 22" id="22"/>
          <p:cNvSpPr/>
          <p:nvPr/>
        </p:nvSpPr>
        <p:spPr>
          <a:xfrm flipH="false" flipV="false" rot="0">
            <a:off x="10144881" y="3500651"/>
            <a:ext cx="3213115" cy="1363614"/>
          </a:xfrm>
          <a:custGeom>
            <a:avLst/>
            <a:gdLst/>
            <a:ahLst/>
            <a:cxnLst/>
            <a:rect r="r" b="b" t="t" l="l"/>
            <a:pathLst>
              <a:path h="1363614" w="3213115">
                <a:moveTo>
                  <a:pt x="0" y="0"/>
                </a:moveTo>
                <a:lnTo>
                  <a:pt x="3213115" y="0"/>
                </a:lnTo>
                <a:lnTo>
                  <a:pt x="3213115" y="1363614"/>
                </a:lnTo>
                <a:lnTo>
                  <a:pt x="0" y="1363614"/>
                </a:lnTo>
                <a:lnTo>
                  <a:pt x="0" y="0"/>
                </a:lnTo>
                <a:close/>
              </a:path>
            </a:pathLst>
          </a:custGeom>
          <a:blipFill>
            <a:blip r:embed="rId8"/>
            <a:stretch>
              <a:fillRect l="0" t="0" r="0" b="0"/>
            </a:stretch>
          </a:blipFill>
        </p:spPr>
      </p:sp>
      <p:sp>
        <p:nvSpPr>
          <p:cNvPr name="AutoShape 23" id="23"/>
          <p:cNvSpPr/>
          <p:nvPr/>
        </p:nvSpPr>
        <p:spPr>
          <a:xfrm flipV="true">
            <a:off x="492832" y="6105101"/>
            <a:ext cx="1071736" cy="19050"/>
          </a:xfrm>
          <a:prstGeom prst="line">
            <a:avLst/>
          </a:prstGeom>
          <a:ln cap="flat" w="38100">
            <a:solidFill>
              <a:srgbClr val="000000"/>
            </a:solidFill>
            <a:prstDash val="solid"/>
            <a:headEnd type="none" len="sm" w="sm"/>
            <a:tailEnd type="arrow" len="sm" w="med"/>
          </a:ln>
        </p:spPr>
      </p:sp>
      <p:sp>
        <p:nvSpPr>
          <p:cNvPr name="Freeform 24" id="24"/>
          <p:cNvSpPr/>
          <p:nvPr/>
        </p:nvSpPr>
        <p:spPr>
          <a:xfrm flipH="false" flipV="false" rot="0">
            <a:off x="1524247" y="5436941"/>
            <a:ext cx="3128254" cy="1298225"/>
          </a:xfrm>
          <a:custGeom>
            <a:avLst/>
            <a:gdLst/>
            <a:ahLst/>
            <a:cxnLst/>
            <a:rect r="r" b="b" t="t" l="l"/>
            <a:pathLst>
              <a:path h="1298225" w="3128254">
                <a:moveTo>
                  <a:pt x="0" y="0"/>
                </a:moveTo>
                <a:lnTo>
                  <a:pt x="3128254" y="0"/>
                </a:lnTo>
                <a:lnTo>
                  <a:pt x="3128254" y="1298226"/>
                </a:lnTo>
                <a:lnTo>
                  <a:pt x="0" y="1298226"/>
                </a:lnTo>
                <a:lnTo>
                  <a:pt x="0" y="0"/>
                </a:lnTo>
                <a:close/>
              </a:path>
            </a:pathLst>
          </a:custGeom>
          <a:blipFill>
            <a:blip r:embed="rId9"/>
            <a:stretch>
              <a:fillRect l="0" t="0" r="0" b="0"/>
            </a:stretch>
          </a:blipFill>
        </p:spPr>
      </p:sp>
      <p:sp>
        <p:nvSpPr>
          <p:cNvPr name="AutoShape 25" id="25"/>
          <p:cNvSpPr/>
          <p:nvPr/>
        </p:nvSpPr>
        <p:spPr>
          <a:xfrm flipV="true">
            <a:off x="5491912" y="6114626"/>
            <a:ext cx="1071736" cy="19050"/>
          </a:xfrm>
          <a:prstGeom prst="line">
            <a:avLst/>
          </a:prstGeom>
          <a:ln cap="flat" w="38100">
            <a:solidFill>
              <a:srgbClr val="000000"/>
            </a:solidFill>
            <a:prstDash val="solid"/>
            <a:headEnd type="none" len="sm" w="sm"/>
            <a:tailEnd type="arrow" len="sm" w="med"/>
          </a:ln>
        </p:spPr>
      </p:sp>
      <p:sp>
        <p:nvSpPr>
          <p:cNvPr name="Freeform 26" id="26"/>
          <p:cNvSpPr/>
          <p:nvPr/>
        </p:nvSpPr>
        <p:spPr>
          <a:xfrm flipH="false" flipV="false" rot="0">
            <a:off x="6618861" y="5459923"/>
            <a:ext cx="3280609" cy="1349916"/>
          </a:xfrm>
          <a:custGeom>
            <a:avLst/>
            <a:gdLst/>
            <a:ahLst/>
            <a:cxnLst/>
            <a:rect r="r" b="b" t="t" l="l"/>
            <a:pathLst>
              <a:path h="1349916" w="3280609">
                <a:moveTo>
                  <a:pt x="0" y="0"/>
                </a:moveTo>
                <a:lnTo>
                  <a:pt x="3280609" y="0"/>
                </a:lnTo>
                <a:lnTo>
                  <a:pt x="3280609" y="1349916"/>
                </a:lnTo>
                <a:lnTo>
                  <a:pt x="0" y="1349916"/>
                </a:lnTo>
                <a:lnTo>
                  <a:pt x="0" y="0"/>
                </a:lnTo>
                <a:close/>
              </a:path>
            </a:pathLst>
          </a:custGeom>
          <a:blipFill>
            <a:blip r:embed="rId10"/>
            <a:stretch>
              <a:fillRect l="0" t="0" r="0" b="0"/>
            </a:stretch>
          </a:blipFill>
        </p:spPr>
      </p:sp>
      <p:sp>
        <p:nvSpPr>
          <p:cNvPr name="AutoShape 27" id="27"/>
          <p:cNvSpPr/>
          <p:nvPr/>
        </p:nvSpPr>
        <p:spPr>
          <a:xfrm flipV="true">
            <a:off x="11215570" y="6143198"/>
            <a:ext cx="1071736" cy="19050"/>
          </a:xfrm>
          <a:prstGeom prst="line">
            <a:avLst/>
          </a:prstGeom>
          <a:ln cap="flat" w="38100">
            <a:solidFill>
              <a:srgbClr val="000000"/>
            </a:solidFill>
            <a:prstDash val="solid"/>
            <a:headEnd type="none" len="sm" w="sm"/>
            <a:tailEnd type="arrow" len="sm" w="med"/>
          </a:ln>
        </p:spPr>
      </p:sp>
      <p:sp>
        <p:nvSpPr>
          <p:cNvPr name="Freeform 28" id="28"/>
          <p:cNvSpPr/>
          <p:nvPr/>
        </p:nvSpPr>
        <p:spPr>
          <a:xfrm flipH="false" flipV="false" rot="0">
            <a:off x="12344796" y="5485582"/>
            <a:ext cx="3420697" cy="1459879"/>
          </a:xfrm>
          <a:custGeom>
            <a:avLst/>
            <a:gdLst/>
            <a:ahLst/>
            <a:cxnLst/>
            <a:rect r="r" b="b" t="t" l="l"/>
            <a:pathLst>
              <a:path h="1459879" w="3420697">
                <a:moveTo>
                  <a:pt x="0" y="0"/>
                </a:moveTo>
                <a:lnTo>
                  <a:pt x="3420697" y="0"/>
                </a:lnTo>
                <a:lnTo>
                  <a:pt x="3420697" y="1459879"/>
                </a:lnTo>
                <a:lnTo>
                  <a:pt x="0" y="1459879"/>
                </a:lnTo>
                <a:lnTo>
                  <a:pt x="0" y="0"/>
                </a:lnTo>
                <a:close/>
              </a:path>
            </a:pathLst>
          </a:custGeom>
          <a:blipFill>
            <a:blip r:embed="rId11"/>
            <a:stretch>
              <a:fillRect l="0" t="0" r="0" b="0"/>
            </a:stretch>
          </a:blipFill>
        </p:spPr>
      </p:sp>
      <p:sp>
        <p:nvSpPr>
          <p:cNvPr name="TextBox 29" id="29"/>
          <p:cNvSpPr txBox="true"/>
          <p:nvPr/>
        </p:nvSpPr>
        <p:spPr>
          <a:xfrm rot="0">
            <a:off x="594734" y="3178597"/>
            <a:ext cx="17098531" cy="346354"/>
          </a:xfrm>
          <a:prstGeom prst="rect">
            <a:avLst/>
          </a:prstGeom>
        </p:spPr>
        <p:txBody>
          <a:bodyPr anchor="t" rtlCol="false" tIns="0" lIns="0" bIns="0" rIns="0">
            <a:spAutoFit/>
          </a:bodyPr>
          <a:lstStyle/>
          <a:p>
            <a:pPr algn="l" marL="0" indent="0" lvl="0">
              <a:lnSpc>
                <a:spcPts val="2459"/>
              </a:lnSpc>
              <a:spcBef>
                <a:spcPct val="0"/>
              </a:spcBef>
            </a:pPr>
            <a:r>
              <a:rPr lang="en-US" sz="2510">
                <a:solidFill>
                  <a:srgbClr val="042560"/>
                </a:solidFill>
                <a:latin typeface="Poppins"/>
                <a:ea typeface="Poppins"/>
                <a:cs typeface="Poppins"/>
                <a:sym typeface="Poppins"/>
              </a:rPr>
              <a:t>Example: </a:t>
            </a:r>
          </a:p>
        </p:txBody>
      </p:sp>
      <p:sp>
        <p:nvSpPr>
          <p:cNvPr name="TextBox 30" id="30"/>
          <p:cNvSpPr txBox="true"/>
          <p:nvPr/>
        </p:nvSpPr>
        <p:spPr>
          <a:xfrm rot="0">
            <a:off x="282710" y="2028513"/>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Methods for Solving</a:t>
            </a:r>
          </a:p>
        </p:txBody>
      </p:sp>
      <p:sp>
        <p:nvSpPr>
          <p:cNvPr name="TextBox 31" id="31"/>
          <p:cNvSpPr txBox="true"/>
          <p:nvPr/>
        </p:nvSpPr>
        <p:spPr>
          <a:xfrm rot="0">
            <a:off x="442219" y="3658302"/>
            <a:ext cx="2312683" cy="1000688"/>
          </a:xfrm>
          <a:prstGeom prst="rect">
            <a:avLst/>
          </a:prstGeom>
        </p:spPr>
        <p:txBody>
          <a:bodyPr anchor="t" rtlCol="false" tIns="0" lIns="0" bIns="0" rIns="0">
            <a:spAutoFit/>
          </a:bodyPr>
          <a:lstStyle/>
          <a:p>
            <a:pPr algn="ctr">
              <a:lnSpc>
                <a:spcPts val="4070"/>
              </a:lnSpc>
              <a:spcBef>
                <a:spcPct val="0"/>
              </a:spcBef>
            </a:pPr>
            <a:r>
              <a:rPr lang="en-US" sz="2907">
                <a:solidFill>
                  <a:srgbClr val="000000"/>
                </a:solidFill>
                <a:latin typeface="Kurale"/>
                <a:ea typeface="Kurale"/>
                <a:cs typeface="Kurale"/>
                <a:sym typeface="Kurale"/>
              </a:rPr>
              <a:t>–𝑥+2⁢𝑦=–63⁢𝑥</a:t>
            </a:r>
          </a:p>
          <a:p>
            <a:pPr algn="l">
              <a:lnSpc>
                <a:spcPts val="4070"/>
              </a:lnSpc>
              <a:spcBef>
                <a:spcPct val="0"/>
              </a:spcBef>
            </a:pPr>
            <a:r>
              <a:rPr lang="en-US" sz="2907">
                <a:solidFill>
                  <a:srgbClr val="000000"/>
                </a:solidFill>
                <a:latin typeface="Kurale"/>
                <a:ea typeface="Kurale"/>
                <a:cs typeface="Kurale"/>
                <a:sym typeface="Kurale"/>
              </a:rPr>
              <a:t>–4⁢𝑦=14</a:t>
            </a:r>
          </a:p>
        </p:txBody>
      </p:sp>
      <p:sp>
        <p:nvSpPr>
          <p:cNvPr name="TextBox 32" id="32"/>
          <p:cNvSpPr txBox="true"/>
          <p:nvPr/>
        </p:nvSpPr>
        <p:spPr>
          <a:xfrm rot="0">
            <a:off x="7895113" y="3953128"/>
            <a:ext cx="728106" cy="487229"/>
          </a:xfrm>
          <a:prstGeom prst="rect">
            <a:avLst/>
          </a:prstGeom>
        </p:spPr>
        <p:txBody>
          <a:bodyPr anchor="t" rtlCol="false" tIns="0" lIns="0" bIns="0" rIns="0">
            <a:spAutoFit/>
          </a:bodyPr>
          <a:lstStyle/>
          <a:p>
            <a:pPr algn="ctr">
              <a:lnSpc>
                <a:spcPts val="4070"/>
              </a:lnSpc>
              <a:spcBef>
                <a:spcPct val="0"/>
              </a:spcBef>
            </a:pPr>
            <a:r>
              <a:rPr lang="en-US" sz="2907">
                <a:solidFill>
                  <a:srgbClr val="000000"/>
                </a:solidFill>
                <a:latin typeface="Kurale"/>
                <a:ea typeface="Kurale"/>
                <a:cs typeface="Kurale"/>
                <a:sym typeface="Kurale"/>
              </a:rPr>
              <a:t>B1.-1</a:t>
            </a:r>
          </a:p>
        </p:txBody>
      </p:sp>
      <p:sp>
        <p:nvSpPr>
          <p:cNvPr name="TextBox 33" id="33"/>
          <p:cNvSpPr txBox="true"/>
          <p:nvPr/>
        </p:nvSpPr>
        <p:spPr>
          <a:xfrm rot="0">
            <a:off x="13357996" y="3915031"/>
            <a:ext cx="1160515" cy="487229"/>
          </a:xfrm>
          <a:prstGeom prst="rect">
            <a:avLst/>
          </a:prstGeom>
        </p:spPr>
        <p:txBody>
          <a:bodyPr anchor="t" rtlCol="false" tIns="0" lIns="0" bIns="0" rIns="0">
            <a:spAutoFit/>
          </a:bodyPr>
          <a:lstStyle/>
          <a:p>
            <a:pPr algn="ctr">
              <a:lnSpc>
                <a:spcPts val="4070"/>
              </a:lnSpc>
              <a:spcBef>
                <a:spcPct val="0"/>
              </a:spcBef>
            </a:pPr>
            <a:r>
              <a:rPr lang="en-US" sz="2907">
                <a:solidFill>
                  <a:srgbClr val="000000"/>
                </a:solidFill>
                <a:latin typeface="Kurale"/>
                <a:ea typeface="Kurale"/>
                <a:cs typeface="Kurale"/>
                <a:sym typeface="Kurale"/>
              </a:rPr>
              <a:t>B2-3B1</a:t>
            </a:r>
          </a:p>
        </p:txBody>
      </p:sp>
      <p:sp>
        <p:nvSpPr>
          <p:cNvPr name="TextBox 34" id="34"/>
          <p:cNvSpPr txBox="true"/>
          <p:nvPr/>
        </p:nvSpPr>
        <p:spPr>
          <a:xfrm rot="0">
            <a:off x="4652501" y="5837674"/>
            <a:ext cx="728106" cy="487229"/>
          </a:xfrm>
          <a:prstGeom prst="rect">
            <a:avLst/>
          </a:prstGeom>
        </p:spPr>
        <p:txBody>
          <a:bodyPr anchor="t" rtlCol="false" tIns="0" lIns="0" bIns="0" rIns="0">
            <a:spAutoFit/>
          </a:bodyPr>
          <a:lstStyle/>
          <a:p>
            <a:pPr algn="ctr">
              <a:lnSpc>
                <a:spcPts val="4070"/>
              </a:lnSpc>
              <a:spcBef>
                <a:spcPct val="0"/>
              </a:spcBef>
            </a:pPr>
            <a:r>
              <a:rPr lang="en-US" sz="2907">
                <a:solidFill>
                  <a:srgbClr val="000000"/>
                </a:solidFill>
                <a:latin typeface="Kurale"/>
                <a:ea typeface="Kurale"/>
                <a:cs typeface="Kurale"/>
                <a:sym typeface="Kurale"/>
              </a:rPr>
              <a:t>B2:2</a:t>
            </a:r>
          </a:p>
        </p:txBody>
      </p:sp>
      <p:sp>
        <p:nvSpPr>
          <p:cNvPr name="TextBox 35" id="35"/>
          <p:cNvSpPr txBox="true"/>
          <p:nvPr/>
        </p:nvSpPr>
        <p:spPr>
          <a:xfrm rot="0">
            <a:off x="9707237" y="5856724"/>
            <a:ext cx="1258610" cy="487229"/>
          </a:xfrm>
          <a:prstGeom prst="rect">
            <a:avLst/>
          </a:prstGeom>
        </p:spPr>
        <p:txBody>
          <a:bodyPr anchor="t" rtlCol="false" tIns="0" lIns="0" bIns="0" rIns="0">
            <a:spAutoFit/>
          </a:bodyPr>
          <a:lstStyle/>
          <a:p>
            <a:pPr algn="ctr">
              <a:lnSpc>
                <a:spcPts val="4070"/>
              </a:lnSpc>
              <a:spcBef>
                <a:spcPct val="0"/>
              </a:spcBef>
            </a:pPr>
            <a:r>
              <a:rPr lang="en-US" sz="2907">
                <a:solidFill>
                  <a:srgbClr val="000000"/>
                </a:solidFill>
                <a:latin typeface="Kurale"/>
                <a:ea typeface="Kurale"/>
                <a:cs typeface="Kurale"/>
                <a:sym typeface="Kurale"/>
              </a:rPr>
              <a:t>B1+2B2</a:t>
            </a:r>
          </a:p>
        </p:txBody>
      </p:sp>
      <p:sp>
        <p:nvSpPr>
          <p:cNvPr name="TextBox 36" id="36"/>
          <p:cNvSpPr txBox="true"/>
          <p:nvPr/>
        </p:nvSpPr>
        <p:spPr>
          <a:xfrm rot="0">
            <a:off x="492832" y="7155011"/>
            <a:ext cx="17098531" cy="346354"/>
          </a:xfrm>
          <a:prstGeom prst="rect">
            <a:avLst/>
          </a:prstGeom>
        </p:spPr>
        <p:txBody>
          <a:bodyPr anchor="t" rtlCol="false" tIns="0" lIns="0" bIns="0" rIns="0">
            <a:spAutoFit/>
          </a:bodyPr>
          <a:lstStyle/>
          <a:p>
            <a:pPr algn="l" marL="0" indent="0" lvl="0">
              <a:lnSpc>
                <a:spcPts val="2459"/>
              </a:lnSpc>
              <a:spcBef>
                <a:spcPct val="0"/>
              </a:spcBef>
            </a:pPr>
            <a:r>
              <a:rPr lang="en-US" sz="2510">
                <a:solidFill>
                  <a:srgbClr val="042560"/>
                </a:solidFill>
                <a:latin typeface="Poppins"/>
                <a:ea typeface="Poppins"/>
                <a:cs typeface="Poppins"/>
                <a:sym typeface="Poppins"/>
              </a:rPr>
              <a:t>So,</a:t>
            </a:r>
          </a:p>
        </p:txBody>
      </p:sp>
      <p:sp>
        <p:nvSpPr>
          <p:cNvPr name="TextBox 37" id="37"/>
          <p:cNvSpPr txBox="true"/>
          <p:nvPr/>
        </p:nvSpPr>
        <p:spPr>
          <a:xfrm rot="0">
            <a:off x="-1519329" y="7634716"/>
            <a:ext cx="5679439" cy="1002411"/>
          </a:xfrm>
          <a:prstGeom prst="rect">
            <a:avLst/>
          </a:prstGeom>
        </p:spPr>
        <p:txBody>
          <a:bodyPr anchor="t" rtlCol="false" tIns="0" lIns="0" bIns="0" rIns="0">
            <a:spAutoFit/>
          </a:bodyPr>
          <a:lstStyle/>
          <a:p>
            <a:pPr algn="ctr">
              <a:lnSpc>
                <a:spcPts val="4073"/>
              </a:lnSpc>
              <a:spcBef>
                <a:spcPct val="0"/>
              </a:spcBef>
            </a:pPr>
            <a:r>
              <a:rPr lang="en-US" sz="2910">
                <a:solidFill>
                  <a:srgbClr val="000000"/>
                </a:solidFill>
                <a:latin typeface="Kurale"/>
                <a:ea typeface="Kurale"/>
                <a:cs typeface="Kurale"/>
                <a:sym typeface="Kurale"/>
              </a:rPr>
              <a:t>𝑥+0⁢𝑦=20⁢</a:t>
            </a:r>
          </a:p>
          <a:p>
            <a:pPr algn="ctr">
              <a:lnSpc>
                <a:spcPts val="4073"/>
              </a:lnSpc>
              <a:spcBef>
                <a:spcPct val="0"/>
              </a:spcBef>
            </a:pPr>
            <a:r>
              <a:rPr lang="en-US" sz="2910">
                <a:solidFill>
                  <a:srgbClr val="000000"/>
                </a:solidFill>
                <a:latin typeface="Kurale"/>
                <a:ea typeface="Kurale"/>
                <a:cs typeface="Kurale"/>
                <a:sym typeface="Kurale"/>
              </a:rPr>
              <a:t>𝑥+𝑦=−2</a:t>
            </a:r>
          </a:p>
        </p:txBody>
      </p:sp>
      <p:sp>
        <p:nvSpPr>
          <p:cNvPr name="TextBox 38" id="38"/>
          <p:cNvSpPr txBox="true"/>
          <p:nvPr/>
        </p:nvSpPr>
        <p:spPr>
          <a:xfrm rot="0">
            <a:off x="4652501" y="7634716"/>
            <a:ext cx="944364" cy="1002411"/>
          </a:xfrm>
          <a:prstGeom prst="rect">
            <a:avLst/>
          </a:prstGeom>
        </p:spPr>
        <p:txBody>
          <a:bodyPr anchor="t" rtlCol="false" tIns="0" lIns="0" bIns="0" rIns="0">
            <a:spAutoFit/>
          </a:bodyPr>
          <a:lstStyle/>
          <a:p>
            <a:pPr algn="ctr">
              <a:lnSpc>
                <a:spcPts val="4073"/>
              </a:lnSpc>
              <a:spcBef>
                <a:spcPct val="0"/>
              </a:spcBef>
            </a:pPr>
            <a:r>
              <a:rPr lang="en-US" sz="2910">
                <a:solidFill>
                  <a:srgbClr val="000000"/>
                </a:solidFill>
                <a:latin typeface="Kurale"/>
                <a:ea typeface="Kurale"/>
                <a:cs typeface="Kurale"/>
                <a:sym typeface="Kurale"/>
              </a:rPr>
              <a:t>𝑥=2</a:t>
            </a:r>
          </a:p>
          <a:p>
            <a:pPr algn="ctr">
              <a:lnSpc>
                <a:spcPts val="4073"/>
              </a:lnSpc>
              <a:spcBef>
                <a:spcPct val="0"/>
              </a:spcBef>
            </a:pPr>
            <a:r>
              <a:rPr lang="en-US" sz="2910">
                <a:solidFill>
                  <a:srgbClr val="000000"/>
                </a:solidFill>
                <a:latin typeface="Kurale"/>
                <a:ea typeface="Kurale"/>
                <a:cs typeface="Kurale"/>
                <a:sym typeface="Kurale"/>
              </a:rPr>
              <a:t>𝑦=–2</a:t>
            </a:r>
          </a:p>
        </p:txBody>
      </p:sp>
      <p:sp>
        <p:nvSpPr>
          <p:cNvPr name="AutoShape 39" id="39"/>
          <p:cNvSpPr/>
          <p:nvPr/>
        </p:nvSpPr>
        <p:spPr>
          <a:xfrm flipV="true">
            <a:off x="3088035" y="8178781"/>
            <a:ext cx="1071736" cy="19050"/>
          </a:xfrm>
          <a:prstGeom prst="line">
            <a:avLst/>
          </a:prstGeom>
          <a:ln cap="flat" w="38100">
            <a:solidFill>
              <a:srgbClr val="000000"/>
            </a:solidFill>
            <a:prstDash val="solid"/>
            <a:headEnd type="none" len="sm" w="sm"/>
            <a:tailEnd type="arrow" len="sm" w="med"/>
          </a:ln>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SOLUT</a:t>
              </a:r>
              <a:r>
                <a:rPr lang="en-US" sz="3999">
                  <a:solidFill>
                    <a:srgbClr val="0B2F70"/>
                  </a:solidFill>
                  <a:latin typeface="Lovelo"/>
                  <a:ea typeface="Lovelo"/>
                  <a:cs typeface="Lovelo"/>
                  <a:sym typeface="Lovelo"/>
                </a:rPr>
                <a:t>IONS TO SYSTEMS OF LINEAR EQUATIONS</a:t>
              </a:r>
            </a:p>
          </p:txBody>
        </p:sp>
      </p:grpSp>
      <p:grpSp>
        <p:nvGrpSpPr>
          <p:cNvPr name="Group 16" id="16"/>
          <p:cNvGrpSpPr/>
          <p:nvPr/>
        </p:nvGrpSpPr>
        <p:grpSpPr>
          <a:xfrm rot="0">
            <a:off x="282710" y="2913808"/>
            <a:ext cx="17762192" cy="3491896"/>
            <a:chOff x="0" y="0"/>
            <a:chExt cx="1819431" cy="357685"/>
          </a:xfrm>
        </p:grpSpPr>
        <p:sp>
          <p:nvSpPr>
            <p:cNvPr name="Freeform 17" id="17"/>
            <p:cNvSpPr/>
            <p:nvPr/>
          </p:nvSpPr>
          <p:spPr>
            <a:xfrm flipH="false" flipV="false" rot="0">
              <a:off x="0" y="0"/>
              <a:ext cx="1819431" cy="357685"/>
            </a:xfrm>
            <a:custGeom>
              <a:avLst/>
              <a:gdLst/>
              <a:ahLst/>
              <a:cxnLst/>
              <a:rect r="r" b="b" t="t" l="l"/>
              <a:pathLst>
                <a:path h="357685" w="1819431">
                  <a:moveTo>
                    <a:pt x="16999" y="0"/>
                  </a:moveTo>
                  <a:lnTo>
                    <a:pt x="1802432" y="0"/>
                  </a:lnTo>
                  <a:cubicBezTo>
                    <a:pt x="1806940" y="0"/>
                    <a:pt x="1811264" y="1791"/>
                    <a:pt x="1814452" y="4979"/>
                  </a:cubicBezTo>
                  <a:cubicBezTo>
                    <a:pt x="1817640" y="8167"/>
                    <a:pt x="1819431" y="12490"/>
                    <a:pt x="1819431" y="16999"/>
                  </a:cubicBezTo>
                  <a:lnTo>
                    <a:pt x="1819431" y="340686"/>
                  </a:lnTo>
                  <a:cubicBezTo>
                    <a:pt x="1819431" y="345194"/>
                    <a:pt x="1817640" y="349518"/>
                    <a:pt x="1814452" y="352706"/>
                  </a:cubicBezTo>
                  <a:cubicBezTo>
                    <a:pt x="1811264" y="355894"/>
                    <a:pt x="1806940" y="357685"/>
                    <a:pt x="1802432" y="357685"/>
                  </a:cubicBezTo>
                  <a:lnTo>
                    <a:pt x="16999" y="357685"/>
                  </a:lnTo>
                  <a:cubicBezTo>
                    <a:pt x="12490" y="357685"/>
                    <a:pt x="8167" y="355894"/>
                    <a:pt x="4979" y="352706"/>
                  </a:cubicBezTo>
                  <a:cubicBezTo>
                    <a:pt x="1791" y="349518"/>
                    <a:pt x="0" y="345194"/>
                    <a:pt x="0" y="340686"/>
                  </a:cubicBezTo>
                  <a:lnTo>
                    <a:pt x="0" y="16999"/>
                  </a:lnTo>
                  <a:cubicBezTo>
                    <a:pt x="0" y="12490"/>
                    <a:pt x="1791" y="8167"/>
                    <a:pt x="4979" y="4979"/>
                  </a:cubicBezTo>
                  <a:cubicBezTo>
                    <a:pt x="8167" y="1791"/>
                    <a:pt x="12490" y="0"/>
                    <a:pt x="16999" y="0"/>
                  </a:cubicBezTo>
                  <a:close/>
                </a:path>
              </a:pathLst>
            </a:custGeom>
            <a:solidFill>
              <a:srgbClr val="F8F3E6"/>
            </a:solidFill>
            <a:ln cap="rnd">
              <a:noFill/>
              <a:prstDash val="solid"/>
              <a:round/>
            </a:ln>
          </p:spPr>
        </p:sp>
        <p:sp>
          <p:nvSpPr>
            <p:cNvPr name="TextBox 18" id="18"/>
            <p:cNvSpPr txBox="true"/>
            <p:nvPr/>
          </p:nvSpPr>
          <p:spPr>
            <a:xfrm>
              <a:off x="0" y="-38100"/>
              <a:ext cx="1819431" cy="395785"/>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1863677" y="4023372"/>
            <a:ext cx="9498612" cy="2125956"/>
          </a:xfrm>
          <a:custGeom>
            <a:avLst/>
            <a:gdLst/>
            <a:ahLst/>
            <a:cxnLst/>
            <a:rect r="r" b="b" t="t" l="l"/>
            <a:pathLst>
              <a:path h="2125956" w="9498612">
                <a:moveTo>
                  <a:pt x="0" y="0"/>
                </a:moveTo>
                <a:lnTo>
                  <a:pt x="9498612" y="0"/>
                </a:lnTo>
                <a:lnTo>
                  <a:pt x="9498612" y="2125956"/>
                </a:lnTo>
                <a:lnTo>
                  <a:pt x="0" y="2125956"/>
                </a:lnTo>
                <a:lnTo>
                  <a:pt x="0" y="0"/>
                </a:lnTo>
                <a:close/>
              </a:path>
            </a:pathLst>
          </a:custGeom>
          <a:blipFill>
            <a:blip r:embed="rId7"/>
            <a:stretch>
              <a:fillRect l="0" t="0" r="0" b="-100498"/>
            </a:stretch>
          </a:blipFill>
        </p:spPr>
      </p:sp>
      <p:sp>
        <p:nvSpPr>
          <p:cNvPr name="Freeform 20" id="20"/>
          <p:cNvSpPr/>
          <p:nvPr/>
        </p:nvSpPr>
        <p:spPr>
          <a:xfrm flipH="false" flipV="false" rot="0">
            <a:off x="8423927" y="4407690"/>
            <a:ext cx="8284752" cy="1810103"/>
          </a:xfrm>
          <a:custGeom>
            <a:avLst/>
            <a:gdLst/>
            <a:ahLst/>
            <a:cxnLst/>
            <a:rect r="r" b="b" t="t" l="l"/>
            <a:pathLst>
              <a:path h="1810103" w="8284752">
                <a:moveTo>
                  <a:pt x="0" y="0"/>
                </a:moveTo>
                <a:lnTo>
                  <a:pt x="8284752" y="0"/>
                </a:lnTo>
                <a:lnTo>
                  <a:pt x="8284752" y="1810103"/>
                </a:lnTo>
                <a:lnTo>
                  <a:pt x="0" y="1810103"/>
                </a:lnTo>
                <a:lnTo>
                  <a:pt x="0" y="0"/>
                </a:lnTo>
                <a:close/>
              </a:path>
            </a:pathLst>
          </a:custGeom>
          <a:blipFill>
            <a:blip r:embed="rId7"/>
            <a:stretch>
              <a:fillRect l="0" t="-105208" r="0" b="0"/>
            </a:stretch>
          </a:blipFill>
        </p:spPr>
      </p:sp>
      <p:sp>
        <p:nvSpPr>
          <p:cNvPr name="TextBox 21" id="21"/>
          <p:cNvSpPr txBox="true"/>
          <p:nvPr/>
        </p:nvSpPr>
        <p:spPr>
          <a:xfrm rot="0">
            <a:off x="594734" y="3146935"/>
            <a:ext cx="17098531" cy="1260754"/>
          </a:xfrm>
          <a:prstGeom prst="rect">
            <a:avLst/>
          </a:prstGeom>
        </p:spPr>
        <p:txBody>
          <a:bodyPr anchor="t" rtlCol="false" tIns="0" lIns="0" bIns="0" rIns="0">
            <a:spAutoFit/>
          </a:bodyPr>
          <a:lstStyle/>
          <a:p>
            <a:pPr algn="l">
              <a:lnSpc>
                <a:spcPts val="2459"/>
              </a:lnSpc>
            </a:pPr>
            <a:r>
              <a:rPr lang="en-US" sz="2510" b="true">
                <a:solidFill>
                  <a:srgbClr val="042560"/>
                </a:solidFill>
                <a:latin typeface="Poppins Bold"/>
                <a:ea typeface="Poppins Bold"/>
                <a:cs typeface="Poppins Bold"/>
                <a:sym typeface="Poppins Bold"/>
              </a:rPr>
              <a:t>Iterative Methods</a:t>
            </a:r>
          </a:p>
          <a:p>
            <a:pPr algn="l">
              <a:lnSpc>
                <a:spcPts val="2459"/>
              </a:lnSpc>
            </a:pPr>
            <a:r>
              <a:rPr lang="en-US" sz="2510">
                <a:solidFill>
                  <a:srgbClr val="042560"/>
                </a:solidFill>
                <a:latin typeface="Poppins"/>
                <a:ea typeface="Poppins"/>
                <a:cs typeface="Poppins"/>
                <a:sym typeface="Poppins"/>
              </a:rPr>
              <a:t>Approximate the solution.</a:t>
            </a:r>
          </a:p>
          <a:p>
            <a:pPr algn="l">
              <a:lnSpc>
                <a:spcPts val="2459"/>
              </a:lnSpc>
            </a:pPr>
          </a:p>
          <a:p>
            <a:pPr algn="l" marL="541910" indent="-270955" lvl="1">
              <a:lnSpc>
                <a:spcPts val="2459"/>
              </a:lnSpc>
              <a:spcBef>
                <a:spcPct val="0"/>
              </a:spcBef>
              <a:buAutoNum type="arabicPeriod" startAt="1"/>
            </a:pPr>
            <a:r>
              <a:rPr lang="en-US" sz="2510">
                <a:solidFill>
                  <a:srgbClr val="042560"/>
                </a:solidFill>
                <a:latin typeface="Poppins"/>
                <a:ea typeface="Poppins"/>
                <a:cs typeface="Poppins"/>
                <a:sym typeface="Poppins"/>
              </a:rPr>
              <a:t>Gauss-Seidel Method: uses the most recent updated values during iteration.</a:t>
            </a:r>
          </a:p>
        </p:txBody>
      </p:sp>
      <p:sp>
        <p:nvSpPr>
          <p:cNvPr name="TextBox 22" id="22"/>
          <p:cNvSpPr txBox="true"/>
          <p:nvPr/>
        </p:nvSpPr>
        <p:spPr>
          <a:xfrm rot="0">
            <a:off x="282710" y="2028513"/>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Methods for Solving</a:t>
            </a:r>
          </a:p>
        </p:txBody>
      </p:sp>
      <p:grpSp>
        <p:nvGrpSpPr>
          <p:cNvPr name="Group 23" id="23"/>
          <p:cNvGrpSpPr/>
          <p:nvPr/>
        </p:nvGrpSpPr>
        <p:grpSpPr>
          <a:xfrm rot="0">
            <a:off x="282710" y="7526480"/>
            <a:ext cx="17762192" cy="2624654"/>
            <a:chOff x="0" y="0"/>
            <a:chExt cx="1819431" cy="268851"/>
          </a:xfrm>
        </p:grpSpPr>
        <p:sp>
          <p:nvSpPr>
            <p:cNvPr name="Freeform 24" id="24"/>
            <p:cNvSpPr/>
            <p:nvPr/>
          </p:nvSpPr>
          <p:spPr>
            <a:xfrm flipH="false" flipV="false" rot="0">
              <a:off x="0" y="0"/>
              <a:ext cx="1819431" cy="268851"/>
            </a:xfrm>
            <a:custGeom>
              <a:avLst/>
              <a:gdLst/>
              <a:ahLst/>
              <a:cxnLst/>
              <a:rect r="r" b="b" t="t" l="l"/>
              <a:pathLst>
                <a:path h="268851" w="1819431">
                  <a:moveTo>
                    <a:pt x="16999" y="0"/>
                  </a:moveTo>
                  <a:lnTo>
                    <a:pt x="1802432" y="0"/>
                  </a:lnTo>
                  <a:cubicBezTo>
                    <a:pt x="1806940" y="0"/>
                    <a:pt x="1811264" y="1791"/>
                    <a:pt x="1814452" y="4979"/>
                  </a:cubicBezTo>
                  <a:cubicBezTo>
                    <a:pt x="1817640" y="8167"/>
                    <a:pt x="1819431" y="12490"/>
                    <a:pt x="1819431" y="16999"/>
                  </a:cubicBezTo>
                  <a:lnTo>
                    <a:pt x="1819431" y="251852"/>
                  </a:lnTo>
                  <a:cubicBezTo>
                    <a:pt x="1819431" y="256360"/>
                    <a:pt x="1817640" y="260684"/>
                    <a:pt x="1814452" y="263872"/>
                  </a:cubicBezTo>
                  <a:cubicBezTo>
                    <a:pt x="1811264" y="267060"/>
                    <a:pt x="1806940" y="268851"/>
                    <a:pt x="1802432" y="268851"/>
                  </a:cubicBezTo>
                  <a:lnTo>
                    <a:pt x="16999" y="268851"/>
                  </a:lnTo>
                  <a:cubicBezTo>
                    <a:pt x="12490" y="268851"/>
                    <a:pt x="8167" y="267060"/>
                    <a:pt x="4979" y="263872"/>
                  </a:cubicBezTo>
                  <a:cubicBezTo>
                    <a:pt x="1791" y="260684"/>
                    <a:pt x="0" y="256360"/>
                    <a:pt x="0" y="251852"/>
                  </a:cubicBezTo>
                  <a:lnTo>
                    <a:pt x="0" y="16999"/>
                  </a:lnTo>
                  <a:cubicBezTo>
                    <a:pt x="0" y="12490"/>
                    <a:pt x="1791" y="8167"/>
                    <a:pt x="4979" y="4979"/>
                  </a:cubicBezTo>
                  <a:cubicBezTo>
                    <a:pt x="8167" y="1791"/>
                    <a:pt x="12490" y="0"/>
                    <a:pt x="16999" y="0"/>
                  </a:cubicBezTo>
                  <a:close/>
                </a:path>
              </a:pathLst>
            </a:custGeom>
            <a:solidFill>
              <a:srgbClr val="F8F3E6"/>
            </a:solidFill>
            <a:ln cap="rnd">
              <a:noFill/>
              <a:prstDash val="solid"/>
              <a:round/>
            </a:ln>
          </p:spPr>
        </p:sp>
        <p:sp>
          <p:nvSpPr>
            <p:cNvPr name="TextBox 25" id="25"/>
            <p:cNvSpPr txBox="true"/>
            <p:nvPr/>
          </p:nvSpPr>
          <p:spPr>
            <a:xfrm>
              <a:off x="0" y="-38100"/>
              <a:ext cx="1819431" cy="30695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TextBox 26" id="26"/>
          <p:cNvSpPr txBox="true"/>
          <p:nvPr/>
        </p:nvSpPr>
        <p:spPr>
          <a:xfrm rot="0">
            <a:off x="282710" y="6643830"/>
            <a:ext cx="11035673"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Matrix Properties</a:t>
            </a:r>
          </a:p>
        </p:txBody>
      </p:sp>
      <p:sp>
        <p:nvSpPr>
          <p:cNvPr name="TextBox 27" id="27"/>
          <p:cNvSpPr txBox="true"/>
          <p:nvPr/>
        </p:nvSpPr>
        <p:spPr>
          <a:xfrm rot="0">
            <a:off x="794627" y="7793180"/>
            <a:ext cx="15258601" cy="1709051"/>
          </a:xfrm>
          <a:prstGeom prst="rect">
            <a:avLst/>
          </a:prstGeom>
        </p:spPr>
        <p:txBody>
          <a:bodyPr anchor="t" rtlCol="false" tIns="0" lIns="0" bIns="0" rIns="0">
            <a:spAutoFit/>
          </a:bodyPr>
          <a:lstStyle/>
          <a:p>
            <a:pPr algn="l" marL="730330" indent="-365165" lvl="1">
              <a:lnSpc>
                <a:spcPts val="3315"/>
              </a:lnSpc>
              <a:buFont typeface="Arial"/>
              <a:buChar char="•"/>
            </a:pPr>
            <a:r>
              <a:rPr lang="en-US" sz="3382">
                <a:solidFill>
                  <a:srgbClr val="042560"/>
                </a:solidFill>
                <a:latin typeface="Poppins"/>
                <a:ea typeface="Poppins"/>
                <a:cs typeface="Poppins"/>
                <a:sym typeface="Poppins"/>
              </a:rPr>
              <a:t>The system has a unique solution if the determinant of A is nonzero.</a:t>
            </a:r>
          </a:p>
          <a:p>
            <a:pPr algn="l" marL="730330" indent="-365165" lvl="1">
              <a:lnSpc>
                <a:spcPts val="3315"/>
              </a:lnSpc>
              <a:buFont typeface="Arial"/>
              <a:buChar char="•"/>
            </a:pPr>
            <a:r>
              <a:rPr lang="en-US" sz="3382">
                <a:solidFill>
                  <a:srgbClr val="042560"/>
                </a:solidFill>
                <a:latin typeface="Poppins"/>
                <a:ea typeface="Poppins"/>
                <a:cs typeface="Poppins"/>
                <a:sym typeface="Poppins"/>
              </a:rPr>
              <a:t>If </a:t>
            </a:r>
            <a:r>
              <a:rPr lang="en-US" sz="3382">
                <a:solidFill>
                  <a:srgbClr val="042560"/>
                </a:solidFill>
                <a:latin typeface="Poppins"/>
                <a:ea typeface="Poppins"/>
                <a:cs typeface="Poppins"/>
                <a:sym typeface="Poppins"/>
              </a:rPr>
              <a:t>det(A)=0\text{det}(A) = 0det(A)=0, the system may be inconsistent or have infinite solutions.</a:t>
            </a:r>
          </a:p>
          <a:p>
            <a:pPr algn="l" marL="0" indent="0" lvl="0">
              <a:lnSpc>
                <a:spcPts val="3315"/>
              </a:lnSpc>
              <a:spcBef>
                <a:spcPct val="0"/>
              </a:spcBef>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SOLVE</a:t>
              </a:r>
              <a:r>
                <a:rPr lang="en-US" sz="3999">
                  <a:solidFill>
                    <a:srgbClr val="0B2F70"/>
                  </a:solidFill>
                  <a:latin typeface="Lovelo"/>
                  <a:ea typeface="Lovelo"/>
                  <a:cs typeface="Lovelo"/>
                  <a:sym typeface="Lovelo"/>
                </a:rPr>
                <a:t> SYSTEMS OF LINEAR EQUATIONS IN PYTHON</a:t>
              </a:r>
            </a:p>
          </p:txBody>
        </p:sp>
      </p:grpSp>
      <p:grpSp>
        <p:nvGrpSpPr>
          <p:cNvPr name="Group 16" id="16"/>
          <p:cNvGrpSpPr/>
          <p:nvPr/>
        </p:nvGrpSpPr>
        <p:grpSpPr>
          <a:xfrm rot="0">
            <a:off x="2093059" y="2812658"/>
            <a:ext cx="14101882" cy="3283779"/>
            <a:chOff x="0" y="0"/>
            <a:chExt cx="1444495" cy="336367"/>
          </a:xfrm>
        </p:grpSpPr>
        <p:sp>
          <p:nvSpPr>
            <p:cNvPr name="Freeform 17" id="17"/>
            <p:cNvSpPr/>
            <p:nvPr/>
          </p:nvSpPr>
          <p:spPr>
            <a:xfrm flipH="false" flipV="false" rot="0">
              <a:off x="0" y="0"/>
              <a:ext cx="1444495" cy="336367"/>
            </a:xfrm>
            <a:custGeom>
              <a:avLst/>
              <a:gdLst/>
              <a:ahLst/>
              <a:cxnLst/>
              <a:rect r="r" b="b" t="t" l="l"/>
              <a:pathLst>
                <a:path h="336367" w="1444495">
                  <a:moveTo>
                    <a:pt x="21411" y="0"/>
                  </a:moveTo>
                  <a:lnTo>
                    <a:pt x="1423084" y="0"/>
                  </a:lnTo>
                  <a:cubicBezTo>
                    <a:pt x="1434909" y="0"/>
                    <a:pt x="1444495" y="9586"/>
                    <a:pt x="1444495" y="21411"/>
                  </a:cubicBezTo>
                  <a:lnTo>
                    <a:pt x="1444495" y="314956"/>
                  </a:lnTo>
                  <a:cubicBezTo>
                    <a:pt x="1444495" y="320634"/>
                    <a:pt x="1442239" y="326080"/>
                    <a:pt x="1438224" y="330095"/>
                  </a:cubicBezTo>
                  <a:cubicBezTo>
                    <a:pt x="1434208" y="334111"/>
                    <a:pt x="1428762" y="336367"/>
                    <a:pt x="1423084" y="336367"/>
                  </a:cubicBezTo>
                  <a:lnTo>
                    <a:pt x="21411" y="336367"/>
                  </a:lnTo>
                  <a:cubicBezTo>
                    <a:pt x="9586" y="336367"/>
                    <a:pt x="0" y="326781"/>
                    <a:pt x="0" y="314956"/>
                  </a:cubicBezTo>
                  <a:lnTo>
                    <a:pt x="0" y="21411"/>
                  </a:lnTo>
                  <a:cubicBezTo>
                    <a:pt x="0" y="9586"/>
                    <a:pt x="9586" y="0"/>
                    <a:pt x="21411" y="0"/>
                  </a:cubicBezTo>
                  <a:close/>
                </a:path>
              </a:pathLst>
            </a:custGeom>
            <a:solidFill>
              <a:srgbClr val="F8F3E6"/>
            </a:solidFill>
            <a:ln cap="rnd">
              <a:noFill/>
              <a:prstDash val="solid"/>
              <a:round/>
            </a:ln>
          </p:spPr>
        </p:sp>
        <p:sp>
          <p:nvSpPr>
            <p:cNvPr name="TextBox 18" id="18"/>
            <p:cNvSpPr txBox="true"/>
            <p:nvPr/>
          </p:nvSpPr>
          <p:spPr>
            <a:xfrm>
              <a:off x="0" y="-38100"/>
              <a:ext cx="1444495" cy="374467"/>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2437533" y="2955077"/>
            <a:ext cx="4259756" cy="2998940"/>
          </a:xfrm>
          <a:custGeom>
            <a:avLst/>
            <a:gdLst/>
            <a:ahLst/>
            <a:cxnLst/>
            <a:rect r="r" b="b" t="t" l="l"/>
            <a:pathLst>
              <a:path h="2998940" w="4259756">
                <a:moveTo>
                  <a:pt x="0" y="0"/>
                </a:moveTo>
                <a:lnTo>
                  <a:pt x="4259756" y="0"/>
                </a:lnTo>
                <a:lnTo>
                  <a:pt x="4259756" y="2998941"/>
                </a:lnTo>
                <a:lnTo>
                  <a:pt x="0" y="2998941"/>
                </a:lnTo>
                <a:lnTo>
                  <a:pt x="0" y="0"/>
                </a:lnTo>
                <a:close/>
              </a:path>
            </a:pathLst>
          </a:custGeom>
          <a:blipFill>
            <a:blip r:embed="rId7"/>
            <a:stretch>
              <a:fillRect l="0" t="0" r="0" b="0"/>
            </a:stretch>
          </a:blipFill>
        </p:spPr>
      </p:sp>
      <p:sp>
        <p:nvSpPr>
          <p:cNvPr name="TextBox 20" id="20"/>
          <p:cNvSpPr txBox="true"/>
          <p:nvPr/>
        </p:nvSpPr>
        <p:spPr>
          <a:xfrm rot="0">
            <a:off x="282710" y="2028513"/>
            <a:ext cx="13584961"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Solving a 3×3 Linear System with NumPy</a:t>
            </a:r>
          </a:p>
        </p:txBody>
      </p:sp>
      <p:sp>
        <p:nvSpPr>
          <p:cNvPr name="TextBox 21" id="21"/>
          <p:cNvSpPr txBox="true"/>
          <p:nvPr/>
        </p:nvSpPr>
        <p:spPr>
          <a:xfrm rot="0">
            <a:off x="7075191" y="3905752"/>
            <a:ext cx="5325123" cy="1237748"/>
          </a:xfrm>
          <a:prstGeom prst="rect">
            <a:avLst/>
          </a:prstGeom>
        </p:spPr>
        <p:txBody>
          <a:bodyPr anchor="t" rtlCol="false" tIns="0" lIns="0" bIns="0" rIns="0">
            <a:spAutoFit/>
          </a:bodyPr>
          <a:lstStyle/>
          <a:p>
            <a:pPr algn="l" marL="0" indent="0" lvl="0">
              <a:lnSpc>
                <a:spcPts val="4584"/>
              </a:lnSpc>
              <a:spcBef>
                <a:spcPct val="0"/>
              </a:spcBef>
            </a:pPr>
            <a:r>
              <a:rPr lang="en-US" sz="4678">
                <a:solidFill>
                  <a:srgbClr val="042560"/>
                </a:solidFill>
                <a:latin typeface="Poppins"/>
                <a:ea typeface="Poppins"/>
                <a:cs typeface="Poppins"/>
                <a:sym typeface="Poppins"/>
              </a:rPr>
              <a:t>Output gives the values of x1, x2, x3</a:t>
            </a:r>
          </a:p>
        </p:txBody>
      </p:sp>
      <p:sp>
        <p:nvSpPr>
          <p:cNvPr name="TextBox 22" id="22"/>
          <p:cNvSpPr txBox="true"/>
          <p:nvPr/>
        </p:nvSpPr>
        <p:spPr>
          <a:xfrm rot="0">
            <a:off x="262904" y="6239312"/>
            <a:ext cx="17762192"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Alternative Method: Matrix Inversion Approach</a:t>
            </a:r>
          </a:p>
        </p:txBody>
      </p:sp>
      <p:grpSp>
        <p:nvGrpSpPr>
          <p:cNvPr name="Group 23" id="23"/>
          <p:cNvGrpSpPr/>
          <p:nvPr/>
        </p:nvGrpSpPr>
        <p:grpSpPr>
          <a:xfrm rot="0">
            <a:off x="2112865" y="6919358"/>
            <a:ext cx="14101882" cy="3121082"/>
            <a:chOff x="0" y="0"/>
            <a:chExt cx="1444495" cy="319701"/>
          </a:xfrm>
        </p:grpSpPr>
        <p:sp>
          <p:nvSpPr>
            <p:cNvPr name="Freeform 24" id="24"/>
            <p:cNvSpPr/>
            <p:nvPr/>
          </p:nvSpPr>
          <p:spPr>
            <a:xfrm flipH="false" flipV="false" rot="0">
              <a:off x="0" y="0"/>
              <a:ext cx="1444495" cy="319701"/>
            </a:xfrm>
            <a:custGeom>
              <a:avLst/>
              <a:gdLst/>
              <a:ahLst/>
              <a:cxnLst/>
              <a:rect r="r" b="b" t="t" l="l"/>
              <a:pathLst>
                <a:path h="319701" w="1444495">
                  <a:moveTo>
                    <a:pt x="21411" y="0"/>
                  </a:moveTo>
                  <a:lnTo>
                    <a:pt x="1423084" y="0"/>
                  </a:lnTo>
                  <a:cubicBezTo>
                    <a:pt x="1434909" y="0"/>
                    <a:pt x="1444495" y="9586"/>
                    <a:pt x="1444495" y="21411"/>
                  </a:cubicBezTo>
                  <a:lnTo>
                    <a:pt x="1444495" y="298290"/>
                  </a:lnTo>
                  <a:cubicBezTo>
                    <a:pt x="1444495" y="303969"/>
                    <a:pt x="1442239" y="309415"/>
                    <a:pt x="1438224" y="313430"/>
                  </a:cubicBezTo>
                  <a:cubicBezTo>
                    <a:pt x="1434208" y="317445"/>
                    <a:pt x="1428762" y="319701"/>
                    <a:pt x="1423084" y="319701"/>
                  </a:cubicBezTo>
                  <a:lnTo>
                    <a:pt x="21411" y="319701"/>
                  </a:lnTo>
                  <a:cubicBezTo>
                    <a:pt x="9586" y="319701"/>
                    <a:pt x="0" y="310115"/>
                    <a:pt x="0" y="298290"/>
                  </a:cubicBezTo>
                  <a:lnTo>
                    <a:pt x="0" y="21411"/>
                  </a:lnTo>
                  <a:cubicBezTo>
                    <a:pt x="0" y="9586"/>
                    <a:pt x="9586" y="0"/>
                    <a:pt x="21411" y="0"/>
                  </a:cubicBezTo>
                  <a:close/>
                </a:path>
              </a:pathLst>
            </a:custGeom>
            <a:solidFill>
              <a:srgbClr val="F8F3E6"/>
            </a:solidFill>
            <a:ln cap="rnd">
              <a:noFill/>
              <a:prstDash val="solid"/>
              <a:round/>
            </a:ln>
          </p:spPr>
        </p:sp>
        <p:sp>
          <p:nvSpPr>
            <p:cNvPr name="TextBox 25" id="25"/>
            <p:cNvSpPr txBox="true"/>
            <p:nvPr/>
          </p:nvSpPr>
          <p:spPr>
            <a:xfrm>
              <a:off x="0" y="-38100"/>
              <a:ext cx="1444495" cy="35780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26" id="26"/>
          <p:cNvSpPr/>
          <p:nvPr/>
        </p:nvSpPr>
        <p:spPr>
          <a:xfrm flipH="false" flipV="false" rot="0">
            <a:off x="2437533" y="7211209"/>
            <a:ext cx="6478416" cy="2537380"/>
          </a:xfrm>
          <a:custGeom>
            <a:avLst/>
            <a:gdLst/>
            <a:ahLst/>
            <a:cxnLst/>
            <a:rect r="r" b="b" t="t" l="l"/>
            <a:pathLst>
              <a:path h="2537380" w="6478416">
                <a:moveTo>
                  <a:pt x="0" y="0"/>
                </a:moveTo>
                <a:lnTo>
                  <a:pt x="6478417" y="0"/>
                </a:lnTo>
                <a:lnTo>
                  <a:pt x="6478417" y="2537380"/>
                </a:lnTo>
                <a:lnTo>
                  <a:pt x="0" y="2537380"/>
                </a:lnTo>
                <a:lnTo>
                  <a:pt x="0" y="0"/>
                </a:lnTo>
                <a:close/>
              </a:path>
            </a:pathLst>
          </a:custGeom>
          <a:blipFill>
            <a:blip r:embed="rId8"/>
            <a:stretch>
              <a:fillRect l="0" t="0" r="0" b="0"/>
            </a:stretch>
          </a:blipFill>
        </p:spPr>
      </p:sp>
      <p:sp>
        <p:nvSpPr>
          <p:cNvPr name="TextBox 27" id="27"/>
          <p:cNvSpPr txBox="true"/>
          <p:nvPr/>
        </p:nvSpPr>
        <p:spPr>
          <a:xfrm rot="0">
            <a:off x="9504142" y="7350930"/>
            <a:ext cx="5792342" cy="2397659"/>
          </a:xfrm>
          <a:prstGeom prst="rect">
            <a:avLst/>
          </a:prstGeom>
        </p:spPr>
        <p:txBody>
          <a:bodyPr anchor="t" rtlCol="false" tIns="0" lIns="0" bIns="0" rIns="0">
            <a:spAutoFit/>
          </a:bodyPr>
          <a:lstStyle/>
          <a:p>
            <a:pPr algn="l" marL="0" indent="0" lvl="0">
              <a:lnSpc>
                <a:spcPts val="4584"/>
              </a:lnSpc>
              <a:spcBef>
                <a:spcPct val="0"/>
              </a:spcBef>
            </a:pPr>
            <a:r>
              <a:rPr lang="en-US" sz="4678">
                <a:solidFill>
                  <a:srgbClr val="042560"/>
                </a:solidFill>
                <a:latin typeface="Poppins"/>
                <a:ea typeface="Poppins"/>
                <a:cs typeface="Poppins"/>
                <a:sym typeface="Poppins"/>
              </a:rPr>
              <a:t>Matrix inversion gives the same solution, but it’s less efficient</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SOLVE</a:t>
              </a:r>
              <a:r>
                <a:rPr lang="en-US" sz="3999">
                  <a:solidFill>
                    <a:srgbClr val="0B2F70"/>
                  </a:solidFill>
                  <a:latin typeface="Lovelo"/>
                  <a:ea typeface="Lovelo"/>
                  <a:cs typeface="Lovelo"/>
                  <a:sym typeface="Lovelo"/>
                </a:rPr>
                <a:t> SYSTEMS OF LINEAR EQUATIONS IN PYTHON</a:t>
              </a:r>
            </a:p>
          </p:txBody>
        </p:sp>
      </p:grpSp>
      <p:grpSp>
        <p:nvGrpSpPr>
          <p:cNvPr name="Group 16" id="16"/>
          <p:cNvGrpSpPr/>
          <p:nvPr/>
        </p:nvGrpSpPr>
        <p:grpSpPr>
          <a:xfrm rot="0">
            <a:off x="1272579" y="3349313"/>
            <a:ext cx="15742842" cy="6373461"/>
            <a:chOff x="0" y="0"/>
            <a:chExt cx="1612583" cy="652851"/>
          </a:xfrm>
        </p:grpSpPr>
        <p:sp>
          <p:nvSpPr>
            <p:cNvPr name="Freeform 17" id="17"/>
            <p:cNvSpPr/>
            <p:nvPr/>
          </p:nvSpPr>
          <p:spPr>
            <a:xfrm flipH="false" flipV="false" rot="0">
              <a:off x="0" y="0"/>
              <a:ext cx="1612583" cy="652851"/>
            </a:xfrm>
            <a:custGeom>
              <a:avLst/>
              <a:gdLst/>
              <a:ahLst/>
              <a:cxnLst/>
              <a:rect r="r" b="b" t="t" l="l"/>
              <a:pathLst>
                <a:path h="652851" w="1612583">
                  <a:moveTo>
                    <a:pt x="19179" y="0"/>
                  </a:moveTo>
                  <a:lnTo>
                    <a:pt x="1593404" y="0"/>
                  </a:lnTo>
                  <a:cubicBezTo>
                    <a:pt x="1603996" y="0"/>
                    <a:pt x="1612583" y="8587"/>
                    <a:pt x="1612583" y="19179"/>
                  </a:cubicBezTo>
                  <a:lnTo>
                    <a:pt x="1612583" y="633672"/>
                  </a:lnTo>
                  <a:cubicBezTo>
                    <a:pt x="1612583" y="638759"/>
                    <a:pt x="1610562" y="643637"/>
                    <a:pt x="1606965" y="647234"/>
                  </a:cubicBezTo>
                  <a:cubicBezTo>
                    <a:pt x="1603369" y="650831"/>
                    <a:pt x="1598490" y="652851"/>
                    <a:pt x="1593404" y="652851"/>
                  </a:cubicBezTo>
                  <a:lnTo>
                    <a:pt x="19179" y="652851"/>
                  </a:lnTo>
                  <a:cubicBezTo>
                    <a:pt x="8587" y="652851"/>
                    <a:pt x="0" y="644264"/>
                    <a:pt x="0" y="633672"/>
                  </a:cubicBezTo>
                  <a:lnTo>
                    <a:pt x="0" y="19179"/>
                  </a:lnTo>
                  <a:cubicBezTo>
                    <a:pt x="0" y="8587"/>
                    <a:pt x="8587" y="0"/>
                    <a:pt x="19179" y="0"/>
                  </a:cubicBezTo>
                  <a:close/>
                </a:path>
              </a:pathLst>
            </a:custGeom>
            <a:solidFill>
              <a:srgbClr val="F8F3E6"/>
            </a:solidFill>
            <a:ln cap="rnd">
              <a:noFill/>
              <a:prstDash val="solid"/>
              <a:round/>
            </a:ln>
          </p:spPr>
        </p:sp>
        <p:sp>
          <p:nvSpPr>
            <p:cNvPr name="TextBox 18" id="18"/>
            <p:cNvSpPr txBox="true"/>
            <p:nvPr/>
          </p:nvSpPr>
          <p:spPr>
            <a:xfrm>
              <a:off x="0" y="-38100"/>
              <a:ext cx="1612583" cy="69095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2474001" y="3705749"/>
            <a:ext cx="6389880" cy="3041935"/>
          </a:xfrm>
          <a:custGeom>
            <a:avLst/>
            <a:gdLst/>
            <a:ahLst/>
            <a:cxnLst/>
            <a:rect r="r" b="b" t="t" l="l"/>
            <a:pathLst>
              <a:path h="3041935" w="6389880">
                <a:moveTo>
                  <a:pt x="0" y="0"/>
                </a:moveTo>
                <a:lnTo>
                  <a:pt x="6389881" y="0"/>
                </a:lnTo>
                <a:lnTo>
                  <a:pt x="6389881" y="3041935"/>
                </a:lnTo>
                <a:lnTo>
                  <a:pt x="0" y="3041935"/>
                </a:lnTo>
                <a:lnTo>
                  <a:pt x="0" y="0"/>
                </a:lnTo>
                <a:close/>
              </a:path>
            </a:pathLst>
          </a:custGeom>
          <a:blipFill>
            <a:blip r:embed="rId7"/>
            <a:stretch>
              <a:fillRect l="0" t="0" r="0" b="-191152"/>
            </a:stretch>
          </a:blipFill>
        </p:spPr>
      </p:sp>
      <p:sp>
        <p:nvSpPr>
          <p:cNvPr name="Freeform 20" id="20"/>
          <p:cNvSpPr/>
          <p:nvPr/>
        </p:nvSpPr>
        <p:spPr>
          <a:xfrm flipH="false" flipV="false" rot="0">
            <a:off x="10440849" y="3705749"/>
            <a:ext cx="5501016" cy="4917298"/>
          </a:xfrm>
          <a:custGeom>
            <a:avLst/>
            <a:gdLst/>
            <a:ahLst/>
            <a:cxnLst/>
            <a:rect r="r" b="b" t="t" l="l"/>
            <a:pathLst>
              <a:path h="4917298" w="5501016">
                <a:moveTo>
                  <a:pt x="0" y="0"/>
                </a:moveTo>
                <a:lnTo>
                  <a:pt x="5501016" y="0"/>
                </a:lnTo>
                <a:lnTo>
                  <a:pt x="5501016" y="4917298"/>
                </a:lnTo>
                <a:lnTo>
                  <a:pt x="0" y="4917298"/>
                </a:lnTo>
                <a:lnTo>
                  <a:pt x="0" y="0"/>
                </a:lnTo>
                <a:close/>
              </a:path>
            </a:pathLst>
          </a:custGeom>
          <a:blipFill>
            <a:blip r:embed="rId7"/>
            <a:stretch>
              <a:fillRect l="0" t="-55057" r="0" b="0"/>
            </a:stretch>
          </a:blipFill>
        </p:spPr>
      </p:sp>
      <p:sp>
        <p:nvSpPr>
          <p:cNvPr name="TextBox 21" id="21"/>
          <p:cNvSpPr txBox="true"/>
          <p:nvPr/>
        </p:nvSpPr>
        <p:spPr>
          <a:xfrm rot="0">
            <a:off x="282710" y="2028513"/>
            <a:ext cx="13584961" cy="2559050"/>
          </a:xfrm>
          <a:prstGeom prst="rect">
            <a:avLst/>
          </a:prstGeom>
        </p:spPr>
        <p:txBody>
          <a:bodyPr anchor="t" rtlCol="false" tIns="0" lIns="0" bIns="0" rIns="0">
            <a:spAutoFit/>
          </a:bodyPr>
          <a:lstStyle/>
          <a:p>
            <a:pPr algn="l">
              <a:lnSpc>
                <a:spcPts val="4900"/>
              </a:lnSpc>
            </a:pPr>
            <a:r>
              <a:rPr lang="en-US" sz="5000" b="true">
                <a:solidFill>
                  <a:srgbClr val="FF9C00"/>
                </a:solidFill>
                <a:latin typeface="Poppins Bold"/>
                <a:ea typeface="Poppins Bold"/>
                <a:cs typeface="Poppins Bold"/>
                <a:sym typeface="Poppins Bold"/>
              </a:rPr>
              <a:t>Getting LU (PA) using SciPy</a:t>
            </a:r>
          </a:p>
          <a:p>
            <a:pPr algn="l">
              <a:lnSpc>
                <a:spcPts val="4900"/>
              </a:lnSpc>
            </a:pPr>
          </a:p>
          <a:p>
            <a:pPr algn="l">
              <a:lnSpc>
                <a:spcPts val="4900"/>
              </a:lnSpc>
            </a:pPr>
          </a:p>
          <a:p>
            <a:pPr algn="l">
              <a:lnSpc>
                <a:spcPts val="4900"/>
              </a:lnSpc>
            </a:pPr>
          </a:p>
        </p:txBody>
      </p:sp>
      <p:sp>
        <p:nvSpPr>
          <p:cNvPr name="TextBox 22" id="22"/>
          <p:cNvSpPr txBox="true"/>
          <p:nvPr/>
        </p:nvSpPr>
        <p:spPr>
          <a:xfrm rot="0">
            <a:off x="1632435" y="6885847"/>
            <a:ext cx="8073013" cy="2760728"/>
          </a:xfrm>
          <a:prstGeom prst="rect">
            <a:avLst/>
          </a:prstGeom>
        </p:spPr>
        <p:txBody>
          <a:bodyPr anchor="t" rtlCol="false" tIns="0" lIns="0" bIns="0" rIns="0">
            <a:spAutoFit/>
          </a:bodyPr>
          <a:lstStyle/>
          <a:p>
            <a:pPr algn="just">
              <a:lnSpc>
                <a:spcPts val="3559"/>
              </a:lnSpc>
            </a:pPr>
            <a:r>
              <a:rPr lang="en-US" sz="3632">
                <a:solidFill>
                  <a:srgbClr val="042560"/>
                </a:solidFill>
                <a:latin typeface="Poppins"/>
                <a:ea typeface="Poppins"/>
                <a:cs typeface="Poppins"/>
                <a:sym typeface="Poppins"/>
              </a:rPr>
              <a:t>P = Permutation matrix</a:t>
            </a:r>
          </a:p>
          <a:p>
            <a:pPr algn="just">
              <a:lnSpc>
                <a:spcPts val="3559"/>
              </a:lnSpc>
            </a:pPr>
            <a:r>
              <a:rPr lang="en-US" sz="3632">
                <a:solidFill>
                  <a:srgbClr val="042560"/>
                </a:solidFill>
                <a:latin typeface="Poppins"/>
                <a:ea typeface="Poppins"/>
                <a:cs typeface="Poppins"/>
                <a:sym typeface="Poppins"/>
              </a:rPr>
              <a:t>L = Lower triangular matrix</a:t>
            </a:r>
          </a:p>
          <a:p>
            <a:pPr algn="just">
              <a:lnSpc>
                <a:spcPts val="3559"/>
              </a:lnSpc>
            </a:pPr>
            <a:r>
              <a:rPr lang="en-US" sz="3632">
                <a:solidFill>
                  <a:srgbClr val="042560"/>
                </a:solidFill>
                <a:latin typeface="Poppins"/>
                <a:ea typeface="Poppins"/>
                <a:cs typeface="Poppins"/>
                <a:sym typeface="Poppins"/>
              </a:rPr>
              <a:t>U = Upper triangular matrix</a:t>
            </a:r>
          </a:p>
          <a:p>
            <a:pPr algn="just">
              <a:lnSpc>
                <a:spcPts val="3559"/>
              </a:lnSpc>
            </a:pPr>
            <a:r>
              <a:rPr lang="en-US" sz="3632">
                <a:solidFill>
                  <a:srgbClr val="042560"/>
                </a:solidFill>
                <a:latin typeface="Poppins"/>
                <a:ea typeface="Poppins"/>
                <a:cs typeface="Poppins"/>
                <a:sym typeface="Poppins"/>
              </a:rPr>
              <a:t>LU = It confirms that the LU decomposition was performed correctly</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495107"/>
            <a:chOff x="0" y="0"/>
            <a:chExt cx="9550871" cy="1993476"/>
          </a:xfrm>
        </p:grpSpPr>
        <p:grpSp>
          <p:nvGrpSpPr>
            <p:cNvPr name="Group 12" id="12"/>
            <p:cNvGrpSpPr/>
            <p:nvPr/>
          </p:nvGrpSpPr>
          <p:grpSpPr>
            <a:xfrm rot="0">
              <a:off x="0" y="0"/>
              <a:ext cx="9550871" cy="1993476"/>
              <a:chOff x="0" y="0"/>
              <a:chExt cx="965104" cy="201438"/>
            </a:xfrm>
          </p:grpSpPr>
          <p:sp>
            <p:nvSpPr>
              <p:cNvPr name="Freeform 13" id="13"/>
              <p:cNvSpPr/>
              <p:nvPr/>
            </p:nvSpPr>
            <p:spPr>
              <a:xfrm flipH="false" flipV="false" rot="0">
                <a:off x="0" y="0"/>
                <a:ext cx="965104" cy="201438"/>
              </a:xfrm>
              <a:custGeom>
                <a:avLst/>
                <a:gdLst/>
                <a:ahLst/>
                <a:cxnLst/>
                <a:rect r="r" b="b" t="t" l="l"/>
                <a:pathLst>
                  <a:path h="201438" w="965104">
                    <a:moveTo>
                      <a:pt x="79979" y="0"/>
                    </a:moveTo>
                    <a:lnTo>
                      <a:pt x="885125" y="0"/>
                    </a:lnTo>
                    <a:cubicBezTo>
                      <a:pt x="929296" y="0"/>
                      <a:pt x="965104" y="35808"/>
                      <a:pt x="965104" y="79979"/>
                    </a:cubicBezTo>
                    <a:lnTo>
                      <a:pt x="965104" y="121459"/>
                    </a:lnTo>
                    <a:cubicBezTo>
                      <a:pt x="965104" y="165630"/>
                      <a:pt x="929296" y="201438"/>
                      <a:pt x="885125" y="201438"/>
                    </a:cubicBezTo>
                    <a:lnTo>
                      <a:pt x="79979" y="201438"/>
                    </a:lnTo>
                    <a:cubicBezTo>
                      <a:pt x="35808" y="201438"/>
                      <a:pt x="0" y="165630"/>
                      <a:pt x="0" y="121459"/>
                    </a:cubicBezTo>
                    <a:lnTo>
                      <a:pt x="0" y="79979"/>
                    </a:lnTo>
                    <a:cubicBezTo>
                      <a:pt x="0" y="35808"/>
                      <a:pt x="35808" y="0"/>
                      <a:pt x="79979" y="0"/>
                    </a:cubicBezTo>
                    <a:close/>
                  </a:path>
                </a:pathLst>
              </a:custGeom>
              <a:solidFill>
                <a:srgbClr val="F8F3E6"/>
              </a:solidFill>
            </p:spPr>
          </p:sp>
          <p:sp>
            <p:nvSpPr>
              <p:cNvPr name="TextBox 14" id="14"/>
              <p:cNvSpPr txBox="true"/>
              <p:nvPr/>
            </p:nvSpPr>
            <p:spPr>
              <a:xfrm>
                <a:off x="0" y="-85725"/>
                <a:ext cx="965104" cy="287163"/>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1360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SOLVE</a:t>
              </a:r>
              <a:r>
                <a:rPr lang="en-US" sz="3999">
                  <a:solidFill>
                    <a:srgbClr val="0B2F70"/>
                  </a:solidFill>
                  <a:latin typeface="Lovelo"/>
                  <a:ea typeface="Lovelo"/>
                  <a:cs typeface="Lovelo"/>
                  <a:sym typeface="Lovelo"/>
                </a:rPr>
                <a:t> SYSTEMS OF LINEAR EQUATIONS IN PYTHON</a:t>
              </a:r>
            </a:p>
          </p:txBody>
        </p:sp>
      </p:grpSp>
      <p:grpSp>
        <p:nvGrpSpPr>
          <p:cNvPr name="Group 16" id="16"/>
          <p:cNvGrpSpPr/>
          <p:nvPr/>
        </p:nvGrpSpPr>
        <p:grpSpPr>
          <a:xfrm rot="0">
            <a:off x="1272579" y="3349313"/>
            <a:ext cx="15742842" cy="6373461"/>
            <a:chOff x="0" y="0"/>
            <a:chExt cx="1612583" cy="652851"/>
          </a:xfrm>
        </p:grpSpPr>
        <p:sp>
          <p:nvSpPr>
            <p:cNvPr name="Freeform 17" id="17"/>
            <p:cNvSpPr/>
            <p:nvPr/>
          </p:nvSpPr>
          <p:spPr>
            <a:xfrm flipH="false" flipV="false" rot="0">
              <a:off x="0" y="0"/>
              <a:ext cx="1612583" cy="652851"/>
            </a:xfrm>
            <a:custGeom>
              <a:avLst/>
              <a:gdLst/>
              <a:ahLst/>
              <a:cxnLst/>
              <a:rect r="r" b="b" t="t" l="l"/>
              <a:pathLst>
                <a:path h="652851" w="1612583">
                  <a:moveTo>
                    <a:pt x="19179" y="0"/>
                  </a:moveTo>
                  <a:lnTo>
                    <a:pt x="1593404" y="0"/>
                  </a:lnTo>
                  <a:cubicBezTo>
                    <a:pt x="1603996" y="0"/>
                    <a:pt x="1612583" y="8587"/>
                    <a:pt x="1612583" y="19179"/>
                  </a:cubicBezTo>
                  <a:lnTo>
                    <a:pt x="1612583" y="633672"/>
                  </a:lnTo>
                  <a:cubicBezTo>
                    <a:pt x="1612583" y="638759"/>
                    <a:pt x="1610562" y="643637"/>
                    <a:pt x="1606965" y="647234"/>
                  </a:cubicBezTo>
                  <a:cubicBezTo>
                    <a:pt x="1603369" y="650831"/>
                    <a:pt x="1598490" y="652851"/>
                    <a:pt x="1593404" y="652851"/>
                  </a:cubicBezTo>
                  <a:lnTo>
                    <a:pt x="19179" y="652851"/>
                  </a:lnTo>
                  <a:cubicBezTo>
                    <a:pt x="8587" y="652851"/>
                    <a:pt x="0" y="644264"/>
                    <a:pt x="0" y="633672"/>
                  </a:cubicBezTo>
                  <a:lnTo>
                    <a:pt x="0" y="19179"/>
                  </a:lnTo>
                  <a:cubicBezTo>
                    <a:pt x="0" y="8587"/>
                    <a:pt x="8587" y="0"/>
                    <a:pt x="19179" y="0"/>
                  </a:cubicBezTo>
                  <a:close/>
                </a:path>
              </a:pathLst>
            </a:custGeom>
            <a:solidFill>
              <a:srgbClr val="F8F3E6"/>
            </a:solidFill>
            <a:ln cap="rnd">
              <a:noFill/>
              <a:prstDash val="solid"/>
              <a:round/>
            </a:ln>
          </p:spPr>
        </p:sp>
        <p:sp>
          <p:nvSpPr>
            <p:cNvPr name="TextBox 18" id="18"/>
            <p:cNvSpPr txBox="true"/>
            <p:nvPr/>
          </p:nvSpPr>
          <p:spPr>
            <a:xfrm>
              <a:off x="0" y="-38100"/>
              <a:ext cx="1612583" cy="690951"/>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5553621" y="3770444"/>
            <a:ext cx="7180758" cy="3927435"/>
          </a:xfrm>
          <a:custGeom>
            <a:avLst/>
            <a:gdLst/>
            <a:ahLst/>
            <a:cxnLst/>
            <a:rect r="r" b="b" t="t" l="l"/>
            <a:pathLst>
              <a:path h="3927435" w="7180758">
                <a:moveTo>
                  <a:pt x="0" y="0"/>
                </a:moveTo>
                <a:lnTo>
                  <a:pt x="7180758" y="0"/>
                </a:lnTo>
                <a:lnTo>
                  <a:pt x="7180758" y="3927435"/>
                </a:lnTo>
                <a:lnTo>
                  <a:pt x="0" y="3927435"/>
                </a:lnTo>
                <a:lnTo>
                  <a:pt x="0" y="0"/>
                </a:lnTo>
                <a:close/>
              </a:path>
            </a:pathLst>
          </a:custGeom>
          <a:blipFill>
            <a:blip r:embed="rId7"/>
            <a:stretch>
              <a:fillRect l="0" t="0" r="0" b="0"/>
            </a:stretch>
          </a:blipFill>
        </p:spPr>
      </p:sp>
      <p:sp>
        <p:nvSpPr>
          <p:cNvPr name="TextBox 20" id="20"/>
          <p:cNvSpPr txBox="true"/>
          <p:nvPr/>
        </p:nvSpPr>
        <p:spPr>
          <a:xfrm rot="0">
            <a:off x="282710" y="2028513"/>
            <a:ext cx="13584961" cy="1320800"/>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 Checking the Effect of the Permutation Matrix</a:t>
            </a:r>
          </a:p>
        </p:txBody>
      </p:sp>
      <p:sp>
        <p:nvSpPr>
          <p:cNvPr name="TextBox 21" id="21"/>
          <p:cNvSpPr txBox="true"/>
          <p:nvPr/>
        </p:nvSpPr>
        <p:spPr>
          <a:xfrm rot="0">
            <a:off x="5107494" y="8164604"/>
            <a:ext cx="8073013" cy="949216"/>
          </a:xfrm>
          <a:prstGeom prst="rect">
            <a:avLst/>
          </a:prstGeom>
        </p:spPr>
        <p:txBody>
          <a:bodyPr anchor="t" rtlCol="false" tIns="0" lIns="0" bIns="0" rIns="0">
            <a:spAutoFit/>
          </a:bodyPr>
          <a:lstStyle/>
          <a:p>
            <a:pPr algn="ctr">
              <a:lnSpc>
                <a:spcPts val="3559"/>
              </a:lnSpc>
            </a:pPr>
            <a:r>
              <a:rPr lang="en-US" sz="3632">
                <a:solidFill>
                  <a:srgbClr val="042560"/>
                </a:solidFill>
                <a:latin typeface="Poppins"/>
                <a:ea typeface="Poppins"/>
                <a:cs typeface="Poppins"/>
                <a:sym typeface="Poppins"/>
              </a:rPr>
              <a:t>The reordered matrix PA mat</a:t>
            </a:r>
            <a:r>
              <a:rPr lang="en-US" sz="3632">
                <a:solidFill>
                  <a:srgbClr val="042560"/>
                </a:solidFill>
                <a:latin typeface="Poppins"/>
                <a:ea typeface="Poppins"/>
                <a:cs typeface="Poppins"/>
                <a:sym typeface="Poppins"/>
              </a:rPr>
              <a:t>ches the product LU</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M</a:t>
              </a:r>
              <a:r>
                <a:rPr lang="en-US" sz="3999">
                  <a:solidFill>
                    <a:srgbClr val="0B2F70"/>
                  </a:solidFill>
                  <a:latin typeface="Lovelo"/>
                  <a:ea typeface="Lovelo"/>
                  <a:cs typeface="Lovelo"/>
                  <a:sym typeface="Lovelo"/>
                </a:rPr>
                <a:t>ATRIX INVERSION</a:t>
              </a:r>
            </a:p>
          </p:txBody>
        </p:sp>
      </p:grpSp>
      <p:grpSp>
        <p:nvGrpSpPr>
          <p:cNvPr name="Group 16" id="16"/>
          <p:cNvGrpSpPr/>
          <p:nvPr/>
        </p:nvGrpSpPr>
        <p:grpSpPr>
          <a:xfrm rot="0">
            <a:off x="470358" y="2263020"/>
            <a:ext cx="8217307" cy="1685358"/>
            <a:chOff x="0" y="0"/>
            <a:chExt cx="841722" cy="172636"/>
          </a:xfrm>
        </p:grpSpPr>
        <p:sp>
          <p:nvSpPr>
            <p:cNvPr name="Freeform 17" id="17"/>
            <p:cNvSpPr/>
            <p:nvPr/>
          </p:nvSpPr>
          <p:spPr>
            <a:xfrm flipH="false" flipV="false" rot="0">
              <a:off x="0" y="0"/>
              <a:ext cx="841722" cy="172636"/>
            </a:xfrm>
            <a:custGeom>
              <a:avLst/>
              <a:gdLst/>
              <a:ahLst/>
              <a:cxnLst/>
              <a:rect r="r" b="b" t="t" l="l"/>
              <a:pathLst>
                <a:path h="172636" w="841722">
                  <a:moveTo>
                    <a:pt x="36744" y="0"/>
                  </a:moveTo>
                  <a:lnTo>
                    <a:pt x="804978" y="0"/>
                  </a:lnTo>
                  <a:cubicBezTo>
                    <a:pt x="825271" y="0"/>
                    <a:pt x="841722" y="16451"/>
                    <a:pt x="841722" y="36744"/>
                  </a:cubicBezTo>
                  <a:lnTo>
                    <a:pt x="841722" y="135892"/>
                  </a:lnTo>
                  <a:cubicBezTo>
                    <a:pt x="841722" y="145637"/>
                    <a:pt x="837850" y="154983"/>
                    <a:pt x="830960" y="161874"/>
                  </a:cubicBezTo>
                  <a:cubicBezTo>
                    <a:pt x="824069" y="168765"/>
                    <a:pt x="814723" y="172636"/>
                    <a:pt x="804978" y="172636"/>
                  </a:cubicBezTo>
                  <a:lnTo>
                    <a:pt x="36744" y="172636"/>
                  </a:lnTo>
                  <a:cubicBezTo>
                    <a:pt x="26999" y="172636"/>
                    <a:pt x="17653" y="168765"/>
                    <a:pt x="10762" y="161874"/>
                  </a:cubicBezTo>
                  <a:cubicBezTo>
                    <a:pt x="3871" y="154983"/>
                    <a:pt x="0" y="145637"/>
                    <a:pt x="0" y="135892"/>
                  </a:cubicBezTo>
                  <a:lnTo>
                    <a:pt x="0" y="36744"/>
                  </a:lnTo>
                  <a:cubicBezTo>
                    <a:pt x="0" y="26999"/>
                    <a:pt x="3871" y="17653"/>
                    <a:pt x="10762" y="10762"/>
                  </a:cubicBezTo>
                  <a:cubicBezTo>
                    <a:pt x="17653" y="3871"/>
                    <a:pt x="26999" y="0"/>
                    <a:pt x="36744" y="0"/>
                  </a:cubicBezTo>
                  <a:close/>
                </a:path>
              </a:pathLst>
            </a:custGeom>
            <a:solidFill>
              <a:srgbClr val="F8F3E6"/>
            </a:solidFill>
            <a:ln cap="rnd">
              <a:noFill/>
              <a:prstDash val="solid"/>
              <a:round/>
            </a:ln>
          </p:spPr>
        </p:sp>
        <p:sp>
          <p:nvSpPr>
            <p:cNvPr name="TextBox 18" id="18"/>
            <p:cNvSpPr txBox="true"/>
            <p:nvPr/>
          </p:nvSpPr>
          <p:spPr>
            <a:xfrm>
              <a:off x="0" y="-38100"/>
              <a:ext cx="841722" cy="210736"/>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9144000" y="2263020"/>
            <a:ext cx="8217307" cy="1685358"/>
            <a:chOff x="0" y="0"/>
            <a:chExt cx="841722" cy="172636"/>
          </a:xfrm>
        </p:grpSpPr>
        <p:sp>
          <p:nvSpPr>
            <p:cNvPr name="Freeform 20" id="20"/>
            <p:cNvSpPr/>
            <p:nvPr/>
          </p:nvSpPr>
          <p:spPr>
            <a:xfrm flipH="false" flipV="false" rot="0">
              <a:off x="0" y="0"/>
              <a:ext cx="841722" cy="172636"/>
            </a:xfrm>
            <a:custGeom>
              <a:avLst/>
              <a:gdLst/>
              <a:ahLst/>
              <a:cxnLst/>
              <a:rect r="r" b="b" t="t" l="l"/>
              <a:pathLst>
                <a:path h="172636" w="841722">
                  <a:moveTo>
                    <a:pt x="36744" y="0"/>
                  </a:moveTo>
                  <a:lnTo>
                    <a:pt x="804978" y="0"/>
                  </a:lnTo>
                  <a:cubicBezTo>
                    <a:pt x="825271" y="0"/>
                    <a:pt x="841722" y="16451"/>
                    <a:pt x="841722" y="36744"/>
                  </a:cubicBezTo>
                  <a:lnTo>
                    <a:pt x="841722" y="135892"/>
                  </a:lnTo>
                  <a:cubicBezTo>
                    <a:pt x="841722" y="145637"/>
                    <a:pt x="837850" y="154983"/>
                    <a:pt x="830960" y="161874"/>
                  </a:cubicBezTo>
                  <a:cubicBezTo>
                    <a:pt x="824069" y="168765"/>
                    <a:pt x="814723" y="172636"/>
                    <a:pt x="804978" y="172636"/>
                  </a:cubicBezTo>
                  <a:lnTo>
                    <a:pt x="36744" y="172636"/>
                  </a:lnTo>
                  <a:cubicBezTo>
                    <a:pt x="26999" y="172636"/>
                    <a:pt x="17653" y="168765"/>
                    <a:pt x="10762" y="161874"/>
                  </a:cubicBezTo>
                  <a:cubicBezTo>
                    <a:pt x="3871" y="154983"/>
                    <a:pt x="0" y="145637"/>
                    <a:pt x="0" y="135892"/>
                  </a:cubicBezTo>
                  <a:lnTo>
                    <a:pt x="0" y="36744"/>
                  </a:lnTo>
                  <a:cubicBezTo>
                    <a:pt x="0" y="26999"/>
                    <a:pt x="3871" y="17653"/>
                    <a:pt x="10762" y="10762"/>
                  </a:cubicBezTo>
                  <a:cubicBezTo>
                    <a:pt x="17653" y="3871"/>
                    <a:pt x="26999" y="0"/>
                    <a:pt x="36744" y="0"/>
                  </a:cubicBezTo>
                  <a:close/>
                </a:path>
              </a:pathLst>
            </a:custGeom>
            <a:solidFill>
              <a:srgbClr val="F8F3E6"/>
            </a:solidFill>
            <a:ln cap="rnd">
              <a:noFill/>
              <a:prstDash val="solid"/>
              <a:round/>
            </a:ln>
          </p:spPr>
        </p:sp>
        <p:sp>
          <p:nvSpPr>
            <p:cNvPr name="TextBox 21" id="21"/>
            <p:cNvSpPr txBox="true"/>
            <p:nvPr/>
          </p:nvSpPr>
          <p:spPr>
            <a:xfrm>
              <a:off x="0" y="-38100"/>
              <a:ext cx="841722" cy="210736"/>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22" id="22"/>
          <p:cNvGrpSpPr/>
          <p:nvPr/>
        </p:nvGrpSpPr>
        <p:grpSpPr>
          <a:xfrm rot="0">
            <a:off x="2404626" y="4272227"/>
            <a:ext cx="13766949" cy="5527515"/>
            <a:chOff x="0" y="0"/>
            <a:chExt cx="1862311" cy="747729"/>
          </a:xfrm>
        </p:grpSpPr>
        <p:sp>
          <p:nvSpPr>
            <p:cNvPr name="Freeform 23" id="23"/>
            <p:cNvSpPr/>
            <p:nvPr/>
          </p:nvSpPr>
          <p:spPr>
            <a:xfrm flipH="false" flipV="false" rot="0">
              <a:off x="0" y="0"/>
              <a:ext cx="1862311" cy="747729"/>
            </a:xfrm>
            <a:custGeom>
              <a:avLst/>
              <a:gdLst/>
              <a:ahLst/>
              <a:cxnLst/>
              <a:rect r="r" b="b" t="t" l="l"/>
              <a:pathLst>
                <a:path h="747729" w="1862311">
                  <a:moveTo>
                    <a:pt x="21932" y="0"/>
                  </a:moveTo>
                  <a:lnTo>
                    <a:pt x="1840379" y="0"/>
                  </a:lnTo>
                  <a:cubicBezTo>
                    <a:pt x="1846196" y="0"/>
                    <a:pt x="1851774" y="2311"/>
                    <a:pt x="1855887" y="6424"/>
                  </a:cubicBezTo>
                  <a:cubicBezTo>
                    <a:pt x="1860000" y="10537"/>
                    <a:pt x="1862311" y="16115"/>
                    <a:pt x="1862311" y="21932"/>
                  </a:cubicBezTo>
                  <a:lnTo>
                    <a:pt x="1862311" y="725798"/>
                  </a:lnTo>
                  <a:cubicBezTo>
                    <a:pt x="1862311" y="737910"/>
                    <a:pt x="1852492" y="747729"/>
                    <a:pt x="1840379" y="747729"/>
                  </a:cubicBezTo>
                  <a:lnTo>
                    <a:pt x="21932" y="747729"/>
                  </a:lnTo>
                  <a:cubicBezTo>
                    <a:pt x="9819" y="747729"/>
                    <a:pt x="0" y="737910"/>
                    <a:pt x="0" y="725798"/>
                  </a:cubicBezTo>
                  <a:lnTo>
                    <a:pt x="0" y="21932"/>
                  </a:lnTo>
                  <a:cubicBezTo>
                    <a:pt x="0" y="9819"/>
                    <a:pt x="9819" y="0"/>
                    <a:pt x="21932" y="0"/>
                  </a:cubicBezTo>
                  <a:close/>
                </a:path>
              </a:pathLst>
            </a:custGeom>
            <a:solidFill>
              <a:srgbClr val="F8F3E6"/>
            </a:solidFill>
            <a:ln cap="rnd">
              <a:noFill/>
              <a:prstDash val="solid"/>
              <a:round/>
            </a:ln>
          </p:spPr>
        </p:sp>
        <p:sp>
          <p:nvSpPr>
            <p:cNvPr name="TextBox 24" id="24"/>
            <p:cNvSpPr txBox="true"/>
            <p:nvPr/>
          </p:nvSpPr>
          <p:spPr>
            <a:xfrm>
              <a:off x="0" y="-38100"/>
              <a:ext cx="1862311" cy="785829"/>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25" id="25"/>
          <p:cNvSpPr/>
          <p:nvPr/>
        </p:nvSpPr>
        <p:spPr>
          <a:xfrm flipH="false" flipV="false" rot="0">
            <a:off x="2912054" y="5156296"/>
            <a:ext cx="3707035" cy="1770431"/>
          </a:xfrm>
          <a:custGeom>
            <a:avLst/>
            <a:gdLst/>
            <a:ahLst/>
            <a:cxnLst/>
            <a:rect r="r" b="b" t="t" l="l"/>
            <a:pathLst>
              <a:path h="1770431" w="3707035">
                <a:moveTo>
                  <a:pt x="0" y="0"/>
                </a:moveTo>
                <a:lnTo>
                  <a:pt x="3707034" y="0"/>
                </a:lnTo>
                <a:lnTo>
                  <a:pt x="3707034" y="1770431"/>
                </a:lnTo>
                <a:lnTo>
                  <a:pt x="0" y="1770431"/>
                </a:lnTo>
                <a:lnTo>
                  <a:pt x="0" y="0"/>
                </a:lnTo>
                <a:close/>
              </a:path>
            </a:pathLst>
          </a:custGeom>
          <a:blipFill>
            <a:blip r:embed="rId7"/>
            <a:stretch>
              <a:fillRect l="-1365" t="0" r="0" b="0"/>
            </a:stretch>
          </a:blipFill>
        </p:spPr>
      </p:sp>
      <p:sp>
        <p:nvSpPr>
          <p:cNvPr name="Freeform 26" id="26"/>
          <p:cNvSpPr/>
          <p:nvPr/>
        </p:nvSpPr>
        <p:spPr>
          <a:xfrm flipH="false" flipV="false" rot="0">
            <a:off x="9663145" y="5143500"/>
            <a:ext cx="3463725" cy="1686996"/>
          </a:xfrm>
          <a:custGeom>
            <a:avLst/>
            <a:gdLst/>
            <a:ahLst/>
            <a:cxnLst/>
            <a:rect r="r" b="b" t="t" l="l"/>
            <a:pathLst>
              <a:path h="1686996" w="3463725">
                <a:moveTo>
                  <a:pt x="0" y="0"/>
                </a:moveTo>
                <a:lnTo>
                  <a:pt x="3463725" y="0"/>
                </a:lnTo>
                <a:lnTo>
                  <a:pt x="3463725" y="1686996"/>
                </a:lnTo>
                <a:lnTo>
                  <a:pt x="0" y="1686996"/>
                </a:lnTo>
                <a:lnTo>
                  <a:pt x="0" y="0"/>
                </a:lnTo>
                <a:close/>
              </a:path>
            </a:pathLst>
          </a:custGeom>
          <a:blipFill>
            <a:blip r:embed="rId8"/>
            <a:stretch>
              <a:fillRect l="0" t="0" r="0" b="0"/>
            </a:stretch>
          </a:blipFill>
        </p:spPr>
      </p:sp>
      <p:sp>
        <p:nvSpPr>
          <p:cNvPr name="Freeform 27" id="27"/>
          <p:cNvSpPr/>
          <p:nvPr/>
        </p:nvSpPr>
        <p:spPr>
          <a:xfrm flipH="false" flipV="false" rot="0">
            <a:off x="5263870" y="7035985"/>
            <a:ext cx="10586439" cy="1970677"/>
          </a:xfrm>
          <a:custGeom>
            <a:avLst/>
            <a:gdLst/>
            <a:ahLst/>
            <a:cxnLst/>
            <a:rect r="r" b="b" t="t" l="l"/>
            <a:pathLst>
              <a:path h="1970677" w="10586439">
                <a:moveTo>
                  <a:pt x="0" y="0"/>
                </a:moveTo>
                <a:lnTo>
                  <a:pt x="10586439" y="0"/>
                </a:lnTo>
                <a:lnTo>
                  <a:pt x="10586439" y="1970677"/>
                </a:lnTo>
                <a:lnTo>
                  <a:pt x="0" y="1970677"/>
                </a:lnTo>
                <a:lnTo>
                  <a:pt x="0" y="0"/>
                </a:lnTo>
                <a:close/>
              </a:path>
            </a:pathLst>
          </a:custGeom>
          <a:blipFill>
            <a:blip r:embed="rId9"/>
            <a:stretch>
              <a:fillRect l="0" t="0" r="0" b="0"/>
            </a:stretch>
          </a:blipFill>
        </p:spPr>
      </p:sp>
      <p:sp>
        <p:nvSpPr>
          <p:cNvPr name="TextBox 28" id="28"/>
          <p:cNvSpPr txBox="true"/>
          <p:nvPr/>
        </p:nvSpPr>
        <p:spPr>
          <a:xfrm rot="0">
            <a:off x="358910" y="1435319"/>
            <a:ext cx="8328755"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Inversion and Identity</a:t>
            </a:r>
          </a:p>
        </p:txBody>
      </p:sp>
      <p:sp>
        <p:nvSpPr>
          <p:cNvPr name="TextBox 29" id="29"/>
          <p:cNvSpPr txBox="true"/>
          <p:nvPr/>
        </p:nvSpPr>
        <p:spPr>
          <a:xfrm rot="0">
            <a:off x="707656" y="2486147"/>
            <a:ext cx="7742711" cy="629031"/>
          </a:xfrm>
          <a:prstGeom prst="rect">
            <a:avLst/>
          </a:prstGeom>
        </p:spPr>
        <p:txBody>
          <a:bodyPr anchor="t" rtlCol="false" tIns="0" lIns="0" bIns="0" rIns="0">
            <a:spAutoFit/>
          </a:bodyPr>
          <a:lstStyle/>
          <a:p>
            <a:pPr algn="l" marL="0" indent="0" lvl="0">
              <a:lnSpc>
                <a:spcPts val="2352"/>
              </a:lnSpc>
              <a:spcBef>
                <a:spcPct val="0"/>
              </a:spcBef>
            </a:pPr>
            <a:r>
              <a:rPr lang="en-US" b="true" sz="2400" strike="noStrike" u="none">
                <a:solidFill>
                  <a:srgbClr val="042560"/>
                </a:solidFill>
                <a:latin typeface="Poppins Bold"/>
                <a:ea typeface="Poppins Bold"/>
                <a:cs typeface="Poppins Bold"/>
                <a:sym typeface="Poppins Bold"/>
              </a:rPr>
              <a:t>A matr</a:t>
            </a:r>
            <a:r>
              <a:rPr lang="en-US" b="true" sz="2400" strike="noStrike" u="none">
                <a:solidFill>
                  <a:srgbClr val="042560"/>
                </a:solidFill>
                <a:latin typeface="Poppins Bold"/>
                <a:ea typeface="Poppins Bold"/>
                <a:cs typeface="Poppins Bold"/>
                <a:sym typeface="Poppins Bold"/>
              </a:rPr>
              <a:t>ix</a:t>
            </a:r>
            <a:r>
              <a:rPr lang="en-US" b="true" sz="2400" strike="noStrike" u="none">
                <a:solidFill>
                  <a:srgbClr val="042560"/>
                </a:solidFill>
                <a:latin typeface="Poppins Bold"/>
                <a:ea typeface="Poppins Bold"/>
                <a:cs typeface="Poppins Bold"/>
                <a:sym typeface="Poppins Bold"/>
              </a:rPr>
              <a:t> inverse M^-1 is de</a:t>
            </a:r>
            <a:r>
              <a:rPr lang="en-US" b="true" sz="2400" strike="noStrike" u="none">
                <a:solidFill>
                  <a:srgbClr val="042560"/>
                </a:solidFill>
                <a:latin typeface="Poppins Bold"/>
                <a:ea typeface="Poppins Bold"/>
                <a:cs typeface="Poppins Bold"/>
                <a:sym typeface="Poppins Bold"/>
              </a:rPr>
              <a:t>fin</a:t>
            </a:r>
            <a:r>
              <a:rPr lang="en-US" b="true" sz="2400" strike="noStrike" u="none">
                <a:solidFill>
                  <a:srgbClr val="042560"/>
                </a:solidFill>
                <a:latin typeface="Poppins Bold"/>
                <a:ea typeface="Poppins Bold"/>
                <a:cs typeface="Poppins Bold"/>
                <a:sym typeface="Poppins Bold"/>
              </a:rPr>
              <a:t>ed onl</a:t>
            </a:r>
            <a:r>
              <a:rPr lang="en-US" b="true" sz="2400" strike="noStrike" u="none">
                <a:solidFill>
                  <a:srgbClr val="042560"/>
                </a:solidFill>
                <a:latin typeface="Poppins Bold"/>
                <a:ea typeface="Poppins Bold"/>
                <a:cs typeface="Poppins Bold"/>
                <a:sym typeface="Poppins Bold"/>
              </a:rPr>
              <a:t>y</a:t>
            </a:r>
            <a:r>
              <a:rPr lang="en-US" b="true" sz="2400" strike="noStrike" u="none">
                <a:solidFill>
                  <a:srgbClr val="042560"/>
                </a:solidFill>
                <a:latin typeface="Poppins Bold"/>
                <a:ea typeface="Poppins Bold"/>
                <a:cs typeface="Poppins Bold"/>
                <a:sym typeface="Poppins Bold"/>
              </a:rPr>
              <a:t> for </a:t>
            </a:r>
            <a:r>
              <a:rPr lang="en-US" b="true" sz="2400" strike="noStrike" u="none">
                <a:solidFill>
                  <a:srgbClr val="042560"/>
                </a:solidFill>
                <a:latin typeface="Poppins Bold"/>
                <a:ea typeface="Poppins Bold"/>
                <a:cs typeface="Poppins Bold"/>
                <a:sym typeface="Poppins Bold"/>
              </a:rPr>
              <a:t>sq</a:t>
            </a:r>
            <a:r>
              <a:rPr lang="en-US" b="true" sz="2400" strike="noStrike" u="none">
                <a:solidFill>
                  <a:srgbClr val="042560"/>
                </a:solidFill>
                <a:latin typeface="Poppins Bold"/>
                <a:ea typeface="Poppins Bold"/>
                <a:cs typeface="Poppins Bold"/>
                <a:sym typeface="Poppins Bold"/>
              </a:rPr>
              <a:t>u</a:t>
            </a:r>
            <a:r>
              <a:rPr lang="en-US" b="true" sz="2400" strike="noStrike" u="none">
                <a:solidFill>
                  <a:srgbClr val="042560"/>
                </a:solidFill>
                <a:latin typeface="Poppins Bold"/>
                <a:ea typeface="Poppins Bold"/>
                <a:cs typeface="Poppins Bold"/>
                <a:sym typeface="Poppins Bold"/>
              </a:rPr>
              <a:t>ar</a:t>
            </a:r>
            <a:r>
              <a:rPr lang="en-US" b="true" sz="2400" strike="noStrike" u="none">
                <a:solidFill>
                  <a:srgbClr val="042560"/>
                </a:solidFill>
                <a:latin typeface="Poppins Bold"/>
                <a:ea typeface="Poppins Bold"/>
                <a:cs typeface="Poppins Bold"/>
                <a:sym typeface="Poppins Bold"/>
              </a:rPr>
              <a:t>e matr</a:t>
            </a:r>
            <a:r>
              <a:rPr lang="en-US" b="true" sz="2400" strike="noStrike" u="none">
                <a:solidFill>
                  <a:srgbClr val="042560"/>
                </a:solidFill>
                <a:latin typeface="Poppins Bold"/>
                <a:ea typeface="Poppins Bold"/>
                <a:cs typeface="Poppins Bold"/>
                <a:sym typeface="Poppins Bold"/>
              </a:rPr>
              <a:t>ic</a:t>
            </a:r>
            <a:r>
              <a:rPr lang="en-US" b="true" sz="2400" strike="noStrike" u="none">
                <a:solidFill>
                  <a:srgbClr val="042560"/>
                </a:solidFill>
                <a:latin typeface="Poppins Bold"/>
                <a:ea typeface="Poppins Bold"/>
                <a:cs typeface="Poppins Bold"/>
                <a:sym typeface="Poppins Bold"/>
              </a:rPr>
              <a:t>es and </a:t>
            </a:r>
            <a:r>
              <a:rPr lang="en-US" b="true" sz="2400" strike="noStrike" u="none">
                <a:solidFill>
                  <a:srgbClr val="042560"/>
                </a:solidFill>
                <a:latin typeface="Poppins Bold"/>
                <a:ea typeface="Poppins Bold"/>
                <a:cs typeface="Poppins Bold"/>
                <a:sym typeface="Poppins Bold"/>
              </a:rPr>
              <a:t>sat</a:t>
            </a:r>
            <a:r>
              <a:rPr lang="en-US" b="true" sz="2400" strike="noStrike" u="none">
                <a:solidFill>
                  <a:srgbClr val="042560"/>
                </a:solidFill>
                <a:latin typeface="Poppins Bold"/>
                <a:ea typeface="Poppins Bold"/>
                <a:cs typeface="Poppins Bold"/>
                <a:sym typeface="Poppins Bold"/>
              </a:rPr>
              <a:t>isfies:</a:t>
            </a:r>
          </a:p>
        </p:txBody>
      </p:sp>
      <p:sp>
        <p:nvSpPr>
          <p:cNvPr name="TextBox 30" id="30"/>
          <p:cNvSpPr txBox="true"/>
          <p:nvPr/>
        </p:nvSpPr>
        <p:spPr>
          <a:xfrm rot="0">
            <a:off x="2560131" y="3306937"/>
            <a:ext cx="4297527" cy="398790"/>
          </a:xfrm>
          <a:prstGeom prst="rect">
            <a:avLst/>
          </a:prstGeom>
        </p:spPr>
        <p:txBody>
          <a:bodyPr anchor="t" rtlCol="false" tIns="0" lIns="0" bIns="0" rIns="0">
            <a:spAutoFit/>
          </a:bodyPr>
          <a:lstStyle/>
          <a:p>
            <a:pPr algn="l" marL="0" indent="0" lvl="0">
              <a:lnSpc>
                <a:spcPts val="2774"/>
              </a:lnSpc>
              <a:spcBef>
                <a:spcPct val="0"/>
              </a:spcBef>
            </a:pPr>
            <a:r>
              <a:rPr lang="en-US" b="true" sz="2830" strike="noStrike" u="none">
                <a:solidFill>
                  <a:srgbClr val="042560"/>
                </a:solidFill>
                <a:latin typeface="Poppins Bold"/>
                <a:ea typeface="Poppins Bold"/>
                <a:cs typeface="Poppins Bold"/>
                <a:sym typeface="Poppins Bold"/>
              </a:rPr>
              <a:t>M⋅M^−1=M^−1⋅M= I</a:t>
            </a:r>
          </a:p>
        </p:txBody>
      </p:sp>
      <p:sp>
        <p:nvSpPr>
          <p:cNvPr name="TextBox 31" id="31"/>
          <p:cNvSpPr txBox="true"/>
          <p:nvPr/>
        </p:nvSpPr>
        <p:spPr>
          <a:xfrm rot="0">
            <a:off x="9381298" y="2486147"/>
            <a:ext cx="7742711" cy="924306"/>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For larger</a:t>
            </a:r>
            <a:r>
              <a:rPr lang="en-US" b="true" sz="2400" strike="noStrike" u="none">
                <a:solidFill>
                  <a:srgbClr val="042560"/>
                </a:solidFill>
                <a:latin typeface="Poppins Bold"/>
                <a:ea typeface="Poppins Bold"/>
                <a:cs typeface="Poppins Bold"/>
                <a:sym typeface="Poppins Bold"/>
              </a:rPr>
              <a:t> matri</a:t>
            </a:r>
            <a:r>
              <a:rPr lang="en-US" b="true" sz="2400" strike="noStrike" u="none">
                <a:solidFill>
                  <a:srgbClr val="042560"/>
                </a:solidFill>
                <a:latin typeface="Poppins Bold"/>
                <a:ea typeface="Poppins Bold"/>
                <a:cs typeface="Poppins Bold"/>
                <a:sym typeface="Poppins Bold"/>
              </a:rPr>
              <a:t>ces, directly computing the</a:t>
            </a:r>
            <a:r>
              <a:rPr lang="en-US" b="true" sz="2400" strike="noStrike" u="none">
                <a:solidFill>
                  <a:srgbClr val="042560"/>
                </a:solidFill>
                <a:latin typeface="Poppins Bold"/>
                <a:ea typeface="Poppins Bold"/>
                <a:cs typeface="Poppins Bold"/>
                <a:sym typeface="Poppins Bold"/>
              </a:rPr>
              <a:t> inverse usin</a:t>
            </a:r>
            <a:r>
              <a:rPr lang="en-US" b="true" sz="2400" strike="noStrike" u="none">
                <a:solidFill>
                  <a:srgbClr val="042560"/>
                </a:solidFill>
                <a:latin typeface="Poppins Bold"/>
                <a:ea typeface="Poppins Bold"/>
                <a:cs typeface="Poppins Bold"/>
                <a:sym typeface="Poppins Bold"/>
              </a:rPr>
              <a:t>g</a:t>
            </a:r>
            <a:r>
              <a:rPr lang="en-US" b="true" sz="2400" strike="noStrike" u="none">
                <a:solidFill>
                  <a:srgbClr val="042560"/>
                </a:solidFill>
                <a:latin typeface="Poppins Bold"/>
                <a:ea typeface="Poppins Bold"/>
                <a:cs typeface="Poppins Bold"/>
                <a:sym typeface="Poppins Bold"/>
              </a:rPr>
              <a:t> algebraic formula</a:t>
            </a:r>
            <a:r>
              <a:rPr lang="en-US" b="true" sz="2400" strike="noStrike" u="none">
                <a:solidFill>
                  <a:srgbClr val="042560"/>
                </a:solidFill>
                <a:latin typeface="Poppins Bold"/>
                <a:ea typeface="Poppins Bold"/>
                <a:cs typeface="Poppins Bold"/>
                <a:sym typeface="Poppins Bold"/>
              </a:rPr>
              <a:t>s b</a:t>
            </a:r>
            <a:r>
              <a:rPr lang="en-US" b="true" sz="2400" strike="noStrike" u="none">
                <a:solidFill>
                  <a:srgbClr val="042560"/>
                </a:solidFill>
                <a:latin typeface="Poppins Bold"/>
                <a:ea typeface="Poppins Bold"/>
                <a:cs typeface="Poppins Bold"/>
                <a:sym typeface="Poppins Bold"/>
              </a:rPr>
              <a:t>ecomes impractical — so numeric</a:t>
            </a:r>
            <a:r>
              <a:rPr lang="en-US" b="true" sz="2400" strike="noStrike" u="none">
                <a:solidFill>
                  <a:srgbClr val="042560"/>
                </a:solidFill>
                <a:latin typeface="Poppins Bold"/>
                <a:ea typeface="Poppins Bold"/>
                <a:cs typeface="Poppins Bold"/>
                <a:sym typeface="Poppins Bold"/>
              </a:rPr>
              <a:t>al m</a:t>
            </a:r>
            <a:r>
              <a:rPr lang="en-US" b="true" sz="2400" strike="noStrike" u="none">
                <a:solidFill>
                  <a:srgbClr val="042560"/>
                </a:solidFill>
                <a:latin typeface="Poppins Bold"/>
                <a:ea typeface="Poppins Bold"/>
                <a:cs typeface="Poppins Bold"/>
                <a:sym typeface="Poppins Bold"/>
              </a:rPr>
              <a:t>ethods are needed.</a:t>
            </a:r>
          </a:p>
        </p:txBody>
      </p:sp>
      <p:sp>
        <p:nvSpPr>
          <p:cNvPr name="TextBox 32" id="32"/>
          <p:cNvSpPr txBox="true"/>
          <p:nvPr/>
        </p:nvSpPr>
        <p:spPr>
          <a:xfrm rot="0">
            <a:off x="2725893" y="4357779"/>
            <a:ext cx="13124416" cy="964140"/>
          </a:xfrm>
          <a:prstGeom prst="rect">
            <a:avLst/>
          </a:prstGeom>
        </p:spPr>
        <p:txBody>
          <a:bodyPr anchor="t" rtlCol="false" tIns="0" lIns="0" bIns="0" rIns="0">
            <a:spAutoFit/>
          </a:bodyPr>
          <a:lstStyle/>
          <a:p>
            <a:pPr algn="l">
              <a:lnSpc>
                <a:spcPts val="2426"/>
              </a:lnSpc>
            </a:pPr>
            <a:r>
              <a:rPr lang="en-US" sz="2476" b="true">
                <a:solidFill>
                  <a:srgbClr val="042560"/>
                </a:solidFill>
                <a:latin typeface="Poppins Bold"/>
                <a:ea typeface="Poppins Bold"/>
                <a:cs typeface="Poppins Bold"/>
                <a:sym typeface="Poppins Bold"/>
              </a:rPr>
              <a:t>Case for 4x4 matriks:</a:t>
            </a:r>
          </a:p>
          <a:p>
            <a:pPr algn="l">
              <a:lnSpc>
                <a:spcPts val="2426"/>
              </a:lnSpc>
            </a:pPr>
            <a:r>
              <a:rPr lang="en-US" sz="2476">
                <a:solidFill>
                  <a:srgbClr val="042560"/>
                </a:solidFill>
                <a:latin typeface="Poppins"/>
                <a:ea typeface="Poppins"/>
                <a:cs typeface="Poppins"/>
                <a:sym typeface="Poppins"/>
              </a:rPr>
              <a:t>One approach: treat each column of the inverse as the solution to a linear system.</a:t>
            </a:r>
          </a:p>
          <a:p>
            <a:pPr algn="l" marL="0" indent="0" lvl="0">
              <a:lnSpc>
                <a:spcPts val="2426"/>
              </a:lnSpc>
              <a:spcBef>
                <a:spcPct val="0"/>
              </a:spcBef>
            </a:pPr>
          </a:p>
        </p:txBody>
      </p:sp>
      <p:sp>
        <p:nvSpPr>
          <p:cNvPr name="TextBox 33" id="33"/>
          <p:cNvSpPr txBox="true"/>
          <p:nvPr/>
        </p:nvSpPr>
        <p:spPr>
          <a:xfrm rot="0">
            <a:off x="6703810" y="5576599"/>
            <a:ext cx="2677488" cy="464913"/>
          </a:xfrm>
          <a:prstGeom prst="rect">
            <a:avLst/>
          </a:prstGeom>
        </p:spPr>
        <p:txBody>
          <a:bodyPr anchor="t" rtlCol="false" tIns="0" lIns="0" bIns="0" rIns="0">
            <a:spAutoFit/>
          </a:bodyPr>
          <a:lstStyle/>
          <a:p>
            <a:pPr algn="l">
              <a:lnSpc>
                <a:spcPts val="1730"/>
              </a:lnSpc>
            </a:pPr>
            <a:r>
              <a:rPr lang="en-US" sz="1766">
                <a:solidFill>
                  <a:srgbClr val="042560"/>
                </a:solidFill>
                <a:latin typeface="Poppins"/>
                <a:ea typeface="Poppins"/>
                <a:cs typeface="Poppins"/>
                <a:sym typeface="Poppins"/>
              </a:rPr>
              <a:t>and the inverse of M is.</a:t>
            </a:r>
          </a:p>
          <a:p>
            <a:pPr algn="l" marL="0" indent="0" lvl="0">
              <a:lnSpc>
                <a:spcPts val="1730"/>
              </a:lnSpc>
              <a:spcBef>
                <a:spcPct val="0"/>
              </a:spcBef>
            </a:pPr>
          </a:p>
        </p:txBody>
      </p:sp>
      <p:sp>
        <p:nvSpPr>
          <p:cNvPr name="TextBox 34" id="34"/>
          <p:cNvSpPr txBox="true"/>
          <p:nvPr/>
        </p:nvSpPr>
        <p:spPr>
          <a:xfrm rot="0">
            <a:off x="2973621" y="7574427"/>
            <a:ext cx="2677488" cy="247606"/>
          </a:xfrm>
          <a:prstGeom prst="rect">
            <a:avLst/>
          </a:prstGeom>
        </p:spPr>
        <p:txBody>
          <a:bodyPr anchor="t" rtlCol="false" tIns="0" lIns="0" bIns="0" rIns="0">
            <a:spAutoFit/>
          </a:bodyPr>
          <a:lstStyle/>
          <a:p>
            <a:pPr algn="l" marL="0" indent="0" lvl="0">
              <a:lnSpc>
                <a:spcPts val="1730"/>
              </a:lnSpc>
              <a:spcBef>
                <a:spcPct val="0"/>
              </a:spcBef>
            </a:pPr>
            <a:r>
              <a:rPr lang="en-US" sz="1766">
                <a:solidFill>
                  <a:srgbClr val="042560"/>
                </a:solidFill>
                <a:latin typeface="Poppins"/>
                <a:ea typeface="Poppins"/>
                <a:cs typeface="Poppins"/>
                <a:sym typeface="Poppins"/>
              </a:rPr>
              <a:t>therefore, we will have: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M</a:t>
              </a:r>
              <a:r>
                <a:rPr lang="en-US" sz="3999">
                  <a:solidFill>
                    <a:srgbClr val="0B2F70"/>
                  </a:solidFill>
                  <a:latin typeface="Lovelo"/>
                  <a:ea typeface="Lovelo"/>
                  <a:cs typeface="Lovelo"/>
                  <a:sym typeface="Lovelo"/>
                </a:rPr>
                <a:t>ATRIX INVERSION</a:t>
              </a:r>
            </a:p>
          </p:txBody>
        </p:sp>
      </p:grpSp>
      <p:grpSp>
        <p:nvGrpSpPr>
          <p:cNvPr name="Group 16" id="16"/>
          <p:cNvGrpSpPr/>
          <p:nvPr/>
        </p:nvGrpSpPr>
        <p:grpSpPr>
          <a:xfrm rot="0">
            <a:off x="470358" y="2263020"/>
            <a:ext cx="16653651" cy="1659900"/>
            <a:chOff x="0" y="0"/>
            <a:chExt cx="1705880" cy="170028"/>
          </a:xfrm>
        </p:grpSpPr>
        <p:sp>
          <p:nvSpPr>
            <p:cNvPr name="Freeform 17" id="17"/>
            <p:cNvSpPr/>
            <p:nvPr/>
          </p:nvSpPr>
          <p:spPr>
            <a:xfrm flipH="false" flipV="false" rot="0">
              <a:off x="0" y="0"/>
              <a:ext cx="1705880" cy="170028"/>
            </a:xfrm>
            <a:custGeom>
              <a:avLst/>
              <a:gdLst/>
              <a:ahLst/>
              <a:cxnLst/>
              <a:rect r="r" b="b" t="t" l="l"/>
              <a:pathLst>
                <a:path h="170028" w="1705880">
                  <a:moveTo>
                    <a:pt x="18130" y="0"/>
                  </a:moveTo>
                  <a:lnTo>
                    <a:pt x="1687749" y="0"/>
                  </a:lnTo>
                  <a:cubicBezTo>
                    <a:pt x="1697762" y="0"/>
                    <a:pt x="1705880" y="8117"/>
                    <a:pt x="1705880" y="18130"/>
                  </a:cubicBezTo>
                  <a:lnTo>
                    <a:pt x="1705880" y="151898"/>
                  </a:lnTo>
                  <a:cubicBezTo>
                    <a:pt x="1705880" y="161911"/>
                    <a:pt x="1697762" y="170028"/>
                    <a:pt x="1687749" y="170028"/>
                  </a:cubicBezTo>
                  <a:lnTo>
                    <a:pt x="18130" y="170028"/>
                  </a:lnTo>
                  <a:cubicBezTo>
                    <a:pt x="8117" y="170028"/>
                    <a:pt x="0" y="161911"/>
                    <a:pt x="0" y="151898"/>
                  </a:cubicBezTo>
                  <a:lnTo>
                    <a:pt x="0" y="18130"/>
                  </a:lnTo>
                  <a:cubicBezTo>
                    <a:pt x="0" y="8117"/>
                    <a:pt x="8117" y="0"/>
                    <a:pt x="18130" y="0"/>
                  </a:cubicBezTo>
                  <a:close/>
                </a:path>
              </a:pathLst>
            </a:custGeom>
            <a:solidFill>
              <a:srgbClr val="F8F3E6"/>
            </a:solidFill>
            <a:ln cap="rnd">
              <a:noFill/>
              <a:prstDash val="solid"/>
              <a:round/>
            </a:ln>
          </p:spPr>
        </p:sp>
        <p:sp>
          <p:nvSpPr>
            <p:cNvPr name="TextBox 18" id="18"/>
            <p:cNvSpPr txBox="true"/>
            <p:nvPr/>
          </p:nvSpPr>
          <p:spPr>
            <a:xfrm>
              <a:off x="0" y="-38100"/>
              <a:ext cx="1705880" cy="208128"/>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470358" y="3989594"/>
            <a:ext cx="16653651" cy="5527515"/>
            <a:chOff x="0" y="0"/>
            <a:chExt cx="2252807" cy="747729"/>
          </a:xfrm>
        </p:grpSpPr>
        <p:sp>
          <p:nvSpPr>
            <p:cNvPr name="Freeform 20" id="20"/>
            <p:cNvSpPr/>
            <p:nvPr/>
          </p:nvSpPr>
          <p:spPr>
            <a:xfrm flipH="false" flipV="false" rot="0">
              <a:off x="0" y="0"/>
              <a:ext cx="2252807" cy="747729"/>
            </a:xfrm>
            <a:custGeom>
              <a:avLst/>
              <a:gdLst/>
              <a:ahLst/>
              <a:cxnLst/>
              <a:rect r="r" b="b" t="t" l="l"/>
              <a:pathLst>
                <a:path h="747729" w="2252807">
                  <a:moveTo>
                    <a:pt x="18130" y="0"/>
                  </a:moveTo>
                  <a:lnTo>
                    <a:pt x="2234677" y="0"/>
                  </a:lnTo>
                  <a:cubicBezTo>
                    <a:pt x="2244690" y="0"/>
                    <a:pt x="2252807" y="8117"/>
                    <a:pt x="2252807" y="18130"/>
                  </a:cubicBezTo>
                  <a:lnTo>
                    <a:pt x="2252807" y="729599"/>
                  </a:lnTo>
                  <a:cubicBezTo>
                    <a:pt x="2252807" y="739612"/>
                    <a:pt x="2244690" y="747729"/>
                    <a:pt x="2234677" y="747729"/>
                  </a:cubicBezTo>
                  <a:lnTo>
                    <a:pt x="18130" y="747729"/>
                  </a:lnTo>
                  <a:cubicBezTo>
                    <a:pt x="8117" y="747729"/>
                    <a:pt x="0" y="739612"/>
                    <a:pt x="0" y="729599"/>
                  </a:cubicBezTo>
                  <a:lnTo>
                    <a:pt x="0" y="18130"/>
                  </a:lnTo>
                  <a:cubicBezTo>
                    <a:pt x="0" y="8117"/>
                    <a:pt x="8117" y="0"/>
                    <a:pt x="18130" y="0"/>
                  </a:cubicBezTo>
                  <a:close/>
                </a:path>
              </a:pathLst>
            </a:custGeom>
            <a:solidFill>
              <a:srgbClr val="F8F3E6"/>
            </a:solidFill>
            <a:ln cap="rnd">
              <a:noFill/>
              <a:prstDash val="solid"/>
              <a:round/>
            </a:ln>
          </p:spPr>
        </p:sp>
        <p:sp>
          <p:nvSpPr>
            <p:cNvPr name="TextBox 21" id="21"/>
            <p:cNvSpPr txBox="true"/>
            <p:nvPr/>
          </p:nvSpPr>
          <p:spPr>
            <a:xfrm>
              <a:off x="0" y="-38100"/>
              <a:ext cx="2252807" cy="785829"/>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22" id="22"/>
          <p:cNvSpPr/>
          <p:nvPr/>
        </p:nvSpPr>
        <p:spPr>
          <a:xfrm flipH="false" flipV="false" rot="0">
            <a:off x="3608993" y="5996276"/>
            <a:ext cx="4098265" cy="3520834"/>
          </a:xfrm>
          <a:custGeom>
            <a:avLst/>
            <a:gdLst/>
            <a:ahLst/>
            <a:cxnLst/>
            <a:rect r="r" b="b" t="t" l="l"/>
            <a:pathLst>
              <a:path h="3520834" w="4098265">
                <a:moveTo>
                  <a:pt x="0" y="0"/>
                </a:moveTo>
                <a:lnTo>
                  <a:pt x="4098264" y="0"/>
                </a:lnTo>
                <a:lnTo>
                  <a:pt x="4098264" y="3520834"/>
                </a:lnTo>
                <a:lnTo>
                  <a:pt x="0" y="3520834"/>
                </a:lnTo>
                <a:lnTo>
                  <a:pt x="0" y="0"/>
                </a:lnTo>
                <a:close/>
              </a:path>
            </a:pathLst>
          </a:custGeom>
          <a:blipFill>
            <a:blip r:embed="rId7"/>
            <a:stretch>
              <a:fillRect l="-63751" t="0" r="0" b="0"/>
            </a:stretch>
          </a:blipFill>
        </p:spPr>
      </p:sp>
      <p:sp>
        <p:nvSpPr>
          <p:cNvPr name="Freeform 23" id="23"/>
          <p:cNvSpPr/>
          <p:nvPr/>
        </p:nvSpPr>
        <p:spPr>
          <a:xfrm flipH="false" flipV="false" rot="0">
            <a:off x="10854002" y="6207031"/>
            <a:ext cx="3301459" cy="3310079"/>
          </a:xfrm>
          <a:custGeom>
            <a:avLst/>
            <a:gdLst/>
            <a:ahLst/>
            <a:cxnLst/>
            <a:rect r="r" b="b" t="t" l="l"/>
            <a:pathLst>
              <a:path h="3310079" w="3301459">
                <a:moveTo>
                  <a:pt x="0" y="0"/>
                </a:moveTo>
                <a:lnTo>
                  <a:pt x="3301459" y="0"/>
                </a:lnTo>
                <a:lnTo>
                  <a:pt x="3301459" y="3310079"/>
                </a:lnTo>
                <a:lnTo>
                  <a:pt x="0" y="3310079"/>
                </a:lnTo>
                <a:lnTo>
                  <a:pt x="0" y="0"/>
                </a:lnTo>
                <a:close/>
              </a:path>
            </a:pathLst>
          </a:custGeom>
          <a:blipFill>
            <a:blip r:embed="rId8"/>
            <a:stretch>
              <a:fillRect l="0" t="0" r="0" b="0"/>
            </a:stretch>
          </a:blipFill>
        </p:spPr>
      </p:sp>
      <p:sp>
        <p:nvSpPr>
          <p:cNvPr name="TextBox 24" id="24"/>
          <p:cNvSpPr txBox="true"/>
          <p:nvPr/>
        </p:nvSpPr>
        <p:spPr>
          <a:xfrm rot="0">
            <a:off x="1028700" y="3150855"/>
            <a:ext cx="15832191" cy="629031"/>
          </a:xfrm>
          <a:prstGeom prst="rect">
            <a:avLst/>
          </a:prstGeom>
        </p:spPr>
        <p:txBody>
          <a:bodyPr anchor="t" rtlCol="false" tIns="0" lIns="0" bIns="0" rIns="0">
            <a:spAutoFit/>
          </a:bodyPr>
          <a:lstStyle/>
          <a:p>
            <a:pPr algn="l" marL="0" indent="0" lvl="0">
              <a:lnSpc>
                <a:spcPts val="2352"/>
              </a:lnSpc>
              <a:spcBef>
                <a:spcPct val="0"/>
              </a:spcBef>
            </a:pPr>
            <a:r>
              <a:rPr lang="en-US" b="true" sz="2400">
                <a:solidFill>
                  <a:srgbClr val="042560"/>
                </a:solidFill>
                <a:latin typeface="Poppins Bold"/>
                <a:ea typeface="Poppins Bold"/>
                <a:cs typeface="Poppins Bold"/>
                <a:sym typeface="Poppins Bold"/>
              </a:rPr>
              <a:t>where</a:t>
            </a:r>
            <a:r>
              <a:rPr lang="en-US" b="true" sz="2400" strike="noStrike" u="none">
                <a:solidFill>
                  <a:srgbClr val="042560"/>
                </a:solidFill>
                <a:latin typeface="Poppins Bold"/>
                <a:ea typeface="Poppins Bold"/>
                <a:cs typeface="Poppins Bold"/>
                <a:sym typeface="Poppins Bold"/>
              </a:rPr>
              <a:t> each ei​ is a column of the identity matri</a:t>
            </a:r>
            <a:r>
              <a:rPr lang="en-US" b="true" sz="2400" strike="noStrike" u="none">
                <a:solidFill>
                  <a:srgbClr val="042560"/>
                </a:solidFill>
                <a:latin typeface="Poppins Bold"/>
                <a:ea typeface="Poppins Bold"/>
                <a:cs typeface="Poppins Bold"/>
                <a:sym typeface="Poppins Bold"/>
              </a:rPr>
              <a:t>x. Th</a:t>
            </a:r>
            <a:r>
              <a:rPr lang="en-US" b="true" sz="2400" strike="noStrike" u="none">
                <a:solidFill>
                  <a:srgbClr val="042560"/>
                </a:solidFill>
                <a:latin typeface="Poppins Bold"/>
                <a:ea typeface="Poppins Bold"/>
                <a:cs typeface="Poppins Bold"/>
                <a:sym typeface="Poppins Bold"/>
              </a:rPr>
              <a:t>e s</a:t>
            </a:r>
            <a:r>
              <a:rPr lang="en-US" b="true" sz="2400" strike="noStrike" u="none">
                <a:solidFill>
                  <a:srgbClr val="042560"/>
                </a:solidFill>
                <a:latin typeface="Poppins Bold"/>
                <a:ea typeface="Poppins Bold"/>
                <a:cs typeface="Poppins Bold"/>
                <a:sym typeface="Poppins Bold"/>
              </a:rPr>
              <a:t>olu</a:t>
            </a:r>
            <a:r>
              <a:rPr lang="en-US" b="true" sz="2400" strike="noStrike" u="none">
                <a:solidFill>
                  <a:srgbClr val="042560"/>
                </a:solidFill>
                <a:latin typeface="Poppins Bold"/>
                <a:ea typeface="Poppins Bold"/>
                <a:cs typeface="Poppins Bold"/>
                <a:sym typeface="Poppins Bold"/>
              </a:rPr>
              <a:t>tions x1,x2,x3,x4 form the columns of M^-1</a:t>
            </a:r>
          </a:p>
          <a:p>
            <a:pPr algn="l" marL="0" indent="0" lvl="0">
              <a:lnSpc>
                <a:spcPts val="2352"/>
              </a:lnSpc>
              <a:spcBef>
                <a:spcPct val="0"/>
              </a:spcBef>
            </a:pPr>
          </a:p>
        </p:txBody>
      </p:sp>
      <p:sp>
        <p:nvSpPr>
          <p:cNvPr name="TextBox 25" id="25"/>
          <p:cNvSpPr txBox="true"/>
          <p:nvPr/>
        </p:nvSpPr>
        <p:spPr>
          <a:xfrm rot="0">
            <a:off x="786713" y="4161044"/>
            <a:ext cx="16074178" cy="2182807"/>
          </a:xfrm>
          <a:prstGeom prst="rect">
            <a:avLst/>
          </a:prstGeom>
        </p:spPr>
        <p:txBody>
          <a:bodyPr anchor="t" rtlCol="false" tIns="0" lIns="0" bIns="0" rIns="0">
            <a:spAutoFit/>
          </a:bodyPr>
          <a:lstStyle/>
          <a:p>
            <a:pPr algn="l">
              <a:lnSpc>
                <a:spcPts val="2426"/>
              </a:lnSpc>
            </a:pPr>
            <a:r>
              <a:rPr lang="en-US" sz="2476" b="true">
                <a:solidFill>
                  <a:srgbClr val="042560"/>
                </a:solidFill>
                <a:latin typeface="Poppins Bold"/>
                <a:ea typeface="Poppins Bold"/>
                <a:cs typeface="Poppins Bold"/>
                <a:sym typeface="Poppins Bold"/>
              </a:rPr>
              <a:t>Therefore, if we solve the above four system of equations, we will get the inverse of the matrix. We can use any method we introduced previously to solve these equations, such as Gauss Elimination, Gauss-Jordan, and LU decomposition. Here, we will just show an example of matrix inversion using Gauss-Jordan method.</a:t>
            </a:r>
          </a:p>
          <a:p>
            <a:pPr algn="l">
              <a:lnSpc>
                <a:spcPts val="2426"/>
              </a:lnSpc>
            </a:pPr>
          </a:p>
          <a:p>
            <a:pPr algn="l">
              <a:lnSpc>
                <a:spcPts val="2426"/>
              </a:lnSpc>
            </a:pPr>
            <a:r>
              <a:rPr lang="en-US" sz="2476" b="true">
                <a:solidFill>
                  <a:srgbClr val="042560"/>
                </a:solidFill>
                <a:latin typeface="Poppins Bold"/>
                <a:ea typeface="Poppins Bold"/>
                <a:cs typeface="Poppins Bold"/>
                <a:sym typeface="Poppins Bold"/>
              </a:rPr>
              <a:t>Recall that, in Gauss-Jordan method, we convert our problem from</a:t>
            </a:r>
          </a:p>
          <a:p>
            <a:pPr algn="l" marL="0" indent="0" lvl="0">
              <a:lnSpc>
                <a:spcPts val="2426"/>
              </a:lnSpc>
              <a:spcBef>
                <a:spcPct val="0"/>
              </a:spcBef>
            </a:pPr>
          </a:p>
        </p:txBody>
      </p:sp>
      <p:sp>
        <p:nvSpPr>
          <p:cNvPr name="TextBox 26" id="26"/>
          <p:cNvSpPr txBox="true"/>
          <p:nvPr/>
        </p:nvSpPr>
        <p:spPr>
          <a:xfrm rot="0">
            <a:off x="786713" y="6362902"/>
            <a:ext cx="3077574" cy="899527"/>
          </a:xfrm>
          <a:prstGeom prst="rect">
            <a:avLst/>
          </a:prstGeom>
        </p:spPr>
        <p:txBody>
          <a:bodyPr anchor="t" rtlCol="false" tIns="0" lIns="0" bIns="0" rIns="0">
            <a:spAutoFit/>
          </a:bodyPr>
          <a:lstStyle/>
          <a:p>
            <a:pPr algn="l" marL="381338" indent="-190669" lvl="1">
              <a:lnSpc>
                <a:spcPts val="1730"/>
              </a:lnSpc>
              <a:spcBef>
                <a:spcPct val="0"/>
              </a:spcBef>
              <a:buAutoNum type="arabicPeriod" startAt="1"/>
            </a:pPr>
            <a:r>
              <a:rPr lang="en-US" sz="1766">
                <a:solidFill>
                  <a:srgbClr val="042560"/>
                </a:solidFill>
                <a:latin typeface="Poppins"/>
                <a:ea typeface="Poppins"/>
                <a:cs typeface="Poppins"/>
                <a:sym typeface="Poppins"/>
              </a:rPr>
              <a:t>Recall that, in Gauss-Jordan method, we convert our problem from</a:t>
            </a:r>
          </a:p>
        </p:txBody>
      </p:sp>
      <p:sp>
        <p:nvSpPr>
          <p:cNvPr name="TextBox 27" id="27"/>
          <p:cNvSpPr txBox="true"/>
          <p:nvPr/>
        </p:nvSpPr>
        <p:spPr>
          <a:xfrm rot="0">
            <a:off x="358910" y="1435319"/>
            <a:ext cx="8328755"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Inversion and Identity</a:t>
            </a:r>
          </a:p>
        </p:txBody>
      </p:sp>
      <p:sp>
        <p:nvSpPr>
          <p:cNvPr name="TextBox 28" id="28"/>
          <p:cNvSpPr txBox="true"/>
          <p:nvPr/>
        </p:nvSpPr>
        <p:spPr>
          <a:xfrm rot="0">
            <a:off x="4922583" y="2372137"/>
            <a:ext cx="8442833" cy="531068"/>
          </a:xfrm>
          <a:prstGeom prst="rect">
            <a:avLst/>
          </a:prstGeom>
        </p:spPr>
        <p:txBody>
          <a:bodyPr anchor="t" rtlCol="false" tIns="0" lIns="0" bIns="0" rIns="0">
            <a:spAutoFit/>
          </a:bodyPr>
          <a:lstStyle/>
          <a:p>
            <a:pPr algn="l" marL="0" indent="0" lvl="0">
              <a:lnSpc>
                <a:spcPts val="3635"/>
              </a:lnSpc>
              <a:spcBef>
                <a:spcPct val="0"/>
              </a:spcBef>
            </a:pPr>
            <a:r>
              <a:rPr lang="en-US" b="true" sz="3709">
                <a:solidFill>
                  <a:srgbClr val="D73521"/>
                </a:solidFill>
                <a:latin typeface="Poppins Bold"/>
                <a:ea typeface="Poppins Bold"/>
                <a:cs typeface="Poppins Bold"/>
                <a:sym typeface="Poppins Bold"/>
              </a:rPr>
              <a:t>Mx1​=e1​,Mx2​=e2​,Mx3​=e3​,Mx4​=e4​</a:t>
            </a:r>
          </a:p>
        </p:txBody>
      </p:sp>
      <p:sp>
        <p:nvSpPr>
          <p:cNvPr name="TextBox 29" id="29"/>
          <p:cNvSpPr txBox="true"/>
          <p:nvPr/>
        </p:nvSpPr>
        <p:spPr>
          <a:xfrm rot="0">
            <a:off x="3071326" y="7643428"/>
            <a:ext cx="1075334" cy="247606"/>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To:</a:t>
            </a:r>
          </a:p>
        </p:txBody>
      </p:sp>
      <p:sp>
        <p:nvSpPr>
          <p:cNvPr name="TextBox 30" id="30"/>
          <p:cNvSpPr txBox="true"/>
          <p:nvPr/>
        </p:nvSpPr>
        <p:spPr>
          <a:xfrm rot="0">
            <a:off x="8373517" y="6362902"/>
            <a:ext cx="3077574" cy="682220"/>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2. and get the solution. Essentially, we are converting</a:t>
            </a:r>
          </a:p>
        </p:txBody>
      </p:sp>
      <p:sp>
        <p:nvSpPr>
          <p:cNvPr name="TextBox 31" id="31"/>
          <p:cNvSpPr txBox="true"/>
          <p:nvPr/>
        </p:nvSpPr>
        <p:spPr>
          <a:xfrm rot="0">
            <a:off x="9374637" y="7770214"/>
            <a:ext cx="1075334" cy="247606"/>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To:</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M</a:t>
              </a:r>
              <a:r>
                <a:rPr lang="en-US" sz="3999">
                  <a:solidFill>
                    <a:srgbClr val="0B2F70"/>
                  </a:solidFill>
                  <a:latin typeface="Lovelo"/>
                  <a:ea typeface="Lovelo"/>
                  <a:cs typeface="Lovelo"/>
                  <a:sym typeface="Lovelo"/>
                </a:rPr>
                <a:t>ATRIX INVERSION</a:t>
              </a:r>
            </a:p>
          </p:txBody>
        </p:sp>
      </p:grpSp>
      <p:grpSp>
        <p:nvGrpSpPr>
          <p:cNvPr name="Group 16" id="16"/>
          <p:cNvGrpSpPr/>
          <p:nvPr/>
        </p:nvGrpSpPr>
        <p:grpSpPr>
          <a:xfrm rot="0">
            <a:off x="837090" y="2136994"/>
            <a:ext cx="16653651" cy="7694407"/>
            <a:chOff x="0" y="0"/>
            <a:chExt cx="2252807" cy="1040854"/>
          </a:xfrm>
        </p:grpSpPr>
        <p:sp>
          <p:nvSpPr>
            <p:cNvPr name="Freeform 17" id="17"/>
            <p:cNvSpPr/>
            <p:nvPr/>
          </p:nvSpPr>
          <p:spPr>
            <a:xfrm flipH="false" flipV="false" rot="0">
              <a:off x="0" y="0"/>
              <a:ext cx="2252807" cy="1040854"/>
            </a:xfrm>
            <a:custGeom>
              <a:avLst/>
              <a:gdLst/>
              <a:ahLst/>
              <a:cxnLst/>
              <a:rect r="r" b="b" t="t" l="l"/>
              <a:pathLst>
                <a:path h="1040854" w="2252807">
                  <a:moveTo>
                    <a:pt x="18130" y="0"/>
                  </a:moveTo>
                  <a:lnTo>
                    <a:pt x="2234677" y="0"/>
                  </a:lnTo>
                  <a:cubicBezTo>
                    <a:pt x="2244690" y="0"/>
                    <a:pt x="2252807" y="8117"/>
                    <a:pt x="2252807" y="18130"/>
                  </a:cubicBezTo>
                  <a:lnTo>
                    <a:pt x="2252807" y="1022723"/>
                  </a:lnTo>
                  <a:cubicBezTo>
                    <a:pt x="2252807" y="1032736"/>
                    <a:pt x="2244690" y="1040854"/>
                    <a:pt x="2234677" y="1040854"/>
                  </a:cubicBezTo>
                  <a:lnTo>
                    <a:pt x="18130" y="1040854"/>
                  </a:lnTo>
                  <a:cubicBezTo>
                    <a:pt x="8117" y="1040854"/>
                    <a:pt x="0" y="1032736"/>
                    <a:pt x="0" y="1022723"/>
                  </a:cubicBezTo>
                  <a:lnTo>
                    <a:pt x="0" y="18130"/>
                  </a:lnTo>
                  <a:cubicBezTo>
                    <a:pt x="0" y="8117"/>
                    <a:pt x="8117" y="0"/>
                    <a:pt x="18130" y="0"/>
                  </a:cubicBezTo>
                  <a:close/>
                </a:path>
              </a:pathLst>
            </a:custGeom>
            <a:solidFill>
              <a:srgbClr val="F8F3E6"/>
            </a:solidFill>
            <a:ln cap="rnd">
              <a:noFill/>
              <a:prstDash val="solid"/>
              <a:round/>
            </a:ln>
          </p:spPr>
        </p:sp>
        <p:sp>
          <p:nvSpPr>
            <p:cNvPr name="TextBox 18" id="18"/>
            <p:cNvSpPr txBox="true"/>
            <p:nvPr/>
          </p:nvSpPr>
          <p:spPr>
            <a:xfrm>
              <a:off x="0" y="-38100"/>
              <a:ext cx="2252807" cy="1078954"/>
            </a:xfrm>
            <a:prstGeom prst="rect">
              <a:avLst/>
            </a:prstGeom>
          </p:spPr>
          <p:txBody>
            <a:bodyPr anchor="ctr" rtlCol="false" tIns="50800" lIns="50800" bIns="50800" rIns="50800"/>
            <a:lstStyle/>
            <a:p>
              <a:pPr algn="ctr" marL="0" indent="0" lvl="0">
                <a:lnSpc>
                  <a:spcPts val="3359"/>
                </a:lnSpc>
                <a:spcBef>
                  <a:spcPct val="0"/>
                </a:spcBef>
              </a:pPr>
            </a:p>
          </p:txBody>
        </p:sp>
      </p:grpSp>
      <p:sp>
        <p:nvSpPr>
          <p:cNvPr name="Freeform 19" id="19"/>
          <p:cNvSpPr/>
          <p:nvPr/>
        </p:nvSpPr>
        <p:spPr>
          <a:xfrm flipH="false" flipV="false" rot="0">
            <a:off x="4651582" y="2836625"/>
            <a:ext cx="4579186" cy="3695173"/>
          </a:xfrm>
          <a:custGeom>
            <a:avLst/>
            <a:gdLst/>
            <a:ahLst/>
            <a:cxnLst/>
            <a:rect r="r" b="b" t="t" l="l"/>
            <a:pathLst>
              <a:path h="3695173" w="4579186">
                <a:moveTo>
                  <a:pt x="0" y="0"/>
                </a:moveTo>
                <a:lnTo>
                  <a:pt x="4579185" y="0"/>
                </a:lnTo>
                <a:lnTo>
                  <a:pt x="4579185" y="3695173"/>
                </a:lnTo>
                <a:lnTo>
                  <a:pt x="0" y="3695173"/>
                </a:lnTo>
                <a:lnTo>
                  <a:pt x="0" y="0"/>
                </a:lnTo>
                <a:close/>
              </a:path>
            </a:pathLst>
          </a:custGeom>
          <a:blipFill>
            <a:blip r:embed="rId7"/>
            <a:stretch>
              <a:fillRect l="0" t="0" r="0" b="0"/>
            </a:stretch>
          </a:blipFill>
        </p:spPr>
      </p:sp>
      <p:sp>
        <p:nvSpPr>
          <p:cNvPr name="Freeform 20" id="20"/>
          <p:cNvSpPr/>
          <p:nvPr/>
        </p:nvSpPr>
        <p:spPr>
          <a:xfrm flipH="false" flipV="false" rot="0">
            <a:off x="4963524" y="6664389"/>
            <a:ext cx="3656024" cy="2173551"/>
          </a:xfrm>
          <a:custGeom>
            <a:avLst/>
            <a:gdLst/>
            <a:ahLst/>
            <a:cxnLst/>
            <a:rect r="r" b="b" t="t" l="l"/>
            <a:pathLst>
              <a:path h="2173551" w="3656024">
                <a:moveTo>
                  <a:pt x="0" y="0"/>
                </a:moveTo>
                <a:lnTo>
                  <a:pt x="3656024" y="0"/>
                </a:lnTo>
                <a:lnTo>
                  <a:pt x="3656024" y="2173551"/>
                </a:lnTo>
                <a:lnTo>
                  <a:pt x="0" y="2173551"/>
                </a:lnTo>
                <a:lnTo>
                  <a:pt x="0" y="0"/>
                </a:lnTo>
                <a:close/>
              </a:path>
            </a:pathLst>
          </a:custGeom>
          <a:blipFill>
            <a:blip r:embed="rId8"/>
            <a:stretch>
              <a:fillRect l="0" t="0" r="0" b="0"/>
            </a:stretch>
          </a:blipFill>
        </p:spPr>
      </p:sp>
      <p:sp>
        <p:nvSpPr>
          <p:cNvPr name="TextBox 21" id="21"/>
          <p:cNvSpPr txBox="true"/>
          <p:nvPr/>
        </p:nvSpPr>
        <p:spPr>
          <a:xfrm rot="0">
            <a:off x="1885950" y="2990162"/>
            <a:ext cx="3077574" cy="899527"/>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3. Let us generalize it here, all we need to do is to convert, Create an augmented matrix [ M | I ]</a:t>
            </a:r>
          </a:p>
        </p:txBody>
      </p:sp>
      <p:sp>
        <p:nvSpPr>
          <p:cNvPr name="TextBox 22" id="22"/>
          <p:cNvSpPr txBox="true"/>
          <p:nvPr/>
        </p:nvSpPr>
        <p:spPr>
          <a:xfrm rot="0">
            <a:off x="358910" y="1435319"/>
            <a:ext cx="8328755"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Inversion and Identity</a:t>
            </a:r>
          </a:p>
        </p:txBody>
      </p:sp>
      <p:sp>
        <p:nvSpPr>
          <p:cNvPr name="TextBox 23" id="23"/>
          <p:cNvSpPr txBox="true"/>
          <p:nvPr/>
        </p:nvSpPr>
        <p:spPr>
          <a:xfrm rot="0">
            <a:off x="1885950" y="4703262"/>
            <a:ext cx="3186122" cy="899527"/>
          </a:xfrm>
          <a:prstGeom prst="rect">
            <a:avLst/>
          </a:prstGeom>
        </p:spPr>
        <p:txBody>
          <a:bodyPr anchor="t" rtlCol="false" tIns="0" lIns="0" bIns="0" rIns="0">
            <a:spAutoFit/>
          </a:bodyPr>
          <a:lstStyle/>
          <a:p>
            <a:pPr algn="l">
              <a:lnSpc>
                <a:spcPts val="1730"/>
              </a:lnSpc>
            </a:pPr>
            <a:r>
              <a:rPr lang="en-US" sz="1766">
                <a:solidFill>
                  <a:srgbClr val="042560"/>
                </a:solidFill>
                <a:latin typeface="Poppins"/>
                <a:ea typeface="Poppins"/>
                <a:cs typeface="Poppins"/>
                <a:sym typeface="Poppins"/>
              </a:rPr>
              <a:t>4. Perform row operations until the left side becomes I</a:t>
            </a:r>
          </a:p>
          <a:p>
            <a:pPr algn="l">
              <a:lnSpc>
                <a:spcPts val="1730"/>
              </a:lnSpc>
              <a:spcBef>
                <a:spcPct val="0"/>
              </a:spcBef>
            </a:pPr>
            <a:r>
              <a:rPr lang="en-US" sz="1766">
                <a:solidFill>
                  <a:srgbClr val="042560"/>
                </a:solidFill>
                <a:latin typeface="Poppins"/>
                <a:ea typeface="Poppins"/>
                <a:cs typeface="Poppins"/>
                <a:sym typeface="Poppins"/>
              </a:rPr>
              <a:t> → the right side becomes M^-1</a:t>
            </a:r>
          </a:p>
        </p:txBody>
      </p:sp>
      <p:sp>
        <p:nvSpPr>
          <p:cNvPr name="TextBox 24" id="24"/>
          <p:cNvSpPr txBox="true"/>
          <p:nvPr/>
        </p:nvSpPr>
        <p:spPr>
          <a:xfrm rot="0">
            <a:off x="2984501" y="7090557"/>
            <a:ext cx="3077574" cy="247606"/>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Then the matrix</a:t>
            </a:r>
          </a:p>
        </p:txBody>
      </p:sp>
      <p:sp>
        <p:nvSpPr>
          <p:cNvPr name="TextBox 25" id="25"/>
          <p:cNvSpPr txBox="true"/>
          <p:nvPr/>
        </p:nvSpPr>
        <p:spPr>
          <a:xfrm rot="0">
            <a:off x="8818887" y="7090557"/>
            <a:ext cx="4123248" cy="247606"/>
          </a:xfrm>
          <a:prstGeom prst="rect">
            <a:avLst/>
          </a:prstGeom>
        </p:spPr>
        <p:txBody>
          <a:bodyPr anchor="t" rtlCol="false" tIns="0" lIns="0" bIns="0" rIns="0">
            <a:spAutoFit/>
          </a:bodyPr>
          <a:lstStyle/>
          <a:p>
            <a:pPr algn="l">
              <a:lnSpc>
                <a:spcPts val="1730"/>
              </a:lnSpc>
              <a:spcBef>
                <a:spcPct val="0"/>
              </a:spcBef>
            </a:pPr>
            <a:r>
              <a:rPr lang="en-US" sz="1766">
                <a:solidFill>
                  <a:srgbClr val="042560"/>
                </a:solidFill>
                <a:latin typeface="Poppins"/>
                <a:ea typeface="Poppins"/>
                <a:cs typeface="Poppins"/>
                <a:sym typeface="Poppins"/>
              </a:rPr>
              <a:t>is the inverse of M we are looking for.</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SUMMARY AND PROBLEMS</a:t>
              </a:r>
            </a:p>
          </p:txBody>
        </p:sp>
      </p:grpSp>
      <p:sp>
        <p:nvSpPr>
          <p:cNvPr name="TextBox 16" id="16"/>
          <p:cNvSpPr txBox="true"/>
          <p:nvPr/>
        </p:nvSpPr>
        <p:spPr>
          <a:xfrm rot="0">
            <a:off x="358910" y="1435319"/>
            <a:ext cx="8328755"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Summary</a:t>
            </a:r>
          </a:p>
        </p:txBody>
      </p:sp>
      <p:grpSp>
        <p:nvGrpSpPr>
          <p:cNvPr name="Group 17" id="17"/>
          <p:cNvGrpSpPr/>
          <p:nvPr/>
        </p:nvGrpSpPr>
        <p:grpSpPr>
          <a:xfrm rot="0">
            <a:off x="930410" y="2424278"/>
            <a:ext cx="742651" cy="720270"/>
            <a:chOff x="0" y="0"/>
            <a:chExt cx="990201" cy="960360"/>
          </a:xfrm>
        </p:grpSpPr>
        <p:grpSp>
          <p:nvGrpSpPr>
            <p:cNvPr name="Group 18" id="18"/>
            <p:cNvGrpSpPr/>
            <p:nvPr/>
          </p:nvGrpSpPr>
          <p:grpSpPr>
            <a:xfrm rot="0">
              <a:off x="70404" y="2203"/>
              <a:ext cx="919797" cy="919797"/>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1" id="21"/>
            <p:cNvGrpSpPr/>
            <p:nvPr/>
          </p:nvGrpSpPr>
          <p:grpSpPr>
            <a:xfrm rot="0">
              <a:off x="0" y="0"/>
              <a:ext cx="919797" cy="91979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23" id="2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4" id="24"/>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1</a:t>
              </a:r>
            </a:p>
          </p:txBody>
        </p:sp>
      </p:grpSp>
      <p:grpSp>
        <p:nvGrpSpPr>
          <p:cNvPr name="Group 25" id="25"/>
          <p:cNvGrpSpPr/>
          <p:nvPr/>
        </p:nvGrpSpPr>
        <p:grpSpPr>
          <a:xfrm rot="0">
            <a:off x="930410" y="3393772"/>
            <a:ext cx="742651" cy="720270"/>
            <a:chOff x="0" y="0"/>
            <a:chExt cx="990201" cy="960360"/>
          </a:xfrm>
        </p:grpSpPr>
        <p:grpSp>
          <p:nvGrpSpPr>
            <p:cNvPr name="Group 26" id="26"/>
            <p:cNvGrpSpPr/>
            <p:nvPr/>
          </p:nvGrpSpPr>
          <p:grpSpPr>
            <a:xfrm rot="0">
              <a:off x="70404" y="2203"/>
              <a:ext cx="919797" cy="919797"/>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28" id="2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9" id="29"/>
            <p:cNvGrpSpPr/>
            <p:nvPr/>
          </p:nvGrpSpPr>
          <p:grpSpPr>
            <a:xfrm rot="0">
              <a:off x="0" y="0"/>
              <a:ext cx="919797" cy="919797"/>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31" id="3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32" id="32"/>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2</a:t>
              </a:r>
            </a:p>
          </p:txBody>
        </p:sp>
      </p:grpSp>
      <p:grpSp>
        <p:nvGrpSpPr>
          <p:cNvPr name="Group 33" id="33"/>
          <p:cNvGrpSpPr/>
          <p:nvPr/>
        </p:nvGrpSpPr>
        <p:grpSpPr>
          <a:xfrm rot="0">
            <a:off x="930410" y="4423230"/>
            <a:ext cx="742651" cy="720270"/>
            <a:chOff x="0" y="0"/>
            <a:chExt cx="990201" cy="960360"/>
          </a:xfrm>
        </p:grpSpPr>
        <p:grpSp>
          <p:nvGrpSpPr>
            <p:cNvPr name="Group 34" id="34"/>
            <p:cNvGrpSpPr/>
            <p:nvPr/>
          </p:nvGrpSpPr>
          <p:grpSpPr>
            <a:xfrm rot="0">
              <a:off x="70404" y="2203"/>
              <a:ext cx="919797" cy="919797"/>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36" id="3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7" id="37"/>
            <p:cNvGrpSpPr/>
            <p:nvPr/>
          </p:nvGrpSpPr>
          <p:grpSpPr>
            <a:xfrm rot="0">
              <a:off x="0" y="0"/>
              <a:ext cx="919797" cy="919797"/>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39" id="3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40" id="40"/>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3</a:t>
              </a:r>
            </a:p>
          </p:txBody>
        </p:sp>
      </p:grpSp>
      <p:sp>
        <p:nvSpPr>
          <p:cNvPr name="TextBox 41" id="41"/>
          <p:cNvSpPr txBox="true"/>
          <p:nvPr/>
        </p:nvSpPr>
        <p:spPr>
          <a:xfrm rot="0">
            <a:off x="1750021" y="2577652"/>
            <a:ext cx="12185831" cy="295221"/>
          </a:xfrm>
          <a:prstGeom prst="rect">
            <a:avLst/>
          </a:prstGeom>
        </p:spPr>
        <p:txBody>
          <a:bodyPr anchor="t" rtlCol="false" tIns="0" lIns="0" bIns="0" rIns="0">
            <a:spAutoFit/>
          </a:bodyPr>
          <a:lstStyle/>
          <a:p>
            <a:pPr algn="l" marL="0" indent="0" lvl="0">
              <a:lnSpc>
                <a:spcPts val="2099"/>
              </a:lnSpc>
              <a:spcBef>
                <a:spcPct val="0"/>
              </a:spcBef>
            </a:pPr>
            <a:r>
              <a:rPr lang="en-US" sz="2142">
                <a:solidFill>
                  <a:srgbClr val="FFFFFF"/>
                </a:solidFill>
                <a:latin typeface="Poppins"/>
                <a:ea typeface="Poppins"/>
                <a:cs typeface="Poppins"/>
                <a:sym typeface="Poppins"/>
              </a:rPr>
              <a:t>Linear algebra is the foundation of many engineering fields</a:t>
            </a:r>
          </a:p>
        </p:txBody>
      </p:sp>
      <p:sp>
        <p:nvSpPr>
          <p:cNvPr name="TextBox 42" id="42"/>
          <p:cNvSpPr txBox="true"/>
          <p:nvPr/>
        </p:nvSpPr>
        <p:spPr>
          <a:xfrm rot="0">
            <a:off x="1750021" y="3487575"/>
            <a:ext cx="12185831" cy="826214"/>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Vectors can be considered as points in R^3; addition and multiplication are defined on them, although not necessarily the same as for scalars.</a:t>
            </a:r>
          </a:p>
          <a:p>
            <a:pPr algn="l" marL="0" indent="0" lvl="0">
              <a:lnSpc>
                <a:spcPts val="2099"/>
              </a:lnSpc>
            </a:pPr>
          </a:p>
        </p:txBody>
      </p:sp>
      <p:sp>
        <p:nvSpPr>
          <p:cNvPr name="TextBox 43" id="43"/>
          <p:cNvSpPr txBox="true"/>
          <p:nvPr/>
        </p:nvSpPr>
        <p:spPr>
          <a:xfrm rot="0">
            <a:off x="1750021" y="4517034"/>
            <a:ext cx="12640639" cy="561237"/>
          </a:xfrm>
          <a:prstGeom prst="rect">
            <a:avLst/>
          </a:prstGeom>
        </p:spPr>
        <p:txBody>
          <a:bodyPr anchor="t" rtlCol="false" tIns="0" lIns="0" bIns="0" rIns="0">
            <a:spAutoFit/>
          </a:bodyPr>
          <a:lstStyle/>
          <a:p>
            <a:pPr algn="l" marL="0" indent="0" lvl="0">
              <a:lnSpc>
                <a:spcPts val="2099"/>
              </a:lnSpc>
            </a:pPr>
            <a:r>
              <a:rPr lang="en-US" sz="2142">
                <a:solidFill>
                  <a:srgbClr val="FFFFFF"/>
                </a:solidFill>
                <a:latin typeface="Poppins"/>
                <a:ea typeface="Poppins"/>
                <a:cs typeface="Poppins"/>
                <a:sym typeface="Poppins"/>
              </a:rPr>
              <a:t>A se</a:t>
            </a:r>
            <a:r>
              <a:rPr lang="en-US" sz="2142">
                <a:solidFill>
                  <a:srgbClr val="FFFFFF"/>
                </a:solidFill>
                <a:latin typeface="Poppins"/>
                <a:ea typeface="Poppins"/>
                <a:cs typeface="Poppins"/>
                <a:sym typeface="Poppins"/>
              </a:rPr>
              <a:t>t of vectors is linearly independent if none of the vectors can be written as a linear combination of the others.</a:t>
            </a:r>
          </a:p>
        </p:txBody>
      </p:sp>
      <p:grpSp>
        <p:nvGrpSpPr>
          <p:cNvPr name="Group 44" id="44"/>
          <p:cNvGrpSpPr/>
          <p:nvPr/>
        </p:nvGrpSpPr>
        <p:grpSpPr>
          <a:xfrm rot="0">
            <a:off x="930410" y="5305425"/>
            <a:ext cx="742651" cy="720270"/>
            <a:chOff x="0" y="0"/>
            <a:chExt cx="990201" cy="960360"/>
          </a:xfrm>
        </p:grpSpPr>
        <p:grpSp>
          <p:nvGrpSpPr>
            <p:cNvPr name="Group 45" id="45"/>
            <p:cNvGrpSpPr/>
            <p:nvPr/>
          </p:nvGrpSpPr>
          <p:grpSpPr>
            <a:xfrm rot="0">
              <a:off x="70404" y="2203"/>
              <a:ext cx="919797" cy="919797"/>
              <a:chOff x="0" y="0"/>
              <a:chExt cx="812800" cy="812800"/>
            </a:xfrm>
          </p:grpSpPr>
          <p:sp>
            <p:nvSpPr>
              <p:cNvPr name="Freeform 46" id="4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47" id="47"/>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48" id="48"/>
            <p:cNvGrpSpPr/>
            <p:nvPr/>
          </p:nvGrpSpPr>
          <p:grpSpPr>
            <a:xfrm rot="0">
              <a:off x="0" y="0"/>
              <a:ext cx="919797" cy="919797"/>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50" id="5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1" id="51"/>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4</a:t>
              </a:r>
            </a:p>
          </p:txBody>
        </p:sp>
      </p:grpSp>
      <p:grpSp>
        <p:nvGrpSpPr>
          <p:cNvPr name="Group 52" id="52"/>
          <p:cNvGrpSpPr/>
          <p:nvPr/>
        </p:nvGrpSpPr>
        <p:grpSpPr>
          <a:xfrm rot="0">
            <a:off x="930410" y="6274919"/>
            <a:ext cx="742651" cy="720270"/>
            <a:chOff x="0" y="0"/>
            <a:chExt cx="990201" cy="960360"/>
          </a:xfrm>
        </p:grpSpPr>
        <p:grpSp>
          <p:nvGrpSpPr>
            <p:cNvPr name="Group 53" id="53"/>
            <p:cNvGrpSpPr/>
            <p:nvPr/>
          </p:nvGrpSpPr>
          <p:grpSpPr>
            <a:xfrm rot="0">
              <a:off x="70404" y="2203"/>
              <a:ext cx="919797" cy="919797"/>
              <a:chOff x="0" y="0"/>
              <a:chExt cx="812800" cy="812800"/>
            </a:xfrm>
          </p:grpSpPr>
          <p:sp>
            <p:nvSpPr>
              <p:cNvPr name="Freeform 54"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55" id="5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56" id="56"/>
            <p:cNvGrpSpPr/>
            <p:nvPr/>
          </p:nvGrpSpPr>
          <p:grpSpPr>
            <a:xfrm rot="0">
              <a:off x="0" y="0"/>
              <a:ext cx="919797" cy="919797"/>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58" id="58"/>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59" id="59"/>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5</a:t>
              </a:r>
            </a:p>
          </p:txBody>
        </p:sp>
      </p:grpSp>
      <p:grpSp>
        <p:nvGrpSpPr>
          <p:cNvPr name="Group 60" id="60"/>
          <p:cNvGrpSpPr/>
          <p:nvPr/>
        </p:nvGrpSpPr>
        <p:grpSpPr>
          <a:xfrm rot="0">
            <a:off x="930410" y="7209128"/>
            <a:ext cx="742651" cy="720270"/>
            <a:chOff x="0" y="0"/>
            <a:chExt cx="990201" cy="960360"/>
          </a:xfrm>
        </p:grpSpPr>
        <p:grpSp>
          <p:nvGrpSpPr>
            <p:cNvPr name="Group 61" id="61"/>
            <p:cNvGrpSpPr/>
            <p:nvPr/>
          </p:nvGrpSpPr>
          <p:grpSpPr>
            <a:xfrm rot="0">
              <a:off x="70404" y="2203"/>
              <a:ext cx="919797" cy="919797"/>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63" id="6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64" id="64"/>
            <p:cNvGrpSpPr/>
            <p:nvPr/>
          </p:nvGrpSpPr>
          <p:grpSpPr>
            <a:xfrm rot="0">
              <a:off x="0" y="0"/>
              <a:ext cx="919797" cy="919797"/>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66" id="66"/>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67" id="67"/>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6</a:t>
              </a:r>
            </a:p>
          </p:txBody>
        </p:sp>
      </p:grpSp>
      <p:grpSp>
        <p:nvGrpSpPr>
          <p:cNvPr name="Group 68" id="68"/>
          <p:cNvGrpSpPr/>
          <p:nvPr/>
        </p:nvGrpSpPr>
        <p:grpSpPr>
          <a:xfrm rot="0">
            <a:off x="930410" y="8177047"/>
            <a:ext cx="742651" cy="720270"/>
            <a:chOff x="0" y="0"/>
            <a:chExt cx="990201" cy="960360"/>
          </a:xfrm>
        </p:grpSpPr>
        <p:grpSp>
          <p:nvGrpSpPr>
            <p:cNvPr name="Group 69" id="69"/>
            <p:cNvGrpSpPr/>
            <p:nvPr/>
          </p:nvGrpSpPr>
          <p:grpSpPr>
            <a:xfrm rot="0">
              <a:off x="70404" y="2203"/>
              <a:ext cx="919797" cy="919797"/>
              <a:chOff x="0" y="0"/>
              <a:chExt cx="812800" cy="812800"/>
            </a:xfrm>
          </p:grpSpPr>
          <p:sp>
            <p:nvSpPr>
              <p:cNvPr name="Freeform 70" id="7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71" id="71"/>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72" id="72"/>
            <p:cNvGrpSpPr/>
            <p:nvPr/>
          </p:nvGrpSpPr>
          <p:grpSpPr>
            <a:xfrm rot="0">
              <a:off x="0" y="0"/>
              <a:ext cx="919797" cy="919797"/>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74" id="74"/>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75" id="75"/>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7</a:t>
              </a:r>
            </a:p>
          </p:txBody>
        </p:sp>
      </p:grpSp>
      <p:grpSp>
        <p:nvGrpSpPr>
          <p:cNvPr name="Group 76" id="76"/>
          <p:cNvGrpSpPr/>
          <p:nvPr/>
        </p:nvGrpSpPr>
        <p:grpSpPr>
          <a:xfrm rot="0">
            <a:off x="930410" y="9206506"/>
            <a:ext cx="742651" cy="720270"/>
            <a:chOff x="0" y="0"/>
            <a:chExt cx="990201" cy="960360"/>
          </a:xfrm>
        </p:grpSpPr>
        <p:grpSp>
          <p:nvGrpSpPr>
            <p:cNvPr name="Group 77" id="77"/>
            <p:cNvGrpSpPr/>
            <p:nvPr/>
          </p:nvGrpSpPr>
          <p:grpSpPr>
            <a:xfrm rot="0">
              <a:off x="70404" y="2203"/>
              <a:ext cx="919797" cy="919797"/>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79" id="79"/>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80" id="80"/>
            <p:cNvGrpSpPr/>
            <p:nvPr/>
          </p:nvGrpSpPr>
          <p:grpSpPr>
            <a:xfrm rot="0">
              <a:off x="0" y="0"/>
              <a:ext cx="919797" cy="919797"/>
              <a:chOff x="0" y="0"/>
              <a:chExt cx="812800" cy="812800"/>
            </a:xfrm>
          </p:grpSpPr>
          <p:sp>
            <p:nvSpPr>
              <p:cNvPr name="Freeform 81" id="8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82" id="8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83" id="83"/>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8</a:t>
              </a:r>
            </a:p>
          </p:txBody>
        </p:sp>
      </p:grpSp>
      <p:sp>
        <p:nvSpPr>
          <p:cNvPr name="TextBox 84" id="84"/>
          <p:cNvSpPr txBox="true"/>
          <p:nvPr/>
        </p:nvSpPr>
        <p:spPr>
          <a:xfrm rot="0">
            <a:off x="1750021" y="5356219"/>
            <a:ext cx="12185831" cy="823095"/>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Matrices are tables of numbers. They have several important properties including the determinant, rank, and inverse.</a:t>
            </a:r>
          </a:p>
          <a:p>
            <a:pPr algn="l" marL="0" indent="0" lvl="0">
              <a:lnSpc>
                <a:spcPts val="2099"/>
              </a:lnSpc>
              <a:spcBef>
                <a:spcPct val="0"/>
              </a:spcBef>
            </a:pPr>
          </a:p>
        </p:txBody>
      </p:sp>
      <p:sp>
        <p:nvSpPr>
          <p:cNvPr name="TextBox 85" id="85"/>
          <p:cNvSpPr txBox="true"/>
          <p:nvPr/>
        </p:nvSpPr>
        <p:spPr>
          <a:xfrm rot="0">
            <a:off x="1750021" y="6456642"/>
            <a:ext cx="12185831" cy="561237"/>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system of linear equations can be represented by the matrix equation Ax=y.</a:t>
            </a:r>
          </a:p>
          <a:p>
            <a:pPr algn="l" marL="0" indent="0" lvl="0">
              <a:lnSpc>
                <a:spcPts val="2099"/>
              </a:lnSpc>
            </a:pPr>
          </a:p>
        </p:txBody>
      </p:sp>
      <p:sp>
        <p:nvSpPr>
          <p:cNvPr name="TextBox 86" id="86"/>
          <p:cNvSpPr txBox="true"/>
          <p:nvPr/>
        </p:nvSpPr>
        <p:spPr>
          <a:xfrm rot="0">
            <a:off x="1750021" y="7294105"/>
            <a:ext cx="12640639" cy="826214"/>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The number of solu</a:t>
            </a:r>
            <a:r>
              <a:rPr lang="en-US" sz="2142">
                <a:solidFill>
                  <a:srgbClr val="FFFFFF"/>
                </a:solidFill>
                <a:latin typeface="Poppins"/>
                <a:ea typeface="Poppins"/>
                <a:cs typeface="Poppins"/>
                <a:sym typeface="Poppins"/>
              </a:rPr>
              <a:t>tions to a system of linear equations is related to the rank(A) and the rank([A,y]). It can be zero, one, or infinity.</a:t>
            </a:r>
          </a:p>
          <a:p>
            <a:pPr algn="l" marL="0" indent="0" lvl="0">
              <a:lnSpc>
                <a:spcPts val="2099"/>
              </a:lnSpc>
            </a:pPr>
          </a:p>
        </p:txBody>
      </p:sp>
      <p:sp>
        <p:nvSpPr>
          <p:cNvPr name="TextBox 87" id="87"/>
          <p:cNvSpPr txBox="true"/>
          <p:nvPr/>
        </p:nvSpPr>
        <p:spPr>
          <a:xfrm rot="0">
            <a:off x="1750021" y="8325286"/>
            <a:ext cx="12185831" cy="561237"/>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We can solve the equations using Gauss Elimination, Gauss-Jordan Elimination, LU decomposition and Gauss-Seidel method.</a:t>
            </a:r>
          </a:p>
        </p:txBody>
      </p:sp>
      <p:sp>
        <p:nvSpPr>
          <p:cNvPr name="TextBox 88" id="88"/>
          <p:cNvSpPr txBox="true"/>
          <p:nvPr/>
        </p:nvSpPr>
        <p:spPr>
          <a:xfrm rot="0">
            <a:off x="1750021" y="9354744"/>
            <a:ext cx="12640639" cy="296260"/>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W</a:t>
            </a:r>
            <a:r>
              <a:rPr lang="en-US" sz="2142">
                <a:solidFill>
                  <a:srgbClr val="FFFFFF"/>
                </a:solidFill>
                <a:latin typeface="Poppins"/>
                <a:ea typeface="Poppins"/>
                <a:cs typeface="Poppins"/>
                <a:sym typeface="Poppins"/>
              </a:rPr>
              <a:t>e introduced methods to find matrix inversion.</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grpSp>
        <p:nvGrpSpPr>
          <p:cNvPr name="Group 2" id="2"/>
          <p:cNvGrpSpPr/>
          <p:nvPr/>
        </p:nvGrpSpPr>
        <p:grpSpPr>
          <a:xfrm rot="0">
            <a:off x="11916713" y="292637"/>
            <a:ext cx="6128190" cy="1018857"/>
            <a:chOff x="0" y="0"/>
            <a:chExt cx="8170920" cy="1358476"/>
          </a:xfrm>
        </p:grpSpPr>
        <p:grpSp>
          <p:nvGrpSpPr>
            <p:cNvPr name="Group 3" id="3"/>
            <p:cNvGrpSpPr/>
            <p:nvPr/>
          </p:nvGrpSpPr>
          <p:grpSpPr>
            <a:xfrm rot="0">
              <a:off x="0" y="0"/>
              <a:ext cx="8170920" cy="1358476"/>
              <a:chOff x="0" y="0"/>
              <a:chExt cx="825661" cy="137272"/>
            </a:xfrm>
          </p:grpSpPr>
          <p:sp>
            <p:nvSpPr>
              <p:cNvPr name="Freeform 4" id="4"/>
              <p:cNvSpPr/>
              <p:nvPr/>
            </p:nvSpPr>
            <p:spPr>
              <a:xfrm flipH="false" flipV="false" rot="0">
                <a:off x="0" y="0"/>
                <a:ext cx="825661" cy="137272"/>
              </a:xfrm>
              <a:custGeom>
                <a:avLst/>
                <a:gdLst/>
                <a:ahLst/>
                <a:cxnLst/>
                <a:rect r="r" b="b" t="t" l="l"/>
                <a:pathLst>
                  <a:path h="137272" w="825661">
                    <a:moveTo>
                      <a:pt x="68636" y="0"/>
                    </a:moveTo>
                    <a:lnTo>
                      <a:pt x="757025" y="0"/>
                    </a:lnTo>
                    <a:cubicBezTo>
                      <a:pt x="794932" y="0"/>
                      <a:pt x="825661" y="30729"/>
                      <a:pt x="825661" y="68636"/>
                    </a:cubicBezTo>
                    <a:lnTo>
                      <a:pt x="825661" y="68636"/>
                    </a:lnTo>
                    <a:cubicBezTo>
                      <a:pt x="825661" y="106543"/>
                      <a:pt x="794932" y="137272"/>
                      <a:pt x="757025" y="137272"/>
                    </a:cubicBezTo>
                    <a:lnTo>
                      <a:pt x="68636" y="137272"/>
                    </a:lnTo>
                    <a:cubicBezTo>
                      <a:pt x="30729" y="137272"/>
                      <a:pt x="0" y="106543"/>
                      <a:pt x="0" y="68636"/>
                    </a:cubicBezTo>
                    <a:lnTo>
                      <a:pt x="0" y="68636"/>
                    </a:lnTo>
                    <a:cubicBezTo>
                      <a:pt x="0" y="30729"/>
                      <a:pt x="30729" y="0"/>
                      <a:pt x="68636" y="0"/>
                    </a:cubicBezTo>
                    <a:close/>
                  </a:path>
                </a:pathLst>
              </a:custGeom>
              <a:solidFill>
                <a:srgbClr val="FFFFFF"/>
              </a:solidFill>
            </p:spPr>
          </p:sp>
          <p:sp>
            <p:nvSpPr>
              <p:cNvPr name="TextBox 5" id="5"/>
              <p:cNvSpPr txBox="true"/>
              <p:nvPr/>
            </p:nvSpPr>
            <p:spPr>
              <a:xfrm>
                <a:off x="0" y="-85725"/>
                <a:ext cx="825661" cy="222997"/>
              </a:xfrm>
              <a:prstGeom prst="rect">
                <a:avLst/>
              </a:prstGeom>
            </p:spPr>
            <p:txBody>
              <a:bodyPr anchor="ctr" rtlCol="false" tIns="77124" lIns="77124" bIns="77124" rIns="77124"/>
              <a:lstStyle/>
              <a:p>
                <a:pPr algn="ctr">
                  <a:lnSpc>
                    <a:spcPts val="6019"/>
                  </a:lnSpc>
                </a:pPr>
              </a:p>
            </p:txBody>
          </p:sp>
        </p:grpSp>
        <p:sp>
          <p:nvSpPr>
            <p:cNvPr name="Freeform 6" id="6"/>
            <p:cNvSpPr/>
            <p:nvPr/>
          </p:nvSpPr>
          <p:spPr>
            <a:xfrm flipH="false" flipV="false" rot="0">
              <a:off x="1459068" y="159248"/>
              <a:ext cx="1041084" cy="1020597"/>
            </a:xfrm>
            <a:custGeom>
              <a:avLst/>
              <a:gdLst/>
              <a:ahLst/>
              <a:cxnLst/>
              <a:rect r="r" b="b" t="t" l="l"/>
              <a:pathLst>
                <a:path h="1020597" w="1041084">
                  <a:moveTo>
                    <a:pt x="0" y="0"/>
                  </a:moveTo>
                  <a:lnTo>
                    <a:pt x="1041083" y="0"/>
                  </a:lnTo>
                  <a:lnTo>
                    <a:pt x="1041083" y="1020597"/>
                  </a:lnTo>
                  <a:lnTo>
                    <a:pt x="0" y="1020597"/>
                  </a:lnTo>
                  <a:lnTo>
                    <a:pt x="0" y="0"/>
                  </a:lnTo>
                  <a:close/>
                </a:path>
              </a:pathLst>
            </a:custGeom>
            <a:blipFill>
              <a:blip r:embed="rId2"/>
              <a:stretch>
                <a:fillRect l="-81" t="0" r="-81" b="0"/>
              </a:stretch>
            </a:blipFill>
          </p:spPr>
        </p:sp>
        <p:sp>
          <p:nvSpPr>
            <p:cNvPr name="Freeform 7" id="7"/>
            <p:cNvSpPr/>
            <p:nvPr/>
          </p:nvSpPr>
          <p:spPr>
            <a:xfrm flipH="false" flipV="false" rot="0">
              <a:off x="6737884" y="86432"/>
              <a:ext cx="1166230" cy="1166230"/>
            </a:xfrm>
            <a:custGeom>
              <a:avLst/>
              <a:gdLst/>
              <a:ahLst/>
              <a:cxnLst/>
              <a:rect r="r" b="b" t="t" l="l"/>
              <a:pathLst>
                <a:path h="1166230" w="1166230">
                  <a:moveTo>
                    <a:pt x="0" y="0"/>
                  </a:moveTo>
                  <a:lnTo>
                    <a:pt x="1166230" y="0"/>
                  </a:lnTo>
                  <a:lnTo>
                    <a:pt x="1166230" y="1166230"/>
                  </a:lnTo>
                  <a:lnTo>
                    <a:pt x="0" y="1166230"/>
                  </a:lnTo>
                  <a:lnTo>
                    <a:pt x="0" y="0"/>
                  </a:lnTo>
                  <a:close/>
                </a:path>
              </a:pathLst>
            </a:custGeom>
            <a:blipFill>
              <a:blip r:embed="rId3"/>
              <a:stretch>
                <a:fillRect l="0" t="0" r="0" b="0"/>
              </a:stretch>
            </a:blipFill>
          </p:spPr>
        </p:sp>
        <p:sp>
          <p:nvSpPr>
            <p:cNvPr name="Freeform 8" id="8"/>
            <p:cNvSpPr/>
            <p:nvPr/>
          </p:nvSpPr>
          <p:spPr>
            <a:xfrm flipH="false" flipV="false" rot="0">
              <a:off x="328370" y="179670"/>
              <a:ext cx="979753" cy="979753"/>
            </a:xfrm>
            <a:custGeom>
              <a:avLst/>
              <a:gdLst/>
              <a:ahLst/>
              <a:cxnLst/>
              <a:rect r="r" b="b" t="t" l="l"/>
              <a:pathLst>
                <a:path h="979753" w="979753">
                  <a:moveTo>
                    <a:pt x="0" y="0"/>
                  </a:moveTo>
                  <a:lnTo>
                    <a:pt x="979754" y="0"/>
                  </a:lnTo>
                  <a:lnTo>
                    <a:pt x="979754" y="979753"/>
                  </a:lnTo>
                  <a:lnTo>
                    <a:pt x="0" y="979753"/>
                  </a:lnTo>
                  <a:lnTo>
                    <a:pt x="0" y="0"/>
                  </a:lnTo>
                  <a:close/>
                </a:path>
              </a:pathLst>
            </a:custGeom>
            <a:blipFill>
              <a:blip r:embed="rId4"/>
              <a:stretch>
                <a:fillRect l="0" t="0" r="0" b="0"/>
              </a:stretch>
            </a:blipFill>
          </p:spPr>
        </p:sp>
        <p:sp>
          <p:nvSpPr>
            <p:cNvPr name="Freeform 9" id="9"/>
            <p:cNvSpPr/>
            <p:nvPr/>
          </p:nvSpPr>
          <p:spPr>
            <a:xfrm flipH="false" flipV="false" rot="0">
              <a:off x="2651096" y="206495"/>
              <a:ext cx="926103" cy="926103"/>
            </a:xfrm>
            <a:custGeom>
              <a:avLst/>
              <a:gdLst/>
              <a:ahLst/>
              <a:cxnLst/>
              <a:rect r="r" b="b" t="t" l="l"/>
              <a:pathLst>
                <a:path h="926103" w="926103">
                  <a:moveTo>
                    <a:pt x="0" y="0"/>
                  </a:moveTo>
                  <a:lnTo>
                    <a:pt x="926103" y="0"/>
                  </a:lnTo>
                  <a:lnTo>
                    <a:pt x="926103" y="926103"/>
                  </a:lnTo>
                  <a:lnTo>
                    <a:pt x="0" y="926103"/>
                  </a:lnTo>
                  <a:lnTo>
                    <a:pt x="0" y="0"/>
                  </a:lnTo>
                  <a:close/>
                </a:path>
              </a:pathLst>
            </a:custGeom>
            <a:blipFill>
              <a:blip r:embed="rId5"/>
              <a:stretch>
                <a:fillRect l="0" t="0" r="0" b="0"/>
              </a:stretch>
            </a:blipFill>
          </p:spPr>
        </p:sp>
        <p:sp>
          <p:nvSpPr>
            <p:cNvPr name="Freeform 10" id="10"/>
            <p:cNvSpPr/>
            <p:nvPr/>
          </p:nvSpPr>
          <p:spPr>
            <a:xfrm flipH="false" flipV="false" rot="0">
              <a:off x="3732955" y="249294"/>
              <a:ext cx="2849173" cy="840506"/>
            </a:xfrm>
            <a:custGeom>
              <a:avLst/>
              <a:gdLst/>
              <a:ahLst/>
              <a:cxnLst/>
              <a:rect r="r" b="b" t="t" l="l"/>
              <a:pathLst>
                <a:path h="840506" w="2849173">
                  <a:moveTo>
                    <a:pt x="0" y="0"/>
                  </a:moveTo>
                  <a:lnTo>
                    <a:pt x="2849172" y="0"/>
                  </a:lnTo>
                  <a:lnTo>
                    <a:pt x="2849172" y="840506"/>
                  </a:lnTo>
                  <a:lnTo>
                    <a:pt x="0" y="840506"/>
                  </a:lnTo>
                  <a:lnTo>
                    <a:pt x="0" y="0"/>
                  </a:lnTo>
                  <a:close/>
                </a:path>
              </a:pathLst>
            </a:custGeom>
            <a:blipFill>
              <a:blip r:embed="rId6"/>
              <a:stretch>
                <a:fillRect l="0" t="-122" r="0" b="-122"/>
              </a:stretch>
            </a:blipFill>
          </p:spPr>
        </p:sp>
      </p:grpSp>
      <p:grpSp>
        <p:nvGrpSpPr>
          <p:cNvPr name="Group 11" id="11"/>
          <p:cNvGrpSpPr/>
          <p:nvPr/>
        </p:nvGrpSpPr>
        <p:grpSpPr>
          <a:xfrm rot="0">
            <a:off x="282710" y="292637"/>
            <a:ext cx="7163153" cy="1018857"/>
            <a:chOff x="0" y="0"/>
            <a:chExt cx="9550871" cy="1358476"/>
          </a:xfrm>
        </p:grpSpPr>
        <p:grpSp>
          <p:nvGrpSpPr>
            <p:cNvPr name="Group 12" id="12"/>
            <p:cNvGrpSpPr/>
            <p:nvPr/>
          </p:nvGrpSpPr>
          <p:grpSpPr>
            <a:xfrm rot="0">
              <a:off x="0" y="0"/>
              <a:ext cx="9550871" cy="1358476"/>
              <a:chOff x="0" y="0"/>
              <a:chExt cx="965104" cy="137272"/>
            </a:xfrm>
          </p:grpSpPr>
          <p:sp>
            <p:nvSpPr>
              <p:cNvPr name="Freeform 13" id="13"/>
              <p:cNvSpPr/>
              <p:nvPr/>
            </p:nvSpPr>
            <p:spPr>
              <a:xfrm flipH="false" flipV="false" rot="0">
                <a:off x="0" y="0"/>
                <a:ext cx="965104" cy="137272"/>
              </a:xfrm>
              <a:custGeom>
                <a:avLst/>
                <a:gdLst/>
                <a:ahLst/>
                <a:cxnLst/>
                <a:rect r="r" b="b" t="t" l="l"/>
                <a:pathLst>
                  <a:path h="137272" w="965104">
                    <a:moveTo>
                      <a:pt x="68636" y="0"/>
                    </a:moveTo>
                    <a:lnTo>
                      <a:pt x="896468" y="0"/>
                    </a:lnTo>
                    <a:cubicBezTo>
                      <a:pt x="934374" y="0"/>
                      <a:pt x="965104" y="30729"/>
                      <a:pt x="965104" y="68636"/>
                    </a:cubicBezTo>
                    <a:lnTo>
                      <a:pt x="965104" y="68636"/>
                    </a:lnTo>
                    <a:cubicBezTo>
                      <a:pt x="965104" y="106543"/>
                      <a:pt x="934374" y="137272"/>
                      <a:pt x="896468" y="137272"/>
                    </a:cubicBezTo>
                    <a:lnTo>
                      <a:pt x="68636" y="137272"/>
                    </a:lnTo>
                    <a:cubicBezTo>
                      <a:pt x="30729" y="137272"/>
                      <a:pt x="0" y="106543"/>
                      <a:pt x="0" y="68636"/>
                    </a:cubicBezTo>
                    <a:lnTo>
                      <a:pt x="0" y="68636"/>
                    </a:lnTo>
                    <a:cubicBezTo>
                      <a:pt x="0" y="30729"/>
                      <a:pt x="30729" y="0"/>
                      <a:pt x="68636" y="0"/>
                    </a:cubicBezTo>
                    <a:close/>
                  </a:path>
                </a:pathLst>
              </a:custGeom>
              <a:solidFill>
                <a:srgbClr val="F8F3E6"/>
              </a:solidFill>
            </p:spPr>
          </p:sp>
          <p:sp>
            <p:nvSpPr>
              <p:cNvPr name="TextBox 14" id="14"/>
              <p:cNvSpPr txBox="true"/>
              <p:nvPr/>
            </p:nvSpPr>
            <p:spPr>
              <a:xfrm>
                <a:off x="0" y="-85725"/>
                <a:ext cx="965104" cy="222997"/>
              </a:xfrm>
              <a:prstGeom prst="rect">
                <a:avLst/>
              </a:prstGeom>
            </p:spPr>
            <p:txBody>
              <a:bodyPr anchor="ctr" rtlCol="false" tIns="67562" lIns="67562" bIns="67562" rIns="67562"/>
              <a:lstStyle/>
              <a:p>
                <a:pPr algn="ctr">
                  <a:lnSpc>
                    <a:spcPts val="6019"/>
                  </a:lnSpc>
                </a:pPr>
              </a:p>
            </p:txBody>
          </p:sp>
        </p:grpSp>
        <p:sp>
          <p:nvSpPr>
            <p:cNvPr name="TextBox 15" id="15"/>
            <p:cNvSpPr txBox="true"/>
            <p:nvPr/>
          </p:nvSpPr>
          <p:spPr>
            <a:xfrm rot="0">
              <a:off x="382740" y="422909"/>
              <a:ext cx="8785391" cy="725382"/>
            </a:xfrm>
            <a:prstGeom prst="rect">
              <a:avLst/>
            </a:prstGeom>
          </p:spPr>
          <p:txBody>
            <a:bodyPr anchor="t" rtlCol="false" tIns="0" lIns="0" bIns="0" rIns="0">
              <a:spAutoFit/>
            </a:bodyPr>
            <a:lstStyle/>
            <a:p>
              <a:pPr algn="ctr">
                <a:lnSpc>
                  <a:spcPts val="3759"/>
                </a:lnSpc>
              </a:pPr>
              <a:r>
                <a:rPr lang="en-US" sz="3999">
                  <a:solidFill>
                    <a:srgbClr val="0B2F70"/>
                  </a:solidFill>
                  <a:latin typeface="Lovelo"/>
                  <a:ea typeface="Lovelo"/>
                  <a:cs typeface="Lovelo"/>
                  <a:sym typeface="Lovelo"/>
                </a:rPr>
                <a:t>SUMM</a:t>
              </a:r>
              <a:r>
                <a:rPr lang="en-US" sz="3999">
                  <a:solidFill>
                    <a:srgbClr val="0B2F70"/>
                  </a:solidFill>
                  <a:latin typeface="Lovelo"/>
                  <a:ea typeface="Lovelo"/>
                  <a:cs typeface="Lovelo"/>
                  <a:sym typeface="Lovelo"/>
                </a:rPr>
                <a:t>ARY AND PROBLEMS</a:t>
              </a:r>
            </a:p>
          </p:txBody>
        </p:sp>
      </p:grpSp>
      <p:grpSp>
        <p:nvGrpSpPr>
          <p:cNvPr name="Group 16" id="16"/>
          <p:cNvGrpSpPr/>
          <p:nvPr/>
        </p:nvGrpSpPr>
        <p:grpSpPr>
          <a:xfrm rot="0">
            <a:off x="1404791" y="5140389"/>
            <a:ext cx="11395867" cy="4869247"/>
            <a:chOff x="0" y="0"/>
            <a:chExt cx="1541565" cy="658683"/>
          </a:xfrm>
        </p:grpSpPr>
        <p:sp>
          <p:nvSpPr>
            <p:cNvPr name="Freeform 17" id="17"/>
            <p:cNvSpPr/>
            <p:nvPr/>
          </p:nvSpPr>
          <p:spPr>
            <a:xfrm flipH="false" flipV="false" rot="0">
              <a:off x="0" y="0"/>
              <a:ext cx="1541565" cy="658683"/>
            </a:xfrm>
            <a:custGeom>
              <a:avLst/>
              <a:gdLst/>
              <a:ahLst/>
              <a:cxnLst/>
              <a:rect r="r" b="b" t="t" l="l"/>
              <a:pathLst>
                <a:path h="658683" w="1541565">
                  <a:moveTo>
                    <a:pt x="26495" y="0"/>
                  </a:moveTo>
                  <a:lnTo>
                    <a:pt x="1515070" y="0"/>
                  </a:lnTo>
                  <a:cubicBezTo>
                    <a:pt x="1529703" y="0"/>
                    <a:pt x="1541565" y="11862"/>
                    <a:pt x="1541565" y="26495"/>
                  </a:cubicBezTo>
                  <a:lnTo>
                    <a:pt x="1541565" y="632188"/>
                  </a:lnTo>
                  <a:cubicBezTo>
                    <a:pt x="1541565" y="646821"/>
                    <a:pt x="1529703" y="658683"/>
                    <a:pt x="1515070" y="658683"/>
                  </a:cubicBezTo>
                  <a:lnTo>
                    <a:pt x="26495" y="658683"/>
                  </a:lnTo>
                  <a:cubicBezTo>
                    <a:pt x="11862" y="658683"/>
                    <a:pt x="0" y="646821"/>
                    <a:pt x="0" y="632188"/>
                  </a:cubicBezTo>
                  <a:lnTo>
                    <a:pt x="0" y="26495"/>
                  </a:lnTo>
                  <a:cubicBezTo>
                    <a:pt x="0" y="11862"/>
                    <a:pt x="11862" y="0"/>
                    <a:pt x="26495" y="0"/>
                  </a:cubicBezTo>
                  <a:close/>
                </a:path>
              </a:pathLst>
            </a:custGeom>
            <a:solidFill>
              <a:srgbClr val="F8F3E6"/>
            </a:solidFill>
            <a:ln cap="rnd">
              <a:noFill/>
              <a:prstDash val="solid"/>
              <a:round/>
            </a:ln>
          </p:spPr>
        </p:sp>
        <p:sp>
          <p:nvSpPr>
            <p:cNvPr name="TextBox 18" id="18"/>
            <p:cNvSpPr txBox="true"/>
            <p:nvPr/>
          </p:nvSpPr>
          <p:spPr>
            <a:xfrm>
              <a:off x="0" y="-38100"/>
              <a:ext cx="1541565" cy="696783"/>
            </a:xfrm>
            <a:prstGeom prst="rect">
              <a:avLst/>
            </a:prstGeom>
          </p:spPr>
          <p:txBody>
            <a:bodyPr anchor="ctr" rtlCol="false" tIns="50800" lIns="50800" bIns="50800" rIns="50800"/>
            <a:lstStyle/>
            <a:p>
              <a:pPr algn="ctr" marL="0" indent="0" lvl="0">
                <a:lnSpc>
                  <a:spcPts val="3359"/>
                </a:lnSpc>
                <a:spcBef>
                  <a:spcPct val="0"/>
                </a:spcBef>
              </a:pPr>
            </a:p>
          </p:txBody>
        </p:sp>
      </p:grpSp>
      <p:grpSp>
        <p:nvGrpSpPr>
          <p:cNvPr name="Group 19" id="19"/>
          <p:cNvGrpSpPr/>
          <p:nvPr/>
        </p:nvGrpSpPr>
        <p:grpSpPr>
          <a:xfrm rot="0">
            <a:off x="835160" y="2424278"/>
            <a:ext cx="742651" cy="720270"/>
            <a:chOff x="0" y="0"/>
            <a:chExt cx="990201" cy="960360"/>
          </a:xfrm>
        </p:grpSpPr>
        <p:grpSp>
          <p:nvGrpSpPr>
            <p:cNvPr name="Group 20" id="20"/>
            <p:cNvGrpSpPr/>
            <p:nvPr/>
          </p:nvGrpSpPr>
          <p:grpSpPr>
            <a:xfrm rot="0">
              <a:off x="70404" y="2203"/>
              <a:ext cx="919797" cy="919797"/>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22" id="22"/>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23" id="23"/>
            <p:cNvGrpSpPr/>
            <p:nvPr/>
          </p:nvGrpSpPr>
          <p:grpSpPr>
            <a:xfrm rot="0">
              <a:off x="0" y="0"/>
              <a:ext cx="919797" cy="919797"/>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25" id="25"/>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1</a:t>
              </a:r>
            </a:p>
          </p:txBody>
        </p:sp>
      </p:grpSp>
      <p:grpSp>
        <p:nvGrpSpPr>
          <p:cNvPr name="Group 27" id="27"/>
          <p:cNvGrpSpPr/>
          <p:nvPr/>
        </p:nvGrpSpPr>
        <p:grpSpPr>
          <a:xfrm rot="0">
            <a:off x="835160" y="3400748"/>
            <a:ext cx="742651" cy="720270"/>
            <a:chOff x="0" y="0"/>
            <a:chExt cx="990201" cy="960360"/>
          </a:xfrm>
        </p:grpSpPr>
        <p:grpSp>
          <p:nvGrpSpPr>
            <p:cNvPr name="Group 28" id="28"/>
            <p:cNvGrpSpPr/>
            <p:nvPr/>
          </p:nvGrpSpPr>
          <p:grpSpPr>
            <a:xfrm rot="0">
              <a:off x="70404" y="2203"/>
              <a:ext cx="919797" cy="919797"/>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B93B0"/>
              </a:solidFill>
            </p:spPr>
          </p:sp>
          <p:sp>
            <p:nvSpPr>
              <p:cNvPr name="TextBox 30" id="30"/>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0" y="0"/>
              <a:ext cx="919797" cy="919797"/>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3DFFF"/>
              </a:solidFill>
            </p:spPr>
          </p:sp>
          <p:sp>
            <p:nvSpPr>
              <p:cNvPr name="TextBox 33" id="33"/>
              <p:cNvSpPr txBox="true"/>
              <p:nvPr/>
            </p:nvSpPr>
            <p:spPr>
              <a:xfrm>
                <a:off x="76200" y="38100"/>
                <a:ext cx="660400" cy="698500"/>
              </a:xfrm>
              <a:prstGeom prst="rect">
                <a:avLst/>
              </a:prstGeom>
            </p:spPr>
            <p:txBody>
              <a:bodyPr anchor="ctr" rtlCol="false" tIns="50800" lIns="50800" bIns="50800" rIns="50800"/>
              <a:lstStyle/>
              <a:p>
                <a:pPr algn="ctr">
                  <a:lnSpc>
                    <a:spcPts val="2659"/>
                  </a:lnSpc>
                  <a:spcBef>
                    <a:spcPct val="0"/>
                  </a:spcBef>
                </a:pPr>
              </a:p>
            </p:txBody>
          </p:sp>
        </p:grpSp>
        <p:sp>
          <p:nvSpPr>
            <p:cNvPr name="TextBox 34" id="34"/>
            <p:cNvSpPr txBox="true"/>
            <p:nvPr/>
          </p:nvSpPr>
          <p:spPr>
            <a:xfrm rot="0">
              <a:off x="70404" y="45854"/>
              <a:ext cx="783658" cy="914506"/>
            </a:xfrm>
            <a:prstGeom prst="rect">
              <a:avLst/>
            </a:prstGeom>
          </p:spPr>
          <p:txBody>
            <a:bodyPr anchor="t" rtlCol="false" tIns="0" lIns="0" bIns="0" rIns="0">
              <a:spAutoFit/>
            </a:bodyPr>
            <a:lstStyle/>
            <a:p>
              <a:pPr algn="ctr">
                <a:lnSpc>
                  <a:spcPts val="5731"/>
                </a:lnSpc>
              </a:pPr>
              <a:r>
                <a:rPr lang="en-US" sz="4094">
                  <a:solidFill>
                    <a:srgbClr val="0B2F70"/>
                  </a:solidFill>
                  <a:latin typeface="Lovelo"/>
                  <a:ea typeface="Lovelo"/>
                  <a:cs typeface="Lovelo"/>
                  <a:sym typeface="Lovelo"/>
                </a:rPr>
                <a:t>2</a:t>
              </a:r>
            </a:p>
          </p:txBody>
        </p:sp>
      </p:grpSp>
      <p:sp>
        <p:nvSpPr>
          <p:cNvPr name="Freeform 35" id="35"/>
          <p:cNvSpPr/>
          <p:nvPr/>
        </p:nvSpPr>
        <p:spPr>
          <a:xfrm flipH="false" flipV="false" rot="0">
            <a:off x="8131663" y="5536729"/>
            <a:ext cx="3258243" cy="1793864"/>
          </a:xfrm>
          <a:custGeom>
            <a:avLst/>
            <a:gdLst/>
            <a:ahLst/>
            <a:cxnLst/>
            <a:rect r="r" b="b" t="t" l="l"/>
            <a:pathLst>
              <a:path h="1793864" w="3258243">
                <a:moveTo>
                  <a:pt x="0" y="0"/>
                </a:moveTo>
                <a:lnTo>
                  <a:pt x="3258244" y="0"/>
                </a:lnTo>
                <a:lnTo>
                  <a:pt x="3258244" y="1793864"/>
                </a:lnTo>
                <a:lnTo>
                  <a:pt x="0" y="1793864"/>
                </a:lnTo>
                <a:lnTo>
                  <a:pt x="0" y="0"/>
                </a:lnTo>
                <a:close/>
              </a:path>
            </a:pathLst>
          </a:custGeom>
          <a:blipFill>
            <a:blip r:embed="rId7"/>
            <a:stretch>
              <a:fillRect l="0" t="0" r="0" b="0"/>
            </a:stretch>
          </a:blipFill>
        </p:spPr>
      </p:sp>
      <p:sp>
        <p:nvSpPr>
          <p:cNvPr name="Freeform 36" id="36"/>
          <p:cNvSpPr/>
          <p:nvPr/>
        </p:nvSpPr>
        <p:spPr>
          <a:xfrm flipH="false" flipV="false" rot="0">
            <a:off x="2628845" y="5235704"/>
            <a:ext cx="3285327" cy="4565324"/>
          </a:xfrm>
          <a:custGeom>
            <a:avLst/>
            <a:gdLst/>
            <a:ahLst/>
            <a:cxnLst/>
            <a:rect r="r" b="b" t="t" l="l"/>
            <a:pathLst>
              <a:path h="4565324" w="3285327">
                <a:moveTo>
                  <a:pt x="0" y="0"/>
                </a:moveTo>
                <a:lnTo>
                  <a:pt x="3285327" y="0"/>
                </a:lnTo>
                <a:lnTo>
                  <a:pt x="3285327" y="4565325"/>
                </a:lnTo>
                <a:lnTo>
                  <a:pt x="0" y="4565325"/>
                </a:lnTo>
                <a:lnTo>
                  <a:pt x="0" y="0"/>
                </a:lnTo>
                <a:close/>
              </a:path>
            </a:pathLst>
          </a:custGeom>
          <a:blipFill>
            <a:blip r:embed="rId8"/>
            <a:stretch>
              <a:fillRect l="-9613" t="-7920" r="-10132" b="-5306"/>
            </a:stretch>
          </a:blipFill>
        </p:spPr>
      </p:sp>
      <p:sp>
        <p:nvSpPr>
          <p:cNvPr name="Freeform 37" id="37"/>
          <p:cNvSpPr/>
          <p:nvPr/>
        </p:nvSpPr>
        <p:spPr>
          <a:xfrm flipH="false" flipV="false" rot="0">
            <a:off x="4271508" y="4160981"/>
            <a:ext cx="3363401" cy="844097"/>
          </a:xfrm>
          <a:custGeom>
            <a:avLst/>
            <a:gdLst/>
            <a:ahLst/>
            <a:cxnLst/>
            <a:rect r="r" b="b" t="t" l="l"/>
            <a:pathLst>
              <a:path h="844097" w="3363401">
                <a:moveTo>
                  <a:pt x="0" y="0"/>
                </a:moveTo>
                <a:lnTo>
                  <a:pt x="3363402" y="0"/>
                </a:lnTo>
                <a:lnTo>
                  <a:pt x="3363402" y="844097"/>
                </a:lnTo>
                <a:lnTo>
                  <a:pt x="0" y="844097"/>
                </a:lnTo>
                <a:lnTo>
                  <a:pt x="0" y="0"/>
                </a:lnTo>
                <a:close/>
              </a:path>
            </a:pathLst>
          </a:custGeom>
          <a:blipFill>
            <a:blip r:embed="rId9"/>
            <a:stretch>
              <a:fillRect l="0" t="0" r="0" b="0"/>
            </a:stretch>
          </a:blipFill>
        </p:spPr>
      </p:sp>
      <p:sp>
        <p:nvSpPr>
          <p:cNvPr name="TextBox 38" id="38"/>
          <p:cNvSpPr txBox="true"/>
          <p:nvPr/>
        </p:nvSpPr>
        <p:spPr>
          <a:xfrm rot="0">
            <a:off x="358910" y="1435319"/>
            <a:ext cx="10695918" cy="701675"/>
          </a:xfrm>
          <a:prstGeom prst="rect">
            <a:avLst/>
          </a:prstGeom>
        </p:spPr>
        <p:txBody>
          <a:bodyPr anchor="t" rtlCol="false" tIns="0" lIns="0" bIns="0" rIns="0">
            <a:spAutoFit/>
          </a:bodyPr>
          <a:lstStyle/>
          <a:p>
            <a:pPr algn="l">
              <a:lnSpc>
                <a:spcPts val="4900"/>
              </a:lnSpc>
            </a:pPr>
            <a:r>
              <a:rPr lang="en-US" b="true" sz="5000">
                <a:solidFill>
                  <a:srgbClr val="FF9C00"/>
                </a:solidFill>
                <a:latin typeface="Poppins Bold"/>
                <a:ea typeface="Poppins Bold"/>
                <a:cs typeface="Poppins Bold"/>
                <a:sym typeface="Poppins Bold"/>
              </a:rPr>
              <a:t>Problems that might exist, xixixi</a:t>
            </a:r>
          </a:p>
        </p:txBody>
      </p:sp>
      <p:sp>
        <p:nvSpPr>
          <p:cNvPr name="TextBox 39" id="39"/>
          <p:cNvSpPr txBox="true"/>
          <p:nvPr/>
        </p:nvSpPr>
        <p:spPr>
          <a:xfrm rot="0">
            <a:off x="1654771" y="2577652"/>
            <a:ext cx="12185831" cy="823095"/>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Show that matrix multiplication distributes over matrix addition: show A(B+C)=AB+AC assuming that A,B, and C are matrices of compatible size.</a:t>
            </a:r>
          </a:p>
          <a:p>
            <a:pPr algn="l" marL="0" indent="0" lvl="0">
              <a:lnSpc>
                <a:spcPts val="2099"/>
              </a:lnSpc>
              <a:spcBef>
                <a:spcPct val="0"/>
              </a:spcBef>
            </a:pPr>
          </a:p>
        </p:txBody>
      </p:sp>
      <p:sp>
        <p:nvSpPr>
          <p:cNvPr name="TextBox 40" id="40"/>
          <p:cNvSpPr txBox="true"/>
          <p:nvPr/>
        </p:nvSpPr>
        <p:spPr>
          <a:xfrm rot="0">
            <a:off x="1654771" y="3495998"/>
            <a:ext cx="12185831" cy="1087032"/>
          </a:xfrm>
          <a:prstGeom prst="rect">
            <a:avLst/>
          </a:prstGeom>
        </p:spPr>
        <p:txBody>
          <a:bodyPr anchor="t" rtlCol="false" tIns="0" lIns="0" bIns="0" rIns="0">
            <a:spAutoFit/>
          </a:bodyPr>
          <a:lstStyle/>
          <a:p>
            <a:pPr algn="l">
              <a:lnSpc>
                <a:spcPts val="2099"/>
              </a:lnSpc>
            </a:pPr>
            <a:r>
              <a:rPr lang="en-US" sz="2142">
                <a:solidFill>
                  <a:srgbClr val="FFFFFF"/>
                </a:solidFill>
                <a:latin typeface="Poppins"/>
                <a:ea typeface="Poppins"/>
                <a:cs typeface="Poppins"/>
                <a:sym typeface="Poppins"/>
              </a:rPr>
              <a:t> Recognize orthogonality using dot products and norms.</a:t>
            </a:r>
          </a:p>
          <a:p>
            <a:pPr algn="l" marL="462542" indent="-231271" lvl="1">
              <a:lnSpc>
                <a:spcPts val="2099"/>
              </a:lnSpc>
              <a:buFont typeface="Arial"/>
              <a:buChar char="•"/>
            </a:pPr>
            <a:r>
              <a:rPr lang="en-US" sz="2142">
                <a:solidFill>
                  <a:srgbClr val="FFFFFF"/>
                </a:solidFill>
                <a:latin typeface="Poppins"/>
                <a:ea typeface="Poppins"/>
                <a:cs typeface="Poppins"/>
                <a:sym typeface="Poppins"/>
              </a:rPr>
              <a:t>1 if the angle between vectors is close to 90° (within tolerance)</a:t>
            </a:r>
          </a:p>
          <a:p>
            <a:pPr algn="l" marL="462542" indent="-231271" lvl="1">
              <a:lnSpc>
                <a:spcPts val="2099"/>
              </a:lnSpc>
              <a:buFont typeface="Arial"/>
              <a:buChar char="•"/>
            </a:pPr>
            <a:r>
              <a:rPr lang="en-US" sz="2142">
                <a:solidFill>
                  <a:srgbClr val="FFFFFF"/>
                </a:solidFill>
                <a:latin typeface="Poppins"/>
                <a:ea typeface="Poppins"/>
                <a:cs typeface="Poppins"/>
                <a:sym typeface="Poppins"/>
              </a:rPr>
              <a:t>0 otherwise</a:t>
            </a:r>
          </a:p>
          <a:p>
            <a:pPr algn="l">
              <a:lnSpc>
                <a:spcPts val="2099"/>
              </a:lnSpc>
            </a:pPr>
            <a:r>
              <a:rPr lang="en-US" sz="2142">
                <a:solidFill>
                  <a:srgbClr val="FFFFFF"/>
                </a:solidFill>
                <a:latin typeface="Poppins"/>
                <a:ea typeface="Poppins"/>
                <a:cs typeface="Poppins"/>
                <a:sym typeface="Poppins"/>
              </a:rPr>
              <a:t>Math used: </a:t>
            </a:r>
          </a:p>
        </p:txBody>
      </p:sp>
      <p:sp>
        <p:nvSpPr>
          <p:cNvPr name="TextBox 41" id="41"/>
          <p:cNvSpPr txBox="true"/>
          <p:nvPr/>
        </p:nvSpPr>
        <p:spPr>
          <a:xfrm rot="0">
            <a:off x="1577811" y="5607179"/>
            <a:ext cx="1051034" cy="288458"/>
          </a:xfrm>
          <a:prstGeom prst="rect">
            <a:avLst/>
          </a:prstGeom>
        </p:spPr>
        <p:txBody>
          <a:bodyPr anchor="t" rtlCol="false" tIns="0" lIns="0" bIns="0" rIns="0">
            <a:spAutoFit/>
          </a:bodyPr>
          <a:lstStyle/>
          <a:p>
            <a:pPr algn="l" marL="0" indent="0" lvl="0">
              <a:lnSpc>
                <a:spcPts val="2099"/>
              </a:lnSpc>
              <a:spcBef>
                <a:spcPct val="0"/>
              </a:spcBef>
            </a:pPr>
            <a:r>
              <a:rPr lang="en-US" sz="2142">
                <a:solidFill>
                  <a:srgbClr val="281C22"/>
                </a:solidFill>
                <a:latin typeface="Poppins"/>
                <a:ea typeface="Poppins"/>
                <a:cs typeface="Poppins"/>
                <a:sym typeface="Poppins"/>
              </a:rPr>
              <a:t>Code:</a:t>
            </a:r>
          </a:p>
        </p:txBody>
      </p:sp>
      <p:sp>
        <p:nvSpPr>
          <p:cNvPr name="TextBox 42" id="42"/>
          <p:cNvSpPr txBox="true"/>
          <p:nvPr/>
        </p:nvSpPr>
        <p:spPr>
          <a:xfrm rot="0">
            <a:off x="6394829" y="5607179"/>
            <a:ext cx="1051034" cy="288458"/>
          </a:xfrm>
          <a:prstGeom prst="rect">
            <a:avLst/>
          </a:prstGeom>
        </p:spPr>
        <p:txBody>
          <a:bodyPr anchor="t" rtlCol="false" tIns="0" lIns="0" bIns="0" rIns="0">
            <a:spAutoFit/>
          </a:bodyPr>
          <a:lstStyle/>
          <a:p>
            <a:pPr algn="l" marL="0" indent="0" lvl="0">
              <a:lnSpc>
                <a:spcPts val="2099"/>
              </a:lnSpc>
              <a:spcBef>
                <a:spcPct val="0"/>
              </a:spcBef>
            </a:pPr>
            <a:r>
              <a:rPr lang="en-US" sz="2142">
                <a:solidFill>
                  <a:srgbClr val="281C22"/>
                </a:solidFill>
                <a:latin typeface="Poppins"/>
                <a:ea typeface="Poppins"/>
                <a:cs typeface="Poppins"/>
                <a:sym typeface="Poppins"/>
              </a:rPr>
              <a:t>Output:</a:t>
            </a:r>
          </a:p>
        </p:txBody>
      </p:sp>
      <p:sp>
        <p:nvSpPr>
          <p:cNvPr name="TextBox 43" id="43"/>
          <p:cNvSpPr txBox="true"/>
          <p:nvPr/>
        </p:nvSpPr>
        <p:spPr>
          <a:xfrm rot="0">
            <a:off x="14362616" y="9696078"/>
            <a:ext cx="3682286" cy="202468"/>
          </a:xfrm>
          <a:prstGeom prst="rect">
            <a:avLst/>
          </a:prstGeom>
        </p:spPr>
        <p:txBody>
          <a:bodyPr anchor="t" rtlCol="false" tIns="0" lIns="0" bIns="0" rIns="0">
            <a:spAutoFit/>
          </a:bodyPr>
          <a:lstStyle/>
          <a:p>
            <a:pPr algn="l" marL="0" indent="0" lvl="0">
              <a:lnSpc>
                <a:spcPts val="1374"/>
              </a:lnSpc>
              <a:spcBef>
                <a:spcPct val="0"/>
              </a:spcBef>
            </a:pPr>
            <a:r>
              <a:rPr lang="en-US" sz="1402">
                <a:solidFill>
                  <a:srgbClr val="FFFFFF"/>
                </a:solidFill>
                <a:latin typeface="Poppins"/>
                <a:ea typeface="Poppins"/>
                <a:cs typeface="Poppins"/>
                <a:sym typeface="Poppins"/>
              </a:rPr>
              <a:t>And 8 more to go (not enough time)...</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0B2F70"/>
        </a:solidFill>
      </p:bgPr>
    </p:bg>
    <p:spTree>
      <p:nvGrpSpPr>
        <p:cNvPr id="1" name=""/>
        <p:cNvGrpSpPr/>
        <p:nvPr/>
      </p:nvGrpSpPr>
      <p:grpSpPr>
        <a:xfrm>
          <a:off x="0" y="0"/>
          <a:ext cx="0" cy="0"/>
          <a:chOff x="0" y="0"/>
          <a:chExt cx="0" cy="0"/>
        </a:xfrm>
      </p:grpSpPr>
      <p:sp>
        <p:nvSpPr>
          <p:cNvPr name="Freeform 2" id="2"/>
          <p:cNvSpPr/>
          <p:nvPr/>
        </p:nvSpPr>
        <p:spPr>
          <a:xfrm flipH="false" flipV="false" rot="0">
            <a:off x="1527493" y="3519510"/>
            <a:ext cx="10690561" cy="6003495"/>
          </a:xfrm>
          <a:custGeom>
            <a:avLst/>
            <a:gdLst/>
            <a:ahLst/>
            <a:cxnLst/>
            <a:rect r="r" b="b" t="t" l="l"/>
            <a:pathLst>
              <a:path h="6003495" w="10690561">
                <a:moveTo>
                  <a:pt x="0" y="0"/>
                </a:moveTo>
                <a:lnTo>
                  <a:pt x="10690561" y="0"/>
                </a:lnTo>
                <a:lnTo>
                  <a:pt x="10690561" y="6003495"/>
                </a:lnTo>
                <a:lnTo>
                  <a:pt x="0" y="6003495"/>
                </a:lnTo>
                <a:lnTo>
                  <a:pt x="0" y="0"/>
                </a:lnTo>
                <a:close/>
              </a:path>
            </a:pathLst>
          </a:custGeom>
          <a:blipFill>
            <a:blip r:embed="rId2"/>
            <a:stretch>
              <a:fillRect l="0" t="0" r="0" b="0"/>
            </a:stretch>
          </a:blipFill>
        </p:spPr>
      </p:sp>
      <p:sp>
        <p:nvSpPr>
          <p:cNvPr name="Freeform 3" id="3"/>
          <p:cNvSpPr/>
          <p:nvPr/>
        </p:nvSpPr>
        <p:spPr>
          <a:xfrm flipH="false" flipV="false" rot="0">
            <a:off x="3394677" y="1795164"/>
            <a:ext cx="7559635" cy="1459641"/>
          </a:xfrm>
          <a:custGeom>
            <a:avLst/>
            <a:gdLst/>
            <a:ahLst/>
            <a:cxnLst/>
            <a:rect r="r" b="b" t="t" l="l"/>
            <a:pathLst>
              <a:path h="1459641" w="7559635">
                <a:moveTo>
                  <a:pt x="0" y="0"/>
                </a:moveTo>
                <a:lnTo>
                  <a:pt x="7559635" y="0"/>
                </a:lnTo>
                <a:lnTo>
                  <a:pt x="7559635" y="1459641"/>
                </a:lnTo>
                <a:lnTo>
                  <a:pt x="0" y="1459641"/>
                </a:lnTo>
                <a:lnTo>
                  <a:pt x="0" y="0"/>
                </a:lnTo>
                <a:close/>
              </a:path>
            </a:pathLst>
          </a:custGeom>
          <a:blipFill>
            <a:blip r:embed="rId3"/>
            <a:stretch>
              <a:fillRect l="-17935" t="-198338" r="-5774" b="-86085"/>
            </a:stretch>
          </a:blipFill>
        </p:spPr>
      </p:sp>
      <p:sp>
        <p:nvSpPr>
          <p:cNvPr name="Freeform 4" id="4"/>
          <p:cNvSpPr/>
          <p:nvPr/>
        </p:nvSpPr>
        <p:spPr>
          <a:xfrm flipH="false" flipV="false" rot="0">
            <a:off x="370878" y="390175"/>
            <a:ext cx="2402531" cy="2809978"/>
          </a:xfrm>
          <a:custGeom>
            <a:avLst/>
            <a:gdLst/>
            <a:ahLst/>
            <a:cxnLst/>
            <a:rect r="r" b="b" t="t" l="l"/>
            <a:pathLst>
              <a:path h="2809978" w="2402531">
                <a:moveTo>
                  <a:pt x="0" y="0"/>
                </a:moveTo>
                <a:lnTo>
                  <a:pt x="2402531" y="0"/>
                </a:lnTo>
                <a:lnTo>
                  <a:pt x="2402531" y="2809978"/>
                </a:lnTo>
                <a:lnTo>
                  <a:pt x="0" y="2809978"/>
                </a:lnTo>
                <a:lnTo>
                  <a:pt x="0" y="0"/>
                </a:lnTo>
                <a:close/>
              </a:path>
            </a:pathLst>
          </a:custGeom>
          <a:blipFill>
            <a:blip r:embed="rId4"/>
            <a:stretch>
              <a:fillRect l="0" t="0" r="0" b="0"/>
            </a:stretch>
          </a:blipFill>
        </p:spPr>
      </p:sp>
      <p:sp>
        <p:nvSpPr>
          <p:cNvPr name="Freeform 5" id="5"/>
          <p:cNvSpPr/>
          <p:nvPr/>
        </p:nvSpPr>
        <p:spPr>
          <a:xfrm flipH="false" flipV="false" rot="0">
            <a:off x="11430562" y="390175"/>
            <a:ext cx="6237060" cy="3991718"/>
          </a:xfrm>
          <a:custGeom>
            <a:avLst/>
            <a:gdLst/>
            <a:ahLst/>
            <a:cxnLst/>
            <a:rect r="r" b="b" t="t" l="l"/>
            <a:pathLst>
              <a:path h="3991718" w="6237060">
                <a:moveTo>
                  <a:pt x="0" y="0"/>
                </a:moveTo>
                <a:lnTo>
                  <a:pt x="6237060" y="0"/>
                </a:lnTo>
                <a:lnTo>
                  <a:pt x="6237060" y="3991718"/>
                </a:lnTo>
                <a:lnTo>
                  <a:pt x="0" y="3991718"/>
                </a:lnTo>
                <a:lnTo>
                  <a:pt x="0" y="0"/>
                </a:lnTo>
                <a:close/>
              </a:path>
            </a:pathLst>
          </a:custGeom>
          <a:blipFill>
            <a:blip r:embed="rId5"/>
            <a:stretch>
              <a:fillRect l="-12" t="0" r="-12" b="0"/>
            </a:stretch>
          </a:blipFill>
        </p:spPr>
      </p:sp>
      <p:sp>
        <p:nvSpPr>
          <p:cNvPr name="Freeform 6" id="6"/>
          <p:cNvSpPr/>
          <p:nvPr/>
        </p:nvSpPr>
        <p:spPr>
          <a:xfrm flipH="false" flipV="false" rot="0">
            <a:off x="2916604" y="3200153"/>
            <a:ext cx="3296601" cy="2924207"/>
          </a:xfrm>
          <a:custGeom>
            <a:avLst/>
            <a:gdLst/>
            <a:ahLst/>
            <a:cxnLst/>
            <a:rect r="r" b="b" t="t" l="l"/>
            <a:pathLst>
              <a:path h="2924207" w="3296601">
                <a:moveTo>
                  <a:pt x="0" y="0"/>
                </a:moveTo>
                <a:lnTo>
                  <a:pt x="3296600" y="0"/>
                </a:lnTo>
                <a:lnTo>
                  <a:pt x="3296600" y="2924206"/>
                </a:lnTo>
                <a:lnTo>
                  <a:pt x="0" y="2924206"/>
                </a:lnTo>
                <a:lnTo>
                  <a:pt x="0" y="0"/>
                </a:lnTo>
                <a:close/>
              </a:path>
            </a:pathLst>
          </a:custGeom>
          <a:blipFill>
            <a:blip r:embed="rId6"/>
            <a:stretch>
              <a:fillRect l="0" t="0" r="0" b="0"/>
            </a:stretch>
          </a:blipFill>
        </p:spPr>
      </p:sp>
      <p:sp>
        <p:nvSpPr>
          <p:cNvPr name="Freeform 7" id="7"/>
          <p:cNvSpPr/>
          <p:nvPr/>
        </p:nvSpPr>
        <p:spPr>
          <a:xfrm flipH="false" flipV="false" rot="0">
            <a:off x="227683" y="3519510"/>
            <a:ext cx="2688921" cy="2748675"/>
          </a:xfrm>
          <a:custGeom>
            <a:avLst/>
            <a:gdLst/>
            <a:ahLst/>
            <a:cxnLst/>
            <a:rect r="r" b="b" t="t" l="l"/>
            <a:pathLst>
              <a:path h="2748675" w="2688921">
                <a:moveTo>
                  <a:pt x="0" y="0"/>
                </a:moveTo>
                <a:lnTo>
                  <a:pt x="2688921" y="0"/>
                </a:lnTo>
                <a:lnTo>
                  <a:pt x="2688921" y="2748674"/>
                </a:lnTo>
                <a:lnTo>
                  <a:pt x="0" y="2748674"/>
                </a:lnTo>
                <a:lnTo>
                  <a:pt x="0" y="0"/>
                </a:lnTo>
                <a:close/>
              </a:path>
            </a:pathLst>
          </a:custGeom>
          <a:blipFill>
            <a:blip r:embed="rId7"/>
            <a:stretch>
              <a:fillRect l="0" t="0" r="0" b="0"/>
            </a:stretch>
          </a:blipFill>
        </p:spPr>
      </p:sp>
      <p:sp>
        <p:nvSpPr>
          <p:cNvPr name="Freeform 8" id="8"/>
          <p:cNvSpPr/>
          <p:nvPr/>
        </p:nvSpPr>
        <p:spPr>
          <a:xfrm flipH="false" flipV="false" rot="0">
            <a:off x="6132539" y="3399270"/>
            <a:ext cx="2890324" cy="2868914"/>
          </a:xfrm>
          <a:custGeom>
            <a:avLst/>
            <a:gdLst/>
            <a:ahLst/>
            <a:cxnLst/>
            <a:rect r="r" b="b" t="t" l="l"/>
            <a:pathLst>
              <a:path h="2868914" w="2890324">
                <a:moveTo>
                  <a:pt x="0" y="0"/>
                </a:moveTo>
                <a:lnTo>
                  <a:pt x="2890324" y="0"/>
                </a:lnTo>
                <a:lnTo>
                  <a:pt x="2890324" y="2868914"/>
                </a:lnTo>
                <a:lnTo>
                  <a:pt x="0" y="2868914"/>
                </a:lnTo>
                <a:lnTo>
                  <a:pt x="0" y="0"/>
                </a:lnTo>
                <a:close/>
              </a:path>
            </a:pathLst>
          </a:custGeom>
          <a:blipFill>
            <a:blip r:embed="rId8"/>
            <a:stretch>
              <a:fillRect l="0" t="0" r="0" b="0"/>
            </a:stretch>
          </a:blipFill>
        </p:spPr>
      </p:sp>
      <p:sp>
        <p:nvSpPr>
          <p:cNvPr name="Freeform 9" id="9"/>
          <p:cNvSpPr/>
          <p:nvPr/>
        </p:nvSpPr>
        <p:spPr>
          <a:xfrm flipH="false" flipV="false" rot="0">
            <a:off x="12218054" y="4574670"/>
            <a:ext cx="5876557" cy="4043034"/>
          </a:xfrm>
          <a:custGeom>
            <a:avLst/>
            <a:gdLst/>
            <a:ahLst/>
            <a:cxnLst/>
            <a:rect r="r" b="b" t="t" l="l"/>
            <a:pathLst>
              <a:path h="4043034" w="5876557">
                <a:moveTo>
                  <a:pt x="0" y="0"/>
                </a:moveTo>
                <a:lnTo>
                  <a:pt x="5876557" y="0"/>
                </a:lnTo>
                <a:lnTo>
                  <a:pt x="5876557" y="4043034"/>
                </a:lnTo>
                <a:lnTo>
                  <a:pt x="0" y="4043034"/>
                </a:lnTo>
                <a:lnTo>
                  <a:pt x="0" y="0"/>
                </a:lnTo>
                <a:close/>
              </a:path>
            </a:pathLst>
          </a:custGeom>
          <a:blipFill>
            <a:blip r:embed="rId9"/>
            <a:stretch>
              <a:fillRect l="0" t="0" r="0" b="0"/>
            </a:stretch>
          </a:blipFill>
        </p:spPr>
      </p:sp>
      <p:sp>
        <p:nvSpPr>
          <p:cNvPr name="TextBox 10" id="10"/>
          <p:cNvSpPr txBox="true"/>
          <p:nvPr/>
        </p:nvSpPr>
        <p:spPr>
          <a:xfrm rot="0">
            <a:off x="1937433" y="637825"/>
            <a:ext cx="10474123" cy="1285277"/>
          </a:xfrm>
          <a:prstGeom prst="rect">
            <a:avLst/>
          </a:prstGeom>
        </p:spPr>
        <p:txBody>
          <a:bodyPr anchor="t" rtlCol="false" tIns="0" lIns="0" bIns="0" rIns="0">
            <a:spAutoFit/>
          </a:bodyPr>
          <a:lstStyle/>
          <a:p>
            <a:pPr algn="ctr">
              <a:lnSpc>
                <a:spcPts val="9473"/>
              </a:lnSpc>
            </a:pPr>
            <a:r>
              <a:rPr lang="en-US" sz="10078">
                <a:solidFill>
                  <a:srgbClr val="FFFFFF"/>
                </a:solidFill>
                <a:latin typeface="Lovelo"/>
                <a:ea typeface="Lovelo"/>
                <a:cs typeface="Lovelo"/>
                <a:sym typeface="Lovelo"/>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DAG4Ti96IUg</dc:identifier>
  <dcterms:modified xsi:type="dcterms:W3CDTF">2011-08-01T06:04:30Z</dcterms:modified>
  <cp:revision>1</cp:revision>
  <dc:title>Chapter 14: Linear Algebra and Systems of Linear Equations</dc:title>
</cp:coreProperties>
</file>